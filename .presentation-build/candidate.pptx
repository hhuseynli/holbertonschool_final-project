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eb886288bfa4ac0" /><Relationship Type="http://schemas.openxmlformats.org/officeDocument/2006/relationships/extended-properties" Target="/docProps/app.xml" Id="R1fb4590269754e4c" /><Relationship Type="http://schemas.openxmlformats.org/officeDocument/2006/relationships/officeDocument" Target="/ppt/presentation.xml" Id="R8afdca9c461c4f8f"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889d04e443046b9"/>
  </p:sldMasterIdLst>
  <p:notesMasterIdLst>
    <p:notesMasterId xmlns:r="http://schemas.openxmlformats.org/officeDocument/2006/relationships" r:id="R00fa2494470f481e"/>
  </p:notesMasterIdLst>
  <p:sldIdLst>
    <p:sldId xmlns:r="http://schemas.openxmlformats.org/officeDocument/2006/relationships" id="256" r:id="Rda65c667604b4565"/>
    <p:sldId xmlns:r="http://schemas.openxmlformats.org/officeDocument/2006/relationships" id="257" r:id="R14658fbfcb1c45c2"/>
    <p:sldId xmlns:r="http://schemas.openxmlformats.org/officeDocument/2006/relationships" id="258" r:id="R13119411c1a84f6c"/>
    <p:sldId xmlns:r="http://schemas.openxmlformats.org/officeDocument/2006/relationships" id="259" r:id="R985181f865ae4cfb"/>
    <p:sldId xmlns:r="http://schemas.openxmlformats.org/officeDocument/2006/relationships" id="260" r:id="R9ba77251c1c848b8"/>
    <p:sldId xmlns:r="http://schemas.openxmlformats.org/officeDocument/2006/relationships" id="261" r:id="Rcbe3486788054529"/>
    <p:sldId xmlns:r="http://schemas.openxmlformats.org/officeDocument/2006/relationships" id="262" r:id="R1c17644c736e4250"/>
    <p:sldId xmlns:r="http://schemas.openxmlformats.org/officeDocument/2006/relationships" id="263" r:id="R6e608632020747af"/>
    <p:sldId xmlns:r="http://schemas.openxmlformats.org/officeDocument/2006/relationships" id="264" r:id="R2057019834334529"/>
    <p:sldId xmlns:r="http://schemas.openxmlformats.org/officeDocument/2006/relationships" id="265" r:id="Ra799e836c9c44ecd"/>
    <p:sldId xmlns:r="http://schemas.openxmlformats.org/officeDocument/2006/relationships" id="266" r:id="R9d23ea67ab2f448f"/>
    <p:sldId xmlns:r="http://schemas.openxmlformats.org/officeDocument/2006/relationships" id="267" r:id="R4a73570e3e814530"/>
    <p:sldId xmlns:r="http://schemas.openxmlformats.org/officeDocument/2006/relationships" id="268" r:id="R4124f952ed35421a"/>
    <p:sldId xmlns:r="http://schemas.openxmlformats.org/officeDocument/2006/relationships" id="269" r:id="R115b29400fbe4823"/>
    <p:sldId xmlns:r="http://schemas.openxmlformats.org/officeDocument/2006/relationships" id="270" r:id="R9e51d97f8b5244d7"/>
    <p:sldId xmlns:r="http://schemas.openxmlformats.org/officeDocument/2006/relationships" id="271" r:id="R09ce1836a4d341be"/>
    <p:sldId xmlns:r="http://schemas.openxmlformats.org/officeDocument/2006/relationships" id="272" r:id="Rf3a1ad45baee411d"/>
    <p:sldId xmlns:r="http://schemas.openxmlformats.org/officeDocument/2006/relationships" id="273" r:id="Rf95cdeaacf5a41ad"/>
    <p:sldId xmlns:r="http://schemas.openxmlformats.org/officeDocument/2006/relationships" id="274" r:id="R43a6f35afceb44e1"/>
  </p:sldIdLst>
  <p:sldSz cx="12192000" cy="6858000"/>
  <p:notesSz cx="6858000" cy="9144000"/>
  <p:embeddedFontLst>
    <p:embeddedFont>
      <p:font typeface="OpenAI Sans"/>
      <p:regular xmlns:r="http://schemas.openxmlformats.org/officeDocument/2006/relationships" r:id="R11773dc5b4714d6b"/>
      <p:bold xmlns:r="http://schemas.openxmlformats.org/officeDocument/2006/relationships" r:id="R0ebc2515c0824578"/>
      <p:italic xmlns:r="http://schemas.openxmlformats.org/officeDocument/2006/relationships" r:id="R65376bb2e66c4b97"/>
      <p:boldItalic xmlns:r="http://schemas.openxmlformats.org/officeDocument/2006/relationships" r:id="Ra49f2dac5607464a"/>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01f32f870d44a90" /><Relationship Type="http://schemas.openxmlformats.org/officeDocument/2006/relationships/slideMaster" Target="/ppt/slideMasters/slideMaster1.xml" Id="R5889d04e443046b9" /><Relationship Type="http://schemas.openxmlformats.org/officeDocument/2006/relationships/notesMaster" Target="/ppt/notesMasters/notesMaster1.xml" Id="R00fa2494470f481e" /><Relationship Type="http://schemas.openxmlformats.org/officeDocument/2006/relationships/presProps" Target="/ppt/presProps.xml" Id="Rdc7c6756194247d2" /><Relationship Type="http://schemas.openxmlformats.org/officeDocument/2006/relationships/viewProps" Target="/ppt/viewProps.xml" Id="R107359247dc2487a" /><Relationship Type="http://schemas.openxmlformats.org/officeDocument/2006/relationships/tableStyles" Target="/ppt/tableStyles.xml" Id="R7475164a74e2483f" /><Relationship Type="http://schemas.openxmlformats.org/officeDocument/2006/relationships/font" Target="/ppt/fonts/font.dat" Id="R11773dc5b4714d6b" /><Relationship Type="http://schemas.openxmlformats.org/officeDocument/2006/relationships/font" Target="/ppt/fonts/font2.dat" Id="R0ebc2515c0824578" /><Relationship Type="http://schemas.openxmlformats.org/officeDocument/2006/relationships/font" Target="/ppt/fonts/font3.dat" Id="R65376bb2e66c4b97" /><Relationship Type="http://schemas.openxmlformats.org/officeDocument/2006/relationships/font" Target="/ppt/fonts/font4.dat" Id="Ra49f2dac5607464a" /><Relationship Type="http://schemas.openxmlformats.org/officeDocument/2006/relationships/slide" Target="/ppt/slides/slide1.xml" Id="Rda65c667604b4565" /><Relationship Type="http://schemas.openxmlformats.org/officeDocument/2006/relationships/slide" Target="/ppt/slides/slide2.xml" Id="R14658fbfcb1c45c2" /><Relationship Type="http://schemas.openxmlformats.org/officeDocument/2006/relationships/slide" Target="/ppt/slides/slide3.xml" Id="R13119411c1a84f6c" /><Relationship Type="http://schemas.openxmlformats.org/officeDocument/2006/relationships/slide" Target="/ppt/slides/slide4.xml" Id="R985181f865ae4cfb" /><Relationship Type="http://schemas.openxmlformats.org/officeDocument/2006/relationships/slide" Target="/ppt/slides/slide5.xml" Id="R9ba77251c1c848b8" /><Relationship Type="http://schemas.openxmlformats.org/officeDocument/2006/relationships/slide" Target="/ppt/slides/slide6.xml" Id="Rcbe3486788054529" /><Relationship Type="http://schemas.openxmlformats.org/officeDocument/2006/relationships/slide" Target="/ppt/slides/slide7.xml" Id="R1c17644c736e4250" /><Relationship Type="http://schemas.openxmlformats.org/officeDocument/2006/relationships/slide" Target="/ppt/slides/slide8.xml" Id="R6e608632020747af" /><Relationship Type="http://schemas.openxmlformats.org/officeDocument/2006/relationships/slide" Target="/ppt/slides/slide9.xml" Id="R2057019834334529" /><Relationship Type="http://schemas.openxmlformats.org/officeDocument/2006/relationships/slide" Target="/ppt/slides/slide10.xml" Id="Ra799e836c9c44ecd" /><Relationship Type="http://schemas.openxmlformats.org/officeDocument/2006/relationships/slide" Target="/ppt/slides/slide11.xml" Id="R9d23ea67ab2f448f" /><Relationship Type="http://schemas.openxmlformats.org/officeDocument/2006/relationships/slide" Target="/ppt/slides/slide12.xml" Id="R4a73570e3e814530" /><Relationship Type="http://schemas.openxmlformats.org/officeDocument/2006/relationships/slide" Target="/ppt/slides/slide13.xml" Id="R4124f952ed35421a" /><Relationship Type="http://schemas.openxmlformats.org/officeDocument/2006/relationships/slide" Target="/ppt/slides/slide14.xml" Id="R115b29400fbe4823" /><Relationship Type="http://schemas.openxmlformats.org/officeDocument/2006/relationships/slide" Target="/ppt/slides/slide15.xml" Id="R9e51d97f8b5244d7" /><Relationship Type="http://schemas.openxmlformats.org/officeDocument/2006/relationships/slide" Target="/ppt/slides/slide16.xml" Id="R09ce1836a4d341be" /><Relationship Type="http://schemas.openxmlformats.org/officeDocument/2006/relationships/slide" Target="/ppt/slides/slide17.xml" Id="Rf3a1ad45baee411d" /><Relationship Type="http://schemas.openxmlformats.org/officeDocument/2006/relationships/slide" Target="/ppt/slides/slide18.xml" Id="Rf95cdeaacf5a41ad" /><Relationship Type="http://schemas.openxmlformats.org/officeDocument/2006/relationships/slide" Target="/ppt/slides/slide19.xml" Id="R43a6f35afceb44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0294403d4a40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343fbda7754626" /><Relationship Type="http://schemas.openxmlformats.org/officeDocument/2006/relationships/notesMaster" Target="/ppt/notesMasters/notesMaster1.xml" Id="R932675a3bfa143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a2682ac11c4b27" /><Relationship Type="http://schemas.openxmlformats.org/officeDocument/2006/relationships/notesMaster" Target="/ppt/notesMasters/notesMaster1.xml" Id="R90a4a365944442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63a1beeb9f45a9" /><Relationship Type="http://schemas.openxmlformats.org/officeDocument/2006/relationships/notesMaster" Target="/ppt/notesMasters/notesMaster1.xml" Id="Rd07ca162571940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dc73ed33b343f6" /><Relationship Type="http://schemas.openxmlformats.org/officeDocument/2006/relationships/notesMaster" Target="/ppt/notesMasters/notesMaster1.xml" Id="Rd8760bf1645440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09238ff3ce4061" /><Relationship Type="http://schemas.openxmlformats.org/officeDocument/2006/relationships/notesMaster" Target="/ppt/notesMasters/notesMaster1.xml" Id="R85264378637449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b3bfb592924416" /><Relationship Type="http://schemas.openxmlformats.org/officeDocument/2006/relationships/notesMaster" Target="/ppt/notesMasters/notesMaster1.xml" Id="Rbc3a881394a14f1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5d34699fc345f8" /><Relationship Type="http://schemas.openxmlformats.org/officeDocument/2006/relationships/notesMaster" Target="/ppt/notesMasters/notesMaster1.xml" Id="R3c8ac5515b6c49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351c2fe4dc446b" /><Relationship Type="http://schemas.openxmlformats.org/officeDocument/2006/relationships/notesMaster" Target="/ppt/notesMasters/notesMaster1.xml" Id="R3bfa95c67ff7491f"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be5b322b944801" /><Relationship Type="http://schemas.openxmlformats.org/officeDocument/2006/relationships/notesMaster" Target="/ppt/notesMasters/notesMaster1.xml" Id="R63400b9c88aa4e9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52ebabcaf5c4b37" /><Relationship Type="http://schemas.openxmlformats.org/officeDocument/2006/relationships/notesMaster" Target="/ppt/notesMasters/notesMaster1.xml" Id="R3d6f6e85a9724e0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118d07bec3c4cb2" /><Relationship Type="http://schemas.openxmlformats.org/officeDocument/2006/relationships/notesMaster" Target="/ppt/notesMasters/notesMaster1.xml" Id="R3f5bdde587cd444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fe91e89a7eb4fb9" /><Relationship Type="http://schemas.openxmlformats.org/officeDocument/2006/relationships/notesMaster" Target="/ppt/notesMasters/notesMaster1.xml" Id="R223aff729b4b4ac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a05c5e8e8734907" /><Relationship Type="http://schemas.openxmlformats.org/officeDocument/2006/relationships/notesMaster" Target="/ppt/notesMasters/notesMaster1.xml" Id="Ra6ac39a5373540e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814a43c37f74348" /><Relationship Type="http://schemas.openxmlformats.org/officeDocument/2006/relationships/notesMaster" Target="/ppt/notesMasters/notesMaster1.xml" Id="Rd859fea710b24b2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c94887fd41f418e" /><Relationship Type="http://schemas.openxmlformats.org/officeDocument/2006/relationships/notesMaster" Target="/ppt/notesMasters/notesMaster1.xml" Id="R60a109a366da417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e55fa01f8364f65" /><Relationship Type="http://schemas.openxmlformats.org/officeDocument/2006/relationships/notesMaster" Target="/ppt/notesMasters/notesMaster1.xml" Id="R7224bcd449d0481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64b71ad4f884b8d" /><Relationship Type="http://schemas.openxmlformats.org/officeDocument/2006/relationships/notesMaster" Target="/ppt/notesMasters/notesMaster1.xml" Id="Rb917982bcaa4470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95e08db462742ff" /><Relationship Type="http://schemas.openxmlformats.org/officeDocument/2006/relationships/notesMaster" Target="/ppt/notesMasters/notesMaster1.xml" Id="R4811166fe72445e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5d5669d4c1f4daa" /><Relationship Type="http://schemas.openxmlformats.org/officeDocument/2006/relationships/notesMaster" Target="/ppt/notesMasters/notesMaster1.xml" Id="R0ec93103e7cd40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25 seconds. Introduce BakuML as a graduation project studying asking-price patterns across Baku and Absheron. The project combines a research pipeline with a property-browsing application. The question is whether spatial structure and infrastructure can help explain where the market changes. Source: README.md; app/templates/base.html. Cover artwork is an AI-generated conceptual illustration, not a factual geographic map or a photograph.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35 seconds. A listing contains a current asking price. Our research question adds geography and time: where might prices change as access and urban structure change? Explain that asking prices are observable in advertisements, while executed transaction prices are outside the dataset. Urban expansion is an ambition in the README, not a separately validated land-change output in the current implementation. Source: README.md; bakuml/pipeline.py.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40 seconds. Describe the two halves of the project. Flask serves the Buy, listing detail and Map pages. JavaScript calls listing, cell and map APIs. The analytics layer enriches listings using precomputed artifacts. The research pipeline creates those artifacts offline. This is an implemented interface, but the current checkout has empty data/artifacts folders, so avoid claiming a populated live deployment. Sources: app/flask_app.py, app/enrichment.py, app/templates/, app/static/js/.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About 45 seconds. Make the evidence boundary explicit early. The synthetic generator plants price gradients, duplicates and a station treatment. That lets us test whether the system recovers known quantities. The real pipeline consumes a short bina.az snapshot and estimates listing-level price/m². Its 12/24-month growth columns use node gravity multiplied by fixed constants, not a learned temporal forecast. No real-data benchmark artifacts exist in this checkout. Sources: bakuml/data/synthetic.py; bakuml/data/scraping/client.py; scripts/run_real_pipeline.py.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40 seconds. Data normalization creates consistent fields. Dedup uses spatial/property blocking plus image hash or TF-IDF similarity, then chooses a canonical listing. Tessellation creates cell-month observations. Feature engineering uses historical data, followed by validation, XGBoost explanations, conformal quantiles, graph forecasting and spatial DiD. Parquet/JSON outputs decouple offline computation from the app. Sources: bakuml/data/dedup.py; bakuml/pipeline.py; bakuml/data/schema.py.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50 seconds. Explain the modifiable areal unit problem: changing boundaries changes which listings share an estimate. Fixed H3 cells can be thin where listing density is low. The default KD-tree uses only coordinates to balance counts. The documented MAUP study retains 81.6% versus 62.6% for H3 res 8 and gives 26 versus 5 median months. The ~70 setting has slightly higher skill but less retained data. These are source-reported synthetic measurements, not a new run. Sources: README.md spatial-architecture table; scripts/maup_study.py; bakuml/spatial/tessellation.py.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40 seconds. Distinguish static location from historical price features. Master-plan features use configured approximate node coordinates and redevelopment areas. They do not yet represent a complete GIS ingestion of the official plan. Metro features use the station opening timeline. Price and supply lags look backward. Current distances are straight-line haversine distances. Sources: bakuml/config.py; bakuml/features/masterplan.py; bakuml/features/infrastructure.py; bakuml/features/build.py.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About 45 seconds. XGBoost predicts monthly cell median asking price. TreeSHAP ranks contributions to this fitted model. CQR trains quantile models and adjusts bounds using later calibration months. STGCN learns temporal and graph structure and rolls forward autoregressively, with a spatial-lag Ridge fallback when torch is unavailable. Do not attach the XGBoost MAE/R² to the STGCN's 12/24-month forecasts. Sources: bakuml/models/baseline.py; conformal.py; stgcn.py; bakuml/pipeline.py.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About 50 seconds. Randomly mixing nearby listings or future months creates overly easy evaluation. Temporal walk-forward trains strictly before its evaluation window and compares with persistence. Spatial CV removes entire contiguous groups from model training and drops neighbour target encoding in the research pipeline. Own-cell historical price features remain available, so interpret spatial results as model transfer with local history, not a geography with no data at all. The canary test triples future prices and asserts earlier feature rows are unchanged. Sources: bakuml/models/baseline.py; bakuml/pipeline.py; tests/test_features.py.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50 seconds. These README benchmarks use the full synthetic run. Temporal MAE is 213 against 264 AZN/m², approximately 19.3% lower. Spatial MAE is 209 against 253, approximately 17.4% lower. README reports model R² 0.81 in both evaluations. The full documented panel has 6,799 usable cell-months and 3,953 feature/training rows. This is evidence that the method works on the controlled data-generating process, not evidence of live-market accuracy. Source: README.md Results on the offline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Explain the difference between proximity correlation and treatment effect. The synthetic design compares treated listings within one kilometre with controls two to six kilometres away, excluding the buffer. The model includes cell and month fixed effects and controls, with cluster-robust errors. Average post-opening ATT is 0.069 log units against approximately 0.075 planted ramp average. Post-ramp event-study mean is 0.088 against 0.080 planted. These are distinct estimands. Event-study pre-trends are documented near zero. This recovery experiment does not establish a causal effect in real Baku. Sources: README.md; bakuml/causal/did.py; tests/test_did.py.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CQR uses a train/calibrate/holdout time split: six calibration months and a final three-month holdout. Report the observed 71.4% coverage honestly against an 80% target, a gap of 8.6 percentage points. Exchangeability is difficult with trends and drift. The research pipeline reuses relative one-month widths and scales them by square root of horizon for longer forecasts. That heuristic does not establish calibrated 12/24-month coverage. Sources: README.md; bakuml/pipeline.py; bakuml/models/conformal.py.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About 40 seconds. The research pipeline composes scenarios from estimated quantities, not planted truth. Baseline keeps the forecast unchanged. Polycentric doubles the estimated historical gravity slope. Transit places a hypothetical B-05 one inter-station step beyond B-04 and applies the estimated ATT under an assumed opening/ramp schedule. These are sensitivity exercises. The real-data pipeline currently emits only baseline rows, so demonstrate all three only with compatible research artifacts. Source: bakuml/pipeline.py; scripts/run_real_pipeline.py.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or 90 seconds if a populated app is available. Browse by district and budget, open one listing, explain the analytics and switch to the map. Describe the score as a weighted heuristic. Do not describe it as a validated return probability. Before presenting, use compatible H3 artifacts for the current listing enricher, because it does not resolve KD-tree cell IDs. No populated dataset ships in this checkout. Sources: app/flask_app.py; app/enrichment.py; app/templates/detail.html; app/static/js/map.js.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Prioritize the real-data evidence gap. Collect longitudinal snapshots, perform dedup, create neighbour features within the training fold and separate calibration from final evaluation. Unify listing-to-cell mapping and artifact geometry. Then backtest each long horizon and scenario honestly. OSM network distances and satellite embeddings are later extensions. Source-review findings: scripts/run_real_pipeline.py; app/enrichment.py; README.md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20 seconds. Close on the contribution: an adaptable spatial research framework and a property interface that makes its outputs accessible. Invite questions about geography, leakage, causal design or real-data readiness. Team names reproduced from README.md. No individual contribution assignments were available in the repository.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In the real pipeline, cell_medians and nbr_price are computed on fm before cv_fold is used. As a result, test-region labels can influence features used across folds. The final model trains on all rows and derives residual quantiles on those same rows, so reported interval coverage is in-sample. The real pipeline does not invoke the research dedup stage and creates gravity-based appreciation plus a normal-CDF score. The listing enricher directly uses h3.latlng_to_cell, which does not match KD IDs. The map offers config.SCENARIOS despite the real pipeline producing baseline only. These are source-review findings, not runtime-verified failures. Sources: scripts/run_real_pipeline.py; app/enrichment.py; app/flask_app.py.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All eight rows reproduce the README MAUP table. Positive transfer skill indicates lower MAE than persistence under blocked spatial evaluation. KD ~140 is the default compromise, not the maximum-skill row. Market regions improve homogeneity but perform poorly under this transfer setup. Do not generalize this ranking to every dataset. Sources: README.md; scripts/maup_study.py.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Tests in the repository cover normalization, dedup recovery, features, validation, spatial tessellation, baseline models, DiD, forecasting, visualization and the pipeline. The code review inspected the tests but did not execute pytest, because the available runtime lacks pytest and the project ML/geospatial dependencies. Local artifacts/ and data/ contain no datasets or benchmark outputs. Reproduce documented numbers with the project dependencies and the full pipeline, preserving separate artifact directories for research and real data. README and DESIGN still refer to Streamlit/Scrapy, whereas the current implementation uses Flask and a GraphQL client. Sources: tests/; requirements.txt; README.md; DESIGN.md; Makefile.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7d0fb47c234fe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3a2a4179c5f4a0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b30cb603bd3461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c4dd383cf4b490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4e613d3efbf45b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01442fb961744a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ceab762d4374a8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f4e7e76d0b84876"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40ac3cd9484981" /><Relationship Type="http://schemas.openxmlformats.org/officeDocument/2006/relationships/slideLayout" Target="/ppt/slideLayouts/slideLayout1.xml" Id="Rbca9c1a994b747a1" /><Relationship Type="http://schemas.openxmlformats.org/officeDocument/2006/relationships/slideLayout" Target="/ppt/slideLayouts/slideLayout2.xml" Id="Rc572d4db34744fce" /><Relationship Type="http://schemas.openxmlformats.org/officeDocument/2006/relationships/slideLayout" Target="/ppt/slideLayouts/slideLayout3.xml" Id="R6eae0918268142fa" /><Relationship Type="http://schemas.openxmlformats.org/officeDocument/2006/relationships/slideLayout" Target="/ppt/slideLayouts/slideLayout4.xml" Id="R8e609102bb424460" /><Relationship Type="http://schemas.openxmlformats.org/officeDocument/2006/relationships/slideLayout" Target="/ppt/slideLayouts/slideLayout5.xml" Id="Rda970a7fc75e430f" /><Relationship Type="http://schemas.openxmlformats.org/officeDocument/2006/relationships/slideLayout" Target="/ppt/slideLayouts/slideLayout6.xml" Id="Ra89df5c67e894d9f" /><Relationship Type="http://schemas.openxmlformats.org/officeDocument/2006/relationships/slideLayout" Target="/ppt/slideLayouts/slideLayout7.xml" Id="Rb913971ff19c4722" /><Relationship Type="http://schemas.openxmlformats.org/officeDocument/2006/relationships/slideLayout" Target="/ppt/slideLayouts/slideLayout8.xml" Id="Rfcdccc3c99534cb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bca9c1a994b747a1"/>
    <p:sldLayoutId xmlns:r="http://schemas.openxmlformats.org/officeDocument/2006/relationships" id="2147483650" r:id="Rc572d4db34744fce"/>
    <p:sldLayoutId xmlns:r="http://schemas.openxmlformats.org/officeDocument/2006/relationships" id="2147483651" r:id="R6eae0918268142fa"/>
    <p:sldLayoutId xmlns:r="http://schemas.openxmlformats.org/officeDocument/2006/relationships" id="2147483652" r:id="R8e609102bb424460"/>
    <p:sldLayoutId xmlns:r="http://schemas.openxmlformats.org/officeDocument/2006/relationships" id="2147483653" r:id="Rda970a7fc75e430f"/>
    <p:sldLayoutId xmlns:r="http://schemas.openxmlformats.org/officeDocument/2006/relationships" id="2147483654" r:id="Ra89df5c67e894d9f"/>
    <p:sldLayoutId xmlns:r="http://schemas.openxmlformats.org/officeDocument/2006/relationships" id="2147483655" r:id="Rb913971ff19c4722"/>
    <p:sldLayoutId xmlns:r="http://schemas.openxmlformats.org/officeDocument/2006/relationships" id="2147483656" r:id="Rfcdccc3c99534cb5"/>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7a95d67ca3b499c" /><Relationship Type="http://schemas.openxmlformats.org/officeDocument/2006/relationships/image" Target="/ppt/media/image.png" Id="R10b816b916364d11" /><Relationship Type="http://schemas.openxmlformats.org/officeDocument/2006/relationships/notesSlide" Target="/ppt/notesSlides/notesSlide1.xml" Id="Rb22e98f4611b48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646c3c2cb994124" /><Relationship Type="http://schemas.openxmlformats.org/officeDocument/2006/relationships/notesSlide" Target="/ppt/notesSlides/notesSlide2.xml" Id="R3f6dffd038ab42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dc487c189f043c9" /><Relationship Type="http://schemas.openxmlformats.org/officeDocument/2006/relationships/notesSlide" Target="/ppt/notesSlides/notesSlide3.xml" Id="Rf493d801268248f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856204cd3224be7" /><Relationship Type="http://schemas.openxmlformats.org/officeDocument/2006/relationships/notesSlide" Target="/ppt/notesSlides/notesSlide4.xml" Id="Re5bfbc60ea974e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472a35c5b944b99" /><Relationship Type="http://schemas.openxmlformats.org/officeDocument/2006/relationships/notesSlide" Target="/ppt/notesSlides/notesSlide5.xml" Id="R721bd2d148cd437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b9ef5e5b2ee4b34" /><Relationship Type="http://schemas.openxmlformats.org/officeDocument/2006/relationships/chart" Target="/ppt/slides/charts/chart1.xml" Id="R382871de1f1547a5" /><Relationship Type="http://schemas.openxmlformats.org/officeDocument/2006/relationships/notesSlide" Target="/ppt/notesSlides/notesSlide6.xml" Id="Rdb4b380f6ad547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453184857944ce2" /><Relationship Type="http://schemas.openxmlformats.org/officeDocument/2006/relationships/notesSlide" Target="/ppt/notesSlides/notesSlide7.xml" Id="R77350141afa141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bec48fb34f24600" /><Relationship Type="http://schemas.openxmlformats.org/officeDocument/2006/relationships/notesSlide" Target="/ppt/notesSlides/notesSlide8.xml" Id="R3c473927880e40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daec2d57ff94a08" /><Relationship Type="http://schemas.openxmlformats.org/officeDocument/2006/relationships/notesSlide" Target="/ppt/notesSlides/notesSlide9.xml" Id="Re4688edff4c24f1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ea919c2cb7a42ef" /><Relationship Type="http://schemas.openxmlformats.org/officeDocument/2006/relationships/chart" Target="/ppt/slides/charts/chart2.xml" Id="Rcdd859e4d44e48a4" /><Relationship Type="http://schemas.openxmlformats.org/officeDocument/2006/relationships/notesSlide" Target="/ppt/notesSlides/notesSlide10.xml" Id="R8395d2edc5ff485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9f4ac235e96455f" /><Relationship Type="http://schemas.openxmlformats.org/officeDocument/2006/relationships/notesSlide" Target="/ppt/notesSlides/notesSlide11.xml" Id="R93cb3e62ef02449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b667d86b305478c" /><Relationship Type="http://schemas.openxmlformats.org/officeDocument/2006/relationships/chart" Target="/ppt/slides/charts/chart3.xml" Id="Rbfd0704bfed84376" /><Relationship Type="http://schemas.openxmlformats.org/officeDocument/2006/relationships/notesSlide" Target="/ppt/notesSlides/notesSlide12.xml" Id="R2d5f46120922483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e61ec51788b45b4" /><Relationship Type="http://schemas.openxmlformats.org/officeDocument/2006/relationships/notesSlide" Target="/ppt/notesSlides/notesSlide13.xml" Id="R7bb79ba1b2304e0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6be94d25660404f" /><Relationship Type="http://schemas.openxmlformats.org/officeDocument/2006/relationships/notesSlide" Target="/ppt/notesSlides/notesSlide14.xml" Id="R1ff9f7843bdd404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3bda2b715ea4978" /><Relationship Type="http://schemas.openxmlformats.org/officeDocument/2006/relationships/notesSlide" Target="/ppt/notesSlides/notesSlide15.xml" Id="R36a6837942484da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0fbb8dd72434554" /><Relationship Type="http://schemas.openxmlformats.org/officeDocument/2006/relationships/notesSlide" Target="/ppt/notesSlides/notesSlide16.xml" Id="R028a4ace0eeb454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a43434066e14b35" /><Relationship Type="http://schemas.openxmlformats.org/officeDocument/2006/relationships/notesSlide" Target="/ppt/notesSlides/notesSlide17.xml" Id="R2416e6c6a671427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5e473807acd4690" /><Relationship Type="http://schemas.openxmlformats.org/officeDocument/2006/relationships/notesSlide" Target="/ppt/notesSlides/notesSlide18.xml" Id="Re6f119778df6473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e1abc9e2a5b438c" /><Relationship Type="http://schemas.openxmlformats.org/officeDocument/2006/relationships/notesSlide" Target="/ppt/notesSlides/notesSlide19.xml" Id="R74888ed3a2504fec" /></Relationships>
</file>

<file path=ppt/slides/charts/chart1.xml><?xml version="1.0" encoding="utf-8"?>
<c:chartSpace xmlns:c="http://schemas.openxmlformats.org/drawingml/2006/chart">
  <c:lang val="en-US"/>
  <c:chart>
    <c:plotArea>
      <c:barChart>
        <c:barDir val="col"/>
        <c:grouping val="clustered"/>
        <c:varyColors val="0"/>
        <c:ser>
          <c:idx val="0"/>
          <c:order val="0"/>
          <c:tx>
            <c:v>Listings retained</c:v>
          </c:tx>
          <c:spPr>
            <a:solidFill xmlns:a="http://schemas.openxmlformats.org/drawingml/2006/main">
              <a:srgbClr val="51C4E6"/>
            </a:solidFill>
          </c:spPr>
          <c:cat>
            <c:strLit>
              <c:ptCount val="2"/>
              <c:pt idx="0">
                <c:v>H3 res 8</c:v>
              </c:pt>
              <c:pt idx="1">
                <c:v>KD ~140</c:v>
              </c:pt>
            </c:strLit>
          </c:cat>
          <c:val>
            <c:numLit>
              <c:formatCode>General</c:formatCode>
              <c:ptCount val="2"/>
              <c:pt idx="0">
                <c:v>62.6</c:v>
              </c:pt>
              <c:pt idx="1">
                <c:v>81.6</c:v>
              </c:pt>
            </c:numLit>
          </c:val>
        </c:ser>
        <c:dLbls>
          <c:txPr>
            <a:bodyPr xmlns:a="http://schemas.openxmlformats.org/drawingml/2006/main" anchorCtr="1"/>
            <a:lstStyle xmlns:a="http://schemas.openxmlformats.org/drawingml/2006/main"/>
            <a:p xmlns:a="http://schemas.openxmlformats.org/drawingml/2006/main">
              <a:pPr>
                <a:defRPr sz="1500">
                  <a:solidFill>
                    <a:srgbClr val="FFFFFF"/>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crossAx val="48672768"/>
      </c:catAx>
      <c:valAx>
        <c:axId val="48672768"/>
        <c:scaling>
          <c:orientation val="minMax"/>
          <c:max val="100"/>
          <c:min val="0"/>
        </c:scaling>
        <c:delete val="0"/>
        <c:axPos val="l"/>
        <c:majorGridlines>
          <c:spPr>
            <a:ln xmlns:a="http://schemas.openxmlformats.org/drawingml/2006/main" w="5715">
              <a:solidFill>
                <a:srgbClr val="333333"/>
              </a:solidFill>
            </a:ln>
          </c:spPr>
        </c:majorGridlines>
        <c:title>
          <c:tx>
            <c:rich>
              <a:bodyPr xmlns:a="http://schemas.openxmlformats.org/drawingml/2006/main"/>
              <a:lstStyle xmlns:a="http://schemas.openxmlformats.org/drawingml/2006/main"/>
              <a:p xmlns:a="http://schemas.openxmlformats.org/drawingml/2006/main">
                <a:r>
                  <a:rPr sz="1125">
                    <a:solidFill>
                      <a:srgbClr val="FFFFFF"/>
                    </a:solidFill>
                    <a:latin typeface="Helvetica Neue"/>
                    <a:ea typeface="Helvetica Neue"/>
                    <a:cs typeface="Helvetica Neue"/>
                  </a:rPr>
                  <a:t>Listings retained (%)</a:t>
                </a:r>
              </a:p>
            </c:rich>
          </c:tx>
          <c:overlay val="0"/>
          <c:txPr>
            <a:bodyPr xmlns:a="http://schemas.openxmlformats.org/drawingml/2006/main" anchorCtr="1"/>
            <a:lstStyle xmlns:a="http://schemas.openxmlformats.org/drawingml/2006/main"/>
            <a:p xmlns:a="http://schemas.openxmlformats.org/drawingml/2006/main">
              <a:pPr>
                <a:defRPr sz="1125">
                  <a:solidFill>
                    <a:srgbClr val="FFFFFF"/>
                  </a:solidFill>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BBBBBB"/>
                </a:solidFill>
                <a:latin typeface="Helvetica Neue"/>
                <a:ea typeface="Helvetica Neue"/>
                <a:cs typeface="Helvetica Neue"/>
              </a:defRPr>
            </a:pPr>
          </a:p>
        </c:txPr>
        <c:crossAx val="48650112"/>
        <c:crossBetween val="between"/>
        <c:majorUnit val="20"/>
      </c:valAx>
      <c:spPr>
        <a:solidFill xmlns:a="http://schemas.openxmlformats.org/drawingml/2006/main">
          <a:srgbClr val="000000"/>
        </a:solidFill>
      </c:spPr>
    </c:plotArea>
    <c:plotVisOnly val="1"/>
  </c:chart>
  <c:spPr>
    <a:solidFill xmlns:a="http://schemas.openxmlformats.org/drawingml/2006/main">
      <a:srgbClr val="000000"/>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Persistence</c:v>
          </c:tx>
          <c:spPr>
            <a:solidFill xmlns:a="http://schemas.openxmlformats.org/drawingml/2006/main">
              <a:srgbClr val="DBE6EB"/>
            </a:solidFill>
          </c:spPr>
          <c:cat>
            <c:strLit>
              <c:ptCount val="2"/>
              <c:pt idx="0">
                <c:v>Temporal</c:v>
              </c:pt>
              <c:pt idx="1">
                <c:v>Spatial</c:v>
              </c:pt>
            </c:strLit>
          </c:cat>
          <c:val>
            <c:numLit>
              <c:formatCode>General</c:formatCode>
              <c:ptCount val="2"/>
              <c:pt idx="0">
                <c:v>264</c:v>
              </c:pt>
              <c:pt idx="1">
                <c:v>253</c:v>
              </c:pt>
            </c:numLit>
          </c:val>
        </c:ser>
        <c:ser>
          <c:idx val="1"/>
          <c:order val="1"/>
          <c:tx>
            <c:v>XGBoost</c:v>
          </c:tx>
          <c:spPr>
            <a:solidFill xmlns:a="http://schemas.openxmlformats.org/drawingml/2006/main">
              <a:srgbClr val="51C4E6"/>
            </a:solidFill>
          </c:spPr>
          <c:cat>
            <c:strLit>
              <c:ptCount val="2"/>
              <c:pt idx="0">
                <c:v>Temporal</c:v>
              </c:pt>
              <c:pt idx="1">
                <c:v>Spatial</c:v>
              </c:pt>
            </c:strLit>
          </c:cat>
          <c:val>
            <c:numLit>
              <c:formatCode>General</c:formatCode>
              <c:ptCount val="2"/>
              <c:pt idx="0">
                <c:v>213</c:v>
              </c:pt>
              <c:pt idx="1">
                <c:v>209</c:v>
              </c:pt>
            </c:numLit>
          </c:val>
        </c:ser>
        <c:dLbls>
          <c:txPr>
            <a:bodyPr xmlns:a="http://schemas.openxmlformats.org/drawingml/2006/main" anchorCtr="1"/>
            <a:lstStyle xmlns:a="http://schemas.openxmlformats.org/drawingml/2006/main"/>
            <a:p xmlns:a="http://schemas.openxmlformats.org/drawingml/2006/main">
              <a:pPr>
                <a:defRPr sz="1500">
                  <a:solidFill>
                    <a:srgbClr val="FFFFFF"/>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crossAx val="48672768"/>
      </c:catAx>
      <c:valAx>
        <c:axId val="48672768"/>
        <c:scaling>
          <c:orientation val="minMax"/>
          <c:max val="350"/>
          <c:min val="0"/>
        </c:scaling>
        <c:delete val="0"/>
        <c:axPos val="l"/>
        <c:majorGridlines>
          <c:spPr>
            <a:ln xmlns:a="http://schemas.openxmlformats.org/drawingml/2006/main" w="5715">
              <a:solidFill>
                <a:srgbClr val="333333"/>
              </a:solidFill>
            </a:ln>
          </c:spPr>
        </c:majorGridlines>
        <c:title>
          <c:tx>
            <c:rich>
              <a:bodyPr xmlns:a="http://schemas.openxmlformats.org/drawingml/2006/main"/>
              <a:lstStyle xmlns:a="http://schemas.openxmlformats.org/drawingml/2006/main"/>
              <a:p xmlns:a="http://schemas.openxmlformats.org/drawingml/2006/main">
                <a:r>
                  <a:rPr sz="1125">
                    <a:solidFill>
                      <a:srgbClr val="FFFFFF"/>
                    </a:solidFill>
                    <a:latin typeface="Helvetica Neue"/>
                    <a:ea typeface="Helvetica Neue"/>
                    <a:cs typeface="Helvetica Neue"/>
                  </a:rPr>
                  <a:t>MAE (AZN/m²)</a:t>
                </a:r>
              </a:p>
            </c:rich>
          </c:tx>
          <c:overlay val="0"/>
          <c:txPr>
            <a:bodyPr xmlns:a="http://schemas.openxmlformats.org/drawingml/2006/main" anchorCtr="1"/>
            <a:lstStyle xmlns:a="http://schemas.openxmlformats.org/drawingml/2006/main"/>
            <a:p xmlns:a="http://schemas.openxmlformats.org/drawingml/2006/main">
              <a:pPr>
                <a:defRPr sz="1125">
                  <a:solidFill>
                    <a:srgbClr val="FFFFFF"/>
                  </a:solidFill>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BBBBBB"/>
                </a:solidFill>
                <a:latin typeface="Helvetica Neue"/>
                <a:ea typeface="Helvetica Neue"/>
                <a:cs typeface="Helvetica Neue"/>
              </a:defRPr>
            </a:pPr>
          </a:p>
        </c:txPr>
        <c:crossAx val="48650112"/>
        <c:crossBetween val="between"/>
        <c:majorUnit val="100"/>
      </c:valAx>
      <c:spPr>
        <a:solidFill xmlns:a="http://schemas.openxmlformats.org/drawingml/2006/main">
          <a:srgbClr val="000000"/>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FFFFFF"/>
              </a:solidFill>
              <a:latin typeface="Helvetica Neue"/>
              <a:ea typeface="Helvetica Neue"/>
              <a:cs typeface="Helvetica Neue"/>
            </a:defRPr>
          </a:pPr>
        </a:p>
      </c:txPr>
    </c:legend>
    <c:plotVisOnly val="1"/>
  </c:chart>
  <c:spPr>
    <a:solidFill xmlns:a="http://schemas.openxmlformats.org/drawingml/2006/main">
      <a:srgbClr val="000000"/>
    </a:solidFill>
    <a:ln xmlns:a="http://schemas.openxmlformats.org/drawingml/2006/main" w="0">
      <a:noFill/>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Coverage</c:v>
          </c:tx>
          <c:spPr>
            <a:solidFill xmlns:a="http://schemas.openxmlformats.org/drawingml/2006/main">
              <a:srgbClr val="51C4E6"/>
            </a:solidFill>
          </c:spPr>
          <c:cat>
            <c:strLit>
              <c:ptCount val="2"/>
              <c:pt idx="0">
                <c:v>Target</c:v>
              </c:pt>
              <c:pt idx="1">
                <c:v>Observed</c:v>
              </c:pt>
            </c:strLit>
          </c:cat>
          <c:val>
            <c:numLit>
              <c:formatCode>General</c:formatCode>
              <c:ptCount val="2"/>
              <c:pt idx="0">
                <c:v>80</c:v>
              </c:pt>
              <c:pt idx="1">
                <c:v>71.4</c:v>
              </c:pt>
            </c:numLit>
          </c:val>
        </c:ser>
        <c:dLbls>
          <c:txPr>
            <a:bodyPr xmlns:a="http://schemas.openxmlformats.org/drawingml/2006/main" anchorCtr="1"/>
            <a:lstStyle xmlns:a="http://schemas.openxmlformats.org/drawingml/2006/main"/>
            <a:p xmlns:a="http://schemas.openxmlformats.org/drawingml/2006/main">
              <a:pPr>
                <a:defRPr sz="1500">
                  <a:solidFill>
                    <a:srgbClr val="FFFFFF"/>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crossAx val="48672768"/>
      </c:catAx>
      <c:valAx>
        <c:axId val="48672768"/>
        <c:scaling>
          <c:orientation val="minMax"/>
          <c:max val="100"/>
          <c:min val="0"/>
        </c:scaling>
        <c:delete val="0"/>
        <c:axPos val="l"/>
        <c:majorGridlines>
          <c:spPr>
            <a:ln xmlns:a="http://schemas.openxmlformats.org/drawingml/2006/main" w="5715">
              <a:solidFill>
                <a:srgbClr val="333333"/>
              </a:solidFill>
            </a:ln>
          </c:spPr>
        </c:majorGridlines>
        <c:title>
          <c:tx>
            <c:rich>
              <a:bodyPr xmlns:a="http://schemas.openxmlformats.org/drawingml/2006/main"/>
              <a:lstStyle xmlns:a="http://schemas.openxmlformats.org/drawingml/2006/main"/>
              <a:p xmlns:a="http://schemas.openxmlformats.org/drawingml/2006/main">
                <a:r>
                  <a:rPr sz="1125">
                    <a:solidFill>
                      <a:srgbClr val="FFFFFF"/>
                    </a:solidFill>
                    <a:latin typeface="Helvetica Neue"/>
                    <a:ea typeface="Helvetica Neue"/>
                    <a:cs typeface="Helvetica Neue"/>
                  </a:rPr>
                  <a:t>Coverage (%)</a:t>
                </a:r>
              </a:p>
            </c:rich>
          </c:tx>
          <c:overlay val="0"/>
          <c:txPr>
            <a:bodyPr xmlns:a="http://schemas.openxmlformats.org/drawingml/2006/main" anchorCtr="1"/>
            <a:lstStyle xmlns:a="http://schemas.openxmlformats.org/drawingml/2006/main"/>
            <a:p xmlns:a="http://schemas.openxmlformats.org/drawingml/2006/main">
              <a:pPr>
                <a:defRPr sz="1125">
                  <a:solidFill>
                    <a:srgbClr val="FFFFFF"/>
                  </a:solidFill>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BBBBBB"/>
                </a:solidFill>
                <a:latin typeface="Helvetica Neue"/>
                <a:ea typeface="Helvetica Neue"/>
                <a:cs typeface="Helvetica Neue"/>
              </a:defRPr>
            </a:pPr>
          </a:p>
        </c:txPr>
        <c:crossAx val="48650112"/>
        <c:crossBetween val="between"/>
        <c:majorUnit val="20"/>
      </c:valAx>
      <c:spPr>
        <a:solidFill xmlns:a="http://schemas.openxmlformats.org/drawingml/2006/main">
          <a:srgbClr val="000000"/>
        </a:solidFill>
      </c:spPr>
    </c:plotArea>
    <c:plotVisOnly val="1"/>
  </c:chart>
  <c:spPr>
    <a:solidFill xmlns:a="http://schemas.openxmlformats.org/drawingml/2006/main">
      <a:srgbClr val="000000"/>
    </a:solidFill>
    <a:ln xmlns:a="http://schemas.openxmlformats.org/drawingml/2006/main" w="0">
      <a:noFill/>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5733" y="1907316"/>
            <a:ext cx="7174888" cy="2491490"/>
          </a:xfrm>
        </p:spPr>
        <p:txBody>
          <a:bodyPr xmlns:a="http://schemas.openxmlformats.org/drawingml/2006/main" anchor="ctr">
            <a:noAutofit/>
          </a:bodyPr>
          <a:lstStyle xmlns:a="http://schemas.openxmlformats.org/drawingml/2006/main"/>
          <a:p xmlns:a="http://schemas.openxmlformats.org/drawingml/2006/main">
            <a:r>
              <a:rPr sz="5400"/>
              <a:t>Beyond Price</a:t>
            </a:r>
          </a:p>
          <a:p xmlns:a="http://schemas.openxmlformats.org/drawingml/2006/main">
            <a:r>
              <a:rPr sz="5400"/>
              <a:t>Prediction</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15733" y="5264722"/>
            <a:ext cx="6910483" cy="1080246"/>
          </a:xfrm>
        </p:spPr>
        <p:txBody>
          <a:bodyPr xmlns:a="http://schemas.openxmlformats.org/drawingml/2006/main" anchor="b">
            <a:noAutofit/>
          </a:bodyPr>
          <a:lstStyle xmlns:a="http://schemas.openxmlformats.org/drawingml/2006/main"/>
          <a:p xmlns:a="http://schemas.openxmlformats.org/drawingml/2006/main">
            <a:r>
              <a:rPr sz="1800"/>
              <a:t>Baku &amp; Absheron real estate</a:t>
            </a:r>
          </a:p>
          <a:p xmlns:a="http://schemas.openxmlformats.org/drawingml/2006/main">
            <a:r>
              <a:rPr sz="1800"/>
              <a:t>Holberton School  /  Group 3</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2000"/>
              <a:t>BakuML</a:t>
            </a:r>
          </a:p>
        </p:txBody>
      </p:sp>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10b816b916364d11"/>
          <a:srcRect xmlns:a="http://schemas.openxmlformats.org/drawingml/2006/main" l="3052" t="0" r="3052" b="0"/>
          <a:stretch xmlns:a="http://schemas.openxmlformats.org/drawingml/2006/main">
            <a:fillRect l="0" t="0" r="0" b="0"/>
          </a:stretch>
        </p:blipFill>
        <p:spPr>
          <a:xfrm xmlns:a="http://schemas.openxmlformats.org/drawingml/2006/main">
            <a:off x="7899094" y="0"/>
            <a:ext cx="4292906" cy="685800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59A8DA10-BC74-F432-B483-CF813D4319AD}"/>
              </a:ext>
            </a:extLst>
          </p:cNvPr>
          <p:cNvSpPr>
            <a:spLocks xmlns:a="http://schemas.openxmlformats.org/drawingml/2006/main" noGrp="1"/>
          </p:cNvSpPr>
          <p:nvPr>
            <p:ph type="ctrTitle" idx="0"/>
          </p:nvPr>
        </p:nvSpPr>
        <p:spPr>
          <a:xfrm xmlns:a="http://schemas.openxmlformats.org/drawingml/2006/main">
            <a:off x="393700" y="3712696"/>
            <a:ext cx="9448800" cy="2491490"/>
          </a:xfrm>
        </p:spPr>
        <p:txBody>
          <a:bodyPr xmlns:a="http://schemas.openxmlformats.org/drawingml/2006/main">
            <a:noAutofit/>
          </a:bodyPr>
          <a:lstStyle xmlns:a="http://schemas.openxmlformats.org/drawingml/2006/main"/>
          <a:p xmlns:a="http://schemas.openxmlformats.org/drawingml/2006/main">
            <a:r>
              <a:rPr sz="6000"/>
              <a:t>Where will Baku’s</a:t>
            </a:r>
          </a:p>
          <a:p xmlns:a="http://schemas.openxmlformats.org/drawingml/2006/main">
            <a:r>
              <a:rPr sz="6000"/>
              <a:t>market move next?</a:t>
            </a:r>
          </a:p>
        </p:txBody>
      </p:sp>
      <p:sp>
        <p:nvSpPr>
          <p:cNvPr id="6" name="Subtitle 4">
            <a:extLst xmlns:a="http://schemas.openxmlformats.org/drawingml/2006/main">
              <a:ext uri="{FF2B5EF4-FFF2-40B4-BE49-F238E27FC236}">
                <a16:creationId xmlns:a16="http://schemas.microsoft.com/office/drawing/2014/main" id="{47DF5305-453D-AB88-8DE6-9846FEB1B651}"/>
              </a:ext>
            </a:extLst>
          </p:cNvPr>
          <p:cNvSpPr>
            <a:spLocks xmlns:a="http://schemas.openxmlformats.org/drawingml/2006/main" noGrp="1"/>
          </p:cNvSpPr>
          <p:nvPr/>
        </p:nvSpPr>
        <p:spPr>
          <a:xfrm xmlns:a="http://schemas.openxmlformats.org/drawingml/2006/main">
            <a:off x="393699" y="392241"/>
            <a:ext cx="6157826"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t>The research question</a:t>
            </a:r>
          </a:p>
        </p:txBody>
      </p:sp>
      <p:sp>
        <p:nvSpPr>
          <p:cNvPr id="8" name="Subtitle 4">
            <a:extLst xmlns:a="http://schemas.openxmlformats.org/drawingml/2006/main">
              <a:ext uri="{FF2B5EF4-FFF2-40B4-BE49-F238E27FC236}">
                <a16:creationId xmlns:a16="http://schemas.microsoft.com/office/drawing/2014/main" id="{4AE41470-6E36-D08D-AC35-CBDFACEF3DBC}"/>
              </a:ext>
            </a:extLst>
          </p:cNvPr>
          <p:cNvSpPr>
            <a:spLocks xmlns:a="http://schemas.openxmlformats.org/drawingml/2006/main" noGrp="1"/>
          </p:cNvSpPr>
          <p:nvPr/>
        </p:nvSpPr>
        <p:spPr>
          <a:xfrm xmlns:a="http://schemas.openxmlformats.org/drawingml/2006/main">
            <a:off x="7886700" y="392241"/>
            <a:ext cx="39116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r">
              <a:buNone/>
            </a:pPr>
            <a:r>
              <a:rPr sz="1800"/>
              <a:t>Asking prices, place and time</a:t>
            </a:r>
          </a:p>
        </p:txBody>
      </p:sp>
    </p:spTree>
    <p:extLst>
      <p:ext uri="{BB962C8B-B14F-4D97-AF65-F5344CB8AC3E}">
        <p14:creationId xmlns:p14="http://schemas.microsoft.com/office/powerpoint/2010/main" val="350773716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370000"/>
            <a:ext cx="10400000" cy="241300"/>
          </a:xfrm>
        </p:spPr>
        <p:txBody>
          <a:bodyPr xmlns:a="http://schemas.openxmlformats.org/drawingml/2006/main"/>
          <a:lstStyle xmlns:a="http://schemas.openxmlformats.org/drawingml/2006/main"/>
          <a:p xmlns:a="http://schemas.openxmlformats.org/drawingml/2006/main">
            <a:r>
              <a:rPr sz="1000"/>
              <a:t>Current interface: Flask, Jinja, Leaflet and Plotly</a:t>
            </a:r>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lstStyle xmlns:a="http://schemas.openxmlformats.org/drawingml/2006/main"/>
          <a:p xmlns:a="http://schemas.openxmlformats.org/drawingml/2006/main">
            <a:r>
              <a:rPr sz="1000"/>
              <a:t>3</a:t>
            </a:r>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rPr sz="3000"/>
              <a:t>BakuML combines a marketplace with spatial research</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pPr>
            <a:r>
              <a:rPr sz="2400" b="0" i="0" u="none" cap="none" spc="0">
                <a:ln>
                  <a:noFill/>
                </a:ln>
                <a:latin typeface="Helvetica Neue"/>
                <a:ea typeface="Helvetica Neue"/>
                <a:cs typeface="Helvetica Neue"/>
              </a:rPr>
              <a:t>Property discovery</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latin typeface="Helvetica Neue"/>
                <a:ea typeface="Helvetica Neue"/>
                <a:cs typeface="Helvetica Neue"/>
              </a:rPr>
              <a:t>Filter listings by district, budget, rooms and building type.</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pPr>
            <a:r>
              <a:rPr sz="2400" b="0" i="0" u="none" cap="none" spc="0">
                <a:ln>
                  <a:noFill/>
                </a:ln>
                <a:latin typeface="Helvetica Neue"/>
                <a:ea typeface="Helvetica Neue"/>
                <a:cs typeface="Helvetica Neue"/>
              </a:rPr>
              <a:t>Listing analytics</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latin typeface="Helvetica Neue"/>
                <a:ea typeface="Helvetica Neue"/>
                <a:cs typeface="Helvetica Neue"/>
              </a:rPr>
              <a:t>Compare asking prices with cell estimates and a composite score.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2400">
                <a:latin typeface="Helvetica Neue"/>
                <a:ea typeface="Helvetica Neue"/>
                <a:cs typeface="Helvetica Neue"/>
              </a:rPr>
              <a:t>Interactive geography</a:t>
            </a:r>
          </a:p>
          <a:p xmlns:a="http://schemas.openxmlformats.org/drawingml/2006/main">
            <a:pPr marL="0" indent="0">
              <a:lnSpc>
                <a:spcPct val="100000"/>
              </a:lnSpc>
              <a:spcBef>
                <a:spcPts val="1300"/>
              </a:spcBef>
              <a:spcAft>
                <a:spcPts val="1300"/>
              </a:spcAft>
              <a:buFontTx/>
              <a:buNone/>
            </a:pPr>
            <a:r>
              <a:rPr sz="1800">
                <a:latin typeface="Helvetica Neue"/>
                <a:ea typeface="Helvetica Neue"/>
                <a:cs typeface="Helvetica Neue"/>
              </a:rPr>
              <a:t>Explore map layers, metro stations and cell-level histories.</a:t>
            </a:r>
            <a:endParaRPr sz="1800">
              <a:latin typeface="Helvetica Neue"/>
              <a:ea typeface="Helvetica Neue"/>
              <a:cs typeface="Helvetica Neue"/>
            </a:endParaRP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2400">
                <a:latin typeface="Helvetica Neue"/>
                <a:ea typeface="Helvetica Neue"/>
                <a:cs typeface="Helvetica Neue"/>
              </a:rPr>
              <a:t>Research engine</a:t>
            </a:r>
          </a:p>
          <a:p xmlns:a="http://schemas.openxmlformats.org/drawingml/2006/main">
            <a:pPr marL="0" indent="0">
              <a:lnSpc>
                <a:spcPct val="100000"/>
              </a:lnSpc>
              <a:spcBef>
                <a:spcPts val="1300"/>
              </a:spcBef>
              <a:spcAft>
                <a:spcPts val="1300"/>
              </a:spcAft>
              <a:buFontTx/>
              <a:buNone/>
            </a:pPr>
            <a:r>
              <a:rPr sz="1800">
                <a:latin typeface="Helvetica Neue"/>
                <a:ea typeface="Helvetica Neue"/>
                <a:cs typeface="Helvetica Neue"/>
              </a:rPr>
              <a:t>Evaluate spatial models and infrastructure scenarios offline.</a:t>
            </a:r>
            <a:endParaRPr sz="1800">
              <a:latin typeface="Helvetica Neue"/>
              <a:ea typeface="Helvetica Neue"/>
              <a:cs typeface="Helvetica Neue"/>
            </a:endParaRPr>
          </a:p>
        </p:txBody>
      </p:sp>
    </p:spTree>
    <p:extLst>
      <p:ext uri="{BB962C8B-B14F-4D97-AF65-F5344CB8AC3E}">
        <p14:creationId xmlns:p14="http://schemas.microsoft.com/office/powerpoint/2010/main" val="36014548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370000"/>
            <a:ext cx="10400000" cy="241300"/>
          </a:xfrm>
        </p:spPr>
        <p:txBody>
          <a:bodyPr xmlns:a="http://schemas.openxmlformats.org/drawingml/2006/main"/>
          <a:lstStyle xmlns:a="http://schemas.openxmlformats.org/drawingml/2006/main"/>
          <a:p xmlns:a="http://schemas.openxmlformats.org/drawingml/2006/main">
            <a:r>
              <a:rPr sz="1000"/>
              <a:t>The figures in this presentation are documented synthetic benchmarks</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r>
              <a:rPr sz="1000"/>
              <a:t>4</a:t>
            </a:r>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sz="3000"/>
              <a:t>Two data paths, two levels of evidence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400">
                <a:latin typeface="Helvetica Neue"/>
                <a:ea typeface="Helvetica Neue"/>
                <a:cs typeface="Helvetica Neue"/>
              </a:rPr>
              <a:t>Synthetic research panel</a:t>
            </a:r>
          </a:p>
          <a:p xmlns:a="http://schemas.openxmlformats.org/drawingml/2006/main">
            <a:pPr marL="0" indent="0">
              <a:lnSpc>
                <a:spcPct val="114000"/>
              </a:lnSpc>
              <a:spcBef>
                <a:spcPts val="0"/>
              </a:spcBef>
              <a:spcAft>
                <a:spcPts val="800"/>
              </a:spcAft>
              <a:buFont typeface="Arial"/>
              <a:buNone/>
            </a:pPr>
            <a:r>
              <a:rPr sz="2000">
                <a:latin typeface="Helvetica Neue"/>
                <a:ea typeface="Helvetica Neue"/>
                <a:cs typeface="Helvetica Neue"/>
              </a:rPr>
              <a:t>Controlled monthly listings with known duplicates, price gradients and a simulated station opening.
Supports temporal validation and recovery of planted effects.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400">
                <a:latin typeface="Helvetica Neue"/>
                <a:ea typeface="Helvetica Neue"/>
                <a:cs typeface="Helvetica Neue"/>
              </a:rPr>
              <a:t>Real-listing snapshot</a:t>
            </a:r>
          </a:p>
          <a:p xmlns:a="http://schemas.openxmlformats.org/drawingml/2006/main">
            <a:pPr marL="0" indent="0">
              <a:lnSpc>
                <a:spcPct val="114000"/>
              </a:lnSpc>
              <a:spcBef>
                <a:spcPts val="0"/>
              </a:spcBef>
              <a:spcAft>
                <a:spcPts val="800"/>
              </a:spcAft>
              <a:buNone/>
            </a:pPr>
            <a:r>
              <a:rPr sz="2000">
                <a:latin typeface="Helvetica Neue"/>
                <a:ea typeface="Helvetica Neue"/>
                <a:cs typeface="Helvetica Neue"/>
              </a:rPr>
              <a:t>The bina.az GraphQL client feeds a separate cross-sectional model.
A snapshot supports price comparisons. Long-term growth outputs remain heuristic.</a:t>
            </a:r>
          </a:p>
        </p:txBody>
      </p:sp>
    </p:spTree>
    <p:extLst>
      <p:ext uri="{BB962C8B-B14F-4D97-AF65-F5344CB8AC3E}">
        <p14:creationId xmlns:p14="http://schemas.microsoft.com/office/powerpoint/2010/main" val="36671821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r>
              <a:rPr sz="1000"/>
              <a:t>5</a:t>
            </a:r>
            <a:endParaRPr/>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rPr sz="3000"/>
              <a:t>The research pipeline</a:t>
            </a:r>
          </a:p>
        </p:txBody>
      </p:sp>
      <p:cxnSp>
        <p:nvCxnSpPr>
          <p:cNvPr id="23" name="Google Shape;2259;p159"/>
          <p:cNvCxnSpPr>
            <a:stCxn xmlns:a="http://schemas.openxmlformats.org/drawingml/2006/main" id="3" idx="2"/>
          </p:cNvCxnSpPr>
          <p:nvPr/>
        </p:nvCxnSpPr>
        <p:spPr>
          <a:xfrm xmlns:a="http://schemas.openxmlformats.org/drawingml/2006/main">
            <a:off x="337757" y="3373755"/>
            <a:ext cx="11460480" cy="305"/>
          </a:xfrm>
          <a:prstGeom xmlns:a="http://schemas.openxmlformats.org/drawingml/2006/main" prst="straightConnector1">
            <a:avLst/>
          </a:prstGeom>
          <a:ln xmlns:a="http://schemas.openxmlformats.org/drawingml/2006/main" w="9525" cap="flat">
            <a:solidFill>
              <a:schemeClr val="tx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01  Data</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02  Geography</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03  Models</a:t>
            </a:r>
          </a:p>
        </p:txBody>
      </p:sp>
      <p:sp>
        <p:nvSpPr>
          <p:cNvPr id="8" name="Text Placeholder 16">
            <a:extLst xmlns:a="http://schemas.openxmlformats.org/drawingml/2006/main">
              <a:ext uri="{FF2B5EF4-FFF2-40B4-BE49-F238E27FC236}">
                <a16:creationId xmlns:a16="http://schemas.microsoft.com/office/drawing/2014/main" id="{D0EE3B6B-F07C-271E-2F97-41D7686F1C33}"/>
              </a:ext>
            </a:extLst>
          </p:cNvPr>
          <p:cNvSpPr>
            <a:spLocks xmlns:a="http://schemas.openxmlformats.org/drawingml/2006/main" noGrp="1"/>
          </p:cNvSpPr>
          <p:nvPr/>
        </p:nvSpPr>
        <p:spPr>
          <a:xfrm xmlns:a="http://schemas.openxmlformats.org/drawingml/2006/main">
            <a:off x="4317118"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400">
                <a:latin typeface="Helvetica Neue"/>
                <a:ea typeface="Helvetica Neue"/>
                <a:cs typeface="Helvetica Neue"/>
              </a:rPr>
              <a:t>Build the panel</a:t>
            </a:r>
          </a:p>
          <a:p xmlns:a="http://schemas.openxmlformats.org/drawingml/2006/main">
            <a:pPr marL="0" indent="0">
              <a:lnSpc>
                <a:spcPct val="114000"/>
              </a:lnSpc>
              <a:spcBef>
                <a:spcPts val="0"/>
              </a:spcBef>
              <a:spcAft>
                <a:spcPts val="800"/>
              </a:spcAft>
              <a:buFont typeface="Arial"/>
              <a:buNone/>
            </a:pPr>
            <a:r>
              <a:rPr sz="1700">
                <a:latin typeface="Helvetica Neue"/>
                <a:ea typeface="Helvetica Neue"/>
                <a:cs typeface="Helvetica Neue"/>
              </a:rPr>
              <a:t>Assign spatial cells, aggregate monthly prices and compute past-only features.</a:t>
            </a:r>
          </a:p>
        </p:txBody>
      </p:sp>
      <p:sp>
        <p:nvSpPr>
          <p:cNvPr id="15" name="Text Placeholder 16">
            <a:extLst xmlns:a="http://schemas.openxmlformats.org/drawingml/2006/main">
              <a:ext uri="{FF2B5EF4-FFF2-40B4-BE49-F238E27FC236}">
                <a16:creationId xmlns:a16="http://schemas.microsoft.com/office/drawing/2014/main" id="{B3EA0E10-C778-6971-AFB5-9B9B52B082D5}"/>
              </a:ext>
            </a:extLst>
          </p:cNvPr>
          <p:cNvSpPr>
            <a:spLocks xmlns:a="http://schemas.openxmlformats.org/drawingml/2006/main" noGrp="1"/>
          </p:cNvSpPr>
          <p:nvPr/>
        </p:nvSpPr>
        <p:spPr>
          <a:xfrm xmlns:a="http://schemas.openxmlformats.org/drawingml/2006/main">
            <a:off x="399873"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400">
                <a:latin typeface="Helvetica Neue"/>
                <a:ea typeface="Helvetica Neue"/>
                <a:cs typeface="Helvetica Neue"/>
              </a:rPr>
              <a:t>Clean the listings</a:t>
            </a:r>
          </a:p>
          <a:p xmlns:a="http://schemas.openxmlformats.org/drawingml/2006/main">
            <a:pPr marL="0" indent="0">
              <a:lnSpc>
                <a:spcPct val="114000"/>
              </a:lnSpc>
              <a:spcBef>
                <a:spcPts val="0"/>
              </a:spcBef>
              <a:spcAft>
                <a:spcPts val="800"/>
              </a:spcAft>
              <a:buFont typeface="Arial"/>
              <a:buNone/>
            </a:pPr>
            <a:r>
              <a:rPr sz="1700">
                <a:latin typeface="Helvetica Neue"/>
                <a:ea typeface="Helvetica Neue"/>
                <a:cs typeface="Helvetica Neue"/>
              </a:rPr>
              <a:t>Normalize fields and remove broker reposts using image hashes and text similarity.</a:t>
            </a:r>
          </a:p>
        </p:txBody>
      </p:sp>
      <p:sp>
        <p:nvSpPr>
          <p:cNvPr id="19" name="Text Placeholder 16">
            <a:extLst xmlns:a="http://schemas.openxmlformats.org/drawingml/2006/main">
              <a:ext uri="{FF2B5EF4-FFF2-40B4-BE49-F238E27FC236}">
                <a16:creationId xmlns:a16="http://schemas.microsoft.com/office/drawing/2014/main" id="{5A9F39A9-7A23-0F85-F761-1AB9FA6B8FDE}"/>
              </a:ext>
            </a:extLst>
          </p:cNvPr>
          <p:cNvSpPr>
            <a:spLocks xmlns:a="http://schemas.openxmlformats.org/drawingml/2006/main" noGrp="1"/>
          </p:cNvSpPr>
          <p:nvPr/>
        </p:nvSpPr>
        <p:spPr>
          <a:xfrm xmlns:a="http://schemas.openxmlformats.org/drawingml/2006/main">
            <a:off x="8177917"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400">
                <a:latin typeface="Helvetica Neue"/>
                <a:ea typeface="Helvetica Neue"/>
                <a:cs typeface="Helvetica Neue"/>
              </a:rPr>
              <a:t>Publish the outputs</a:t>
            </a:r>
          </a:p>
          <a:p xmlns:a="http://schemas.openxmlformats.org/drawingml/2006/main">
            <a:pPr marL="0" indent="0">
              <a:lnSpc>
                <a:spcPct val="114000"/>
              </a:lnSpc>
              <a:spcBef>
                <a:spcPts val="0"/>
              </a:spcBef>
              <a:spcAft>
                <a:spcPts val="800"/>
              </a:spcAft>
              <a:buFont typeface="Arial"/>
              <a:buNone/>
            </a:pPr>
            <a:r>
              <a:rPr sz="1700">
                <a:latin typeface="Helvetica Neue"/>
                <a:ea typeface="Helvetica Neue"/>
                <a:cs typeface="Helvetica Neue"/>
              </a:rPr>
              <a:t>Evaluate models, estimate intervals and save artifacts for the application.</a:t>
            </a:r>
          </a:p>
        </p:txBody>
      </p:sp>
    </p:spTree>
    <p:extLst>
      <p:ext uri="{BB962C8B-B14F-4D97-AF65-F5344CB8AC3E}">
        <p14:creationId xmlns:p14="http://schemas.microsoft.com/office/powerpoint/2010/main" val="344633891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Footer Placeholder 9">
            <a:extLst xmlns:a="http://schemas.openxmlformats.org/drawingml/2006/main">
              <a:ext uri="{FF2B5EF4-FFF2-40B4-BE49-F238E27FC236}">
                <a16:creationId xmlns:a16="http://schemas.microsoft.com/office/drawing/2014/main" id="{86E641B5-9209-3FE0-FF9F-6D9DEC997FE3}"/>
              </a:ext>
            </a:extLst>
          </p:cNvPr>
          <p:cNvSpPr>
            <a:spLocks xmlns:a="http://schemas.openxmlformats.org/drawingml/2006/main" noGrp="1"/>
          </p:cNvSpPr>
          <p:nvPr>
            <p:ph type="ftr" idx="3"/>
          </p:nvPr>
        </p:nvSpPr>
        <p:spPr>
          <a:xfrm xmlns:a="http://schemas.openxmlformats.org/drawingml/2006/main">
            <a:off x="393700" y="6370000"/>
            <a:ext cx="10400000" cy="241300"/>
          </a:xfrm>
        </p:spPr>
        <p:txBody>
          <a:bodyPr xmlns:a="http://schemas.openxmlformats.org/drawingml/2006/main"/>
          <a:lstStyle xmlns:a="http://schemas.openxmlformats.org/drawingml/2006/main"/>
          <a:p xmlns:a="http://schemas.openxmlformats.org/drawingml/2006/main">
            <a:r>
              <a:rPr sz="1000"/>
              <a:t>Documented synthetic MAUP study. Chart: percentage of listings retained</a:t>
            </a:r>
            <a:endParaRPr/>
          </a:p>
        </p:txBody>
      </p:sp>
      <p:sp>
        <p:nvSpPr>
          <p:cNvPr id="4" name="Slide Number Placeholder 3">
            <a:extLst xmlns:a="http://schemas.openxmlformats.org/drawingml/2006/main">
              <a:ext uri="{FF2B5EF4-FFF2-40B4-BE49-F238E27FC236}">
                <a16:creationId xmlns:a16="http://schemas.microsoft.com/office/drawing/2014/main" id="{0E4B3D1A-6BB0-A1C9-2A5D-E2CB5C0C28D8}"/>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r>
              <a:rPr sz="1000"/>
              <a:t>6</a:t>
            </a:r>
            <a:endParaRPr/>
          </a:p>
        </p:txBody>
      </p:sp>
      <p:sp>
        <p:nvSpPr>
          <p:cNvPr id="11" name="Title 10">
            <a:extLst xmlns:a="http://schemas.openxmlformats.org/drawingml/2006/main">
              <a:ext uri="{FF2B5EF4-FFF2-40B4-BE49-F238E27FC236}">
                <a16:creationId xmlns:a16="http://schemas.microsoft.com/office/drawing/2014/main" id="{76E542D1-756D-7A52-4319-E7068676CA8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rPr sz="3000"/>
              <a:t>Adaptive cells retain more usable history</a:t>
            </a:r>
          </a:p>
        </p:txBody>
      </p:sp>
      <p:sp>
        <p:nvSpPr>
          <p:cNvPr id="38" name="Content Placeholder 9">
            <a:extLst xmlns:a="http://schemas.openxmlformats.org/drawingml/2006/main">
              <a:ext uri="{FF2B5EF4-FFF2-40B4-BE49-F238E27FC236}">
                <a16:creationId xmlns:a16="http://schemas.microsoft.com/office/drawing/2014/main" id="{23EBE22F-0E57-50F2-2730-87B6AA220C40}"/>
              </a:ext>
            </a:extLst>
          </p:cNvPr>
          <p:cNvSpPr>
            <a:spLocks xmlns:a="http://schemas.openxmlformats.org/drawingml/2006/main" noGrp="1"/>
          </p:cNvSpPr>
          <p:nvPr/>
        </p:nvSpPr>
        <p:spPr>
          <a:xfrm xmlns:a="http://schemas.openxmlformats.org/drawingml/2006/main">
            <a:off x="6366176" y="4072340"/>
            <a:ext cx="2133315" cy="903750"/>
          </a:xfrm>
          <a:prstGeom xmlns:a="http://schemas.openxmlformats.org/drawingml/2006/main" prst="rect">
            <a:avLst/>
          </a:prstGeom>
        </p:spPr>
        <p:txBody>
          <a:bodyPr xmlns:a="http://schemas.openxmlformats.org/drawingml/2006/main" vert="horz" lIns="0" tIns="0" rIns="0" bIns="0" anchor="b">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5000" u="none" cap="none" spc="0">
                <a:ln>
                  <a:noFill/>
                </a:ln>
                <a:latin typeface="Helvetica Neue"/>
                <a:ea typeface="Helvetica Neue"/>
                <a:cs typeface="Helvetica Neue"/>
              </a:rPr>
              <a:t>5</a:t>
            </a:r>
            <a:endParaRPr sz="5000">
              <a:latin typeface="Helvetica Neue"/>
              <a:ea typeface="Helvetica Neue"/>
              <a:cs typeface="Helvetica Neue"/>
            </a:endParaRPr>
          </a:p>
        </p:txBody>
      </p:sp>
      <p:sp>
        <p:nvSpPr>
          <p:cNvPr id="39" name="Content Placeholder 15">
            <a:extLst xmlns:a="http://schemas.openxmlformats.org/drawingml/2006/main">
              <a:ext uri="{FF2B5EF4-FFF2-40B4-BE49-F238E27FC236}">
                <a16:creationId xmlns:a16="http://schemas.microsoft.com/office/drawing/2014/main" id="{321A36F2-8209-5AA9-0D95-01C3D5856CA8}"/>
              </a:ext>
            </a:extLst>
          </p:cNvPr>
          <p:cNvSpPr>
            <a:spLocks xmlns:a="http://schemas.openxmlformats.org/drawingml/2006/main" noGrp="1"/>
          </p:cNvSpPr>
          <p:nvPr/>
        </p:nvSpPr>
        <p:spPr>
          <a:xfrm xmlns:a="http://schemas.openxmlformats.org/drawingml/2006/main">
            <a:off x="6432794" y="5068235"/>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Median months</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H3 resolution 8</a:t>
            </a:r>
            <a:endParaRPr sz="1400">
              <a:latin typeface="Helvetica Neue"/>
              <a:ea typeface="Helvetica Neue"/>
              <a:cs typeface="Helvetica Neue"/>
            </a:endParaRPr>
          </a:p>
        </p:txBody>
      </p:sp>
      <p:sp>
        <p:nvSpPr>
          <p:cNvPr id="41" name="Content Placeholder 9">
            <a:extLst xmlns:a="http://schemas.openxmlformats.org/drawingml/2006/main">
              <a:ext uri="{FF2B5EF4-FFF2-40B4-BE49-F238E27FC236}">
                <a16:creationId xmlns:a16="http://schemas.microsoft.com/office/drawing/2014/main" id="{D26AD9AD-13F4-E1DA-D400-C93C8877BBBD}"/>
              </a:ext>
            </a:extLst>
          </p:cNvPr>
          <p:cNvSpPr>
            <a:spLocks xmlns:a="http://schemas.openxmlformats.org/drawingml/2006/main" noGrp="1"/>
          </p:cNvSpPr>
          <p:nvPr/>
        </p:nvSpPr>
        <p:spPr>
          <a:xfrm xmlns:a="http://schemas.openxmlformats.org/drawingml/2006/main">
            <a:off x="9318381" y="4072340"/>
            <a:ext cx="2133315" cy="903750"/>
          </a:xfrm>
          <a:prstGeom xmlns:a="http://schemas.openxmlformats.org/drawingml/2006/main" prst="rect">
            <a:avLst/>
          </a:prstGeom>
        </p:spPr>
        <p:txBody>
          <a:bodyPr xmlns:a="http://schemas.openxmlformats.org/drawingml/2006/main" vert="horz" lIns="0" tIns="0" rIns="0" bIns="0" anchor="b">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5000" u="none" cap="none" spc="0">
                <a:ln>
                  <a:noFill/>
                </a:ln>
                <a:latin typeface="Helvetica Neue"/>
                <a:ea typeface="Helvetica Neue"/>
                <a:cs typeface="Helvetica Neue"/>
              </a:rPr>
              <a:t>26</a:t>
            </a:r>
            <a:endParaRPr sz="5000">
              <a:latin typeface="Helvetica Neue"/>
              <a:ea typeface="Helvetica Neue"/>
              <a:cs typeface="Helvetica Neue"/>
            </a:endParaRPr>
          </a:p>
        </p:txBody>
      </p:sp>
      <p:sp>
        <p:nvSpPr>
          <p:cNvPr id="42" name="Content Placeholder 15">
            <a:extLst xmlns:a="http://schemas.openxmlformats.org/drawingml/2006/main">
              <a:ext uri="{FF2B5EF4-FFF2-40B4-BE49-F238E27FC236}">
                <a16:creationId xmlns:a16="http://schemas.microsoft.com/office/drawing/2014/main" id="{D80012E4-4A17-58AB-7C13-D2FE52FDDB3B}"/>
              </a:ext>
            </a:extLst>
          </p:cNvPr>
          <p:cNvSpPr>
            <a:spLocks xmlns:a="http://schemas.openxmlformats.org/drawingml/2006/main" noGrp="1"/>
          </p:cNvSpPr>
          <p:nvPr/>
        </p:nvSpPr>
        <p:spPr>
          <a:xfrm xmlns:a="http://schemas.openxmlformats.org/drawingml/2006/main">
            <a:off x="9384999" y="5068235"/>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Median months</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KD-tree ~140/cell</a:t>
            </a:r>
            <a:endParaRPr sz="1400">
              <a:latin typeface="Helvetica Neue"/>
              <a:ea typeface="Helvetica Neue"/>
              <a:cs typeface="Helvetica Neue"/>
            </a:endParaRPr>
          </a:p>
        </p:txBody>
      </p:sp>
      <p:sp>
        <p:nvSpPr>
          <p:cNvPr id="2" name="Rounded Rectangle 1">
            <a:extLst xmlns:a="http://schemas.openxmlformats.org/drawingml/2006/main">
              <a:ext uri="{FF2B5EF4-FFF2-40B4-BE49-F238E27FC236}">
                <a16:creationId xmlns:a16="http://schemas.microsoft.com/office/drawing/2014/main" id="{B9E294EF-928B-660C-B2B3-E78F4ECC5452}"/>
              </a:ext>
            </a:extLst>
          </p:cNvPr>
          <p:cNvSpPr>
            <a:spLocks xmlns:a="http://schemas.openxmlformats.org/drawingml/2006/main" noGrp="1"/>
          </p:cNvSpPr>
          <p:nvPr/>
        </p:nvSpPr>
        <p:spPr>
          <a:xfrm xmlns:a="http://schemas.openxmlformats.org/drawingml/2006/main">
            <a:off x="393700" y="1041400"/>
            <a:ext cx="5526315" cy="5435072"/>
          </a:xfrm>
          <a:prstGeom xmlns:a="http://schemas.openxmlformats.org/drawingml/2006/main" prst="roundRect">
            <a:avLst>
              <a:gd name="adj" fmla="val 0"/>
            </a:avLst>
          </a:prstGeom>
          <a:noFill xmlns:a="http://schemas.openxmlformats.org/drawingml/2006/main"/>
          <a:ln xmlns:a="http://schemas.openxmlformats.org/drawingml/2006/main" w="12700">
            <a:solidFill>
              <a:schemeClr val="tx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Content Placeholder 1">
            <a:extLst xmlns:a="http://schemas.openxmlformats.org/drawingml/2006/main">
              <a:ext uri="{FF2B5EF4-FFF2-40B4-BE49-F238E27FC236}">
                <a16:creationId xmlns:a16="http://schemas.microsoft.com/office/drawing/2014/main" id="{BE261F0F-2359-53ED-9F86-805EC1A3492D}"/>
              </a:ext>
            </a:extLst>
          </p:cNvPr>
          <p:cNvSpPr>
            <a:spLocks xmlns:a="http://schemas.openxmlformats.org/drawingml/2006/main" noGrp="1"/>
          </p:cNvSpPr>
          <p:nvPr/>
        </p:nvSpPr>
        <p:spPr>
          <a:xfrm xmlns:a="http://schemas.openxmlformats.org/drawingml/2006/main">
            <a:off x="6432794" y="1709230"/>
            <a:ext cx="5331640" cy="1614066"/>
          </a:xfrm>
          <a:prstGeom xmlns:a="http://schemas.openxmlformats.org/drawingml/2006/main" prst="rect">
            <a:avLst/>
          </a:prstGeom>
        </p:spPr>
        <p:txBody>
          <a:bodyPr xmlns:a="http://schemas.openxmlformats.org/drawingml/2006/main"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400">
                <a:latin typeface="Helvetica Neue"/>
                <a:ea typeface="Helvetica Neue"/>
                <a:cs typeface="Helvetica Neue"/>
              </a:rPr>
              <a:t>Geography changes the dataset</a:t>
            </a:r>
          </a:p>
          <a:p xmlns:a="http://schemas.openxmlformats.org/drawingml/2006/main">
            <a:pPr marL="0" indent="0">
              <a:lnSpc>
                <a:spcPct val="114000"/>
              </a:lnSpc>
              <a:spcBef>
                <a:spcPts val="0"/>
              </a:spcBef>
              <a:spcAft>
                <a:spcPts val="800"/>
              </a:spcAft>
              <a:buFont typeface="Arial"/>
              <a:buNone/>
            </a:pPr>
            <a:r>
              <a:rPr sz="1800">
                <a:latin typeface="Helvetica Neue"/>
                <a:ea typeface="Helvetica Neue"/>
                <a:cs typeface="Helvetica Neue"/>
              </a:rPr>
              <a:t>Coordinate-only KD-tree splits adapt to listing density. The documented default balances coverage and spatial transfer.</a:t>
            </a:r>
          </a:p>
        </p:txBody>
      </p:sp>
      <p:graphicFrame>
        <p:nvGraphicFramePr>
          <p:cNvPr id="53" name="Chart"/>
          <p:cNvGraphicFramePr/>
          <p:nvPr/>
        </p:nvGraphicFramePr>
        <p:xfrm>
          <a:off xmlns:a="http://schemas.openxmlformats.org/drawingml/2006/main" x="628650" y="1685925"/>
          <a:ext xmlns:a="http://schemas.openxmlformats.org/drawingml/2006/main" cx="5010150" cy="4010025"/>
        </p:xfrm>
        <a:graphic xmlns:a="http://schemas.openxmlformats.org/drawingml/2006/main">
          <a:graphicData uri="http://schemas.openxmlformats.org/drawingml/2006/chart">
            <c:chart xmlns:r="http://schemas.openxmlformats.org/officeDocument/2006/relationships" xmlns:c="http://schemas.openxmlformats.org/drawingml/2006/chart" r:id="R382871de1f1547a5"/>
          </a:graphicData>
        </a:graphic>
      </p:graphicFrame>
    </p:spTree>
    <p:extLst>
      <p:ext uri="{BB962C8B-B14F-4D97-AF65-F5344CB8AC3E}">
        <p14:creationId xmlns:p14="http://schemas.microsoft.com/office/powerpoint/2010/main" val="112643305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370000"/>
            <a:ext cx="10400000" cy="241300"/>
          </a:xfrm>
        </p:spPr>
        <p:txBody>
          <a:bodyPr xmlns:a="http://schemas.openxmlformats.org/drawingml/2006/main"/>
          <a:lstStyle xmlns:a="http://schemas.openxmlformats.org/drawingml/2006/main"/>
          <a:p xmlns:a="http://schemas.openxmlformats.org/drawingml/2006/main">
            <a:r>
              <a:rPr sz="1000"/>
              <a:t>Current distances use haversine geometry. Network travel distance is future work</a:t>
            </a:r>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lstStyle xmlns:a="http://schemas.openxmlformats.org/drawingml/2006/main"/>
          <a:p xmlns:a="http://schemas.openxmlformats.org/drawingml/2006/main">
            <a:r>
              <a:rPr sz="1000"/>
              <a:t>7</a:t>
            </a:r>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rPr sz="3000"/>
              <a:t>Features connect price to place and time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pPr>
            <a:r>
              <a:rPr sz="2400" b="0" i="0" u="none" cap="none" spc="0">
                <a:ln>
                  <a:noFill/>
                </a:ln>
                <a:latin typeface="Helvetica Neue"/>
                <a:ea typeface="Helvetica Neue"/>
                <a:cs typeface="Helvetica Neue"/>
              </a:rPr>
              <a:t>Urban structure</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latin typeface="Helvetica Neue"/>
                <a:ea typeface="Helvetica Neue"/>
                <a:cs typeface="Helvetica Neue"/>
              </a:rPr>
              <a:t>Distances to the city centre and configured polycentric nodes.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pPr>
            <a:r>
              <a:rPr sz="2400" b="0" i="0" u="none" cap="none" spc="0">
                <a:ln>
                  <a:noFill/>
                </a:ln>
                <a:latin typeface="Helvetica Neue"/>
                <a:ea typeface="Helvetica Neue"/>
                <a:cs typeface="Helvetica Neue"/>
              </a:rPr>
              <a:t>Transit access</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latin typeface="Helvetica Neue"/>
                <a:ea typeface="Helvetica Neue"/>
                <a:cs typeface="Helvetica Neue"/>
              </a:rPr>
              <a:t>Distance to open metro stations and the number within 2 km.</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2400">
                <a:latin typeface="Helvetica Neue"/>
                <a:ea typeface="Helvetica Neue"/>
                <a:cs typeface="Helvetica Neue"/>
              </a:rPr>
              <a:t>Local market history</a:t>
            </a:r>
          </a:p>
          <a:p xmlns:a="http://schemas.openxmlformats.org/drawingml/2006/main">
            <a:pPr marL="0" indent="0">
              <a:lnSpc>
                <a:spcPct val="100000"/>
              </a:lnSpc>
              <a:spcBef>
                <a:spcPts val="1300"/>
              </a:spcBef>
              <a:spcAft>
                <a:spcPts val="1300"/>
              </a:spcAft>
              <a:buFontTx/>
              <a:buNone/>
            </a:pPr>
            <a:r>
              <a:rPr sz="1800">
                <a:latin typeface="Helvetica Neue"/>
                <a:ea typeface="Helvetica Neue"/>
                <a:cs typeface="Helvetica Neue"/>
              </a:rPr>
              <a:t>Own-price lags, momentum and previous-month neighbour prices.</a:t>
            </a:r>
            <a:endParaRPr sz="1800">
              <a:latin typeface="Helvetica Neue"/>
              <a:ea typeface="Helvetica Neue"/>
              <a:cs typeface="Helvetica Neue"/>
            </a:endParaRP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2400">
                <a:latin typeface="Helvetica Neue"/>
                <a:ea typeface="Helvetica Neue"/>
                <a:cs typeface="Helvetica Neue"/>
              </a:rPr>
              <a:t>Building mix</a:t>
            </a:r>
          </a:p>
          <a:p xmlns:a="http://schemas.openxmlformats.org/drawingml/2006/main">
            <a:pPr marL="0" indent="0">
              <a:lnSpc>
                <a:spcPct val="100000"/>
              </a:lnSpc>
              <a:spcBef>
                <a:spcPts val="1300"/>
              </a:spcBef>
              <a:spcAft>
                <a:spcPts val="1300"/>
              </a:spcAft>
              <a:buFontTx/>
              <a:buNone/>
            </a:pPr>
            <a:r>
              <a:rPr sz="1800">
                <a:latin typeface="Helvetica Neue"/>
                <a:ea typeface="Helvetica Neue"/>
                <a:cs typeface="Helvetica Neue"/>
              </a:rPr>
              <a:t>Previous-month supply composition and redevelopment-zone flags.</a:t>
            </a:r>
            <a:endParaRPr sz="1800">
              <a:latin typeface="Helvetica Neue"/>
              <a:ea typeface="Helvetica Neue"/>
              <a:cs typeface="Helvetica Neue"/>
            </a:endParaRPr>
          </a:p>
        </p:txBody>
      </p:sp>
    </p:spTree>
    <p:extLst>
      <p:ext uri="{BB962C8B-B14F-4D97-AF65-F5344CB8AC3E}">
        <p14:creationId xmlns:p14="http://schemas.microsoft.com/office/powerpoint/2010/main" val="3601454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a:xfrm xmlns:a="http://schemas.openxmlformats.org/drawingml/2006/main">
            <a:off x="393700" y="6370000"/>
            <a:ext cx="10400000" cy="241300"/>
          </a:xfrm>
        </p:spPr>
        <p:txBody>
          <a:bodyPr xmlns:a="http://schemas.openxmlformats.org/drawingml/2006/main"/>
          <a:lstStyle xmlns:a="http://schemas.openxmlformats.org/drawingml/2006/main"/>
          <a:p xmlns:a="http://schemas.openxmlformats.org/drawingml/2006/main">
            <a:r>
              <a:rPr sz="1000"/>
              <a:t>The reported MAE and R² benchmarks measure XGBoost, not long-horizon STGCN accuracy</a:t>
            </a:r>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r>
              <a:rPr sz="1000"/>
              <a:t>8</a:t>
            </a:r>
            <a:endParaRPr/>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sz="3000"/>
              <a:t>A model stack with distinct responsibilities</a:t>
            </a: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3365500"/>
            <a:ext cx="3568700" cy="26289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2400">
                <a:latin typeface="Helvetica Neue"/>
                <a:ea typeface="Helvetica Neue"/>
                <a:cs typeface="Helvetica Neue"/>
              </a:rPr>
              <a:t>XGBoost</a:t>
            </a:r>
            <a:endParaRPr sz="1800">
              <a:latin typeface="Helvetica Neue"/>
              <a:ea typeface="Helvetica Neue"/>
              <a:cs typeface="Helvetica Neue"/>
            </a:endParaRPr>
          </a:p>
          <a:p xmlns:a="http://schemas.openxmlformats.org/drawingml/2006/main">
            <a:pPr marL="0" indent="0">
              <a:lnSpc>
                <a:spcPct val="114000"/>
              </a:lnSpc>
              <a:spcBef>
                <a:spcPts val="0"/>
              </a:spcBef>
              <a:spcAft>
                <a:spcPts val="800"/>
              </a:spcAft>
              <a:buNone/>
            </a:pPr>
            <a:r>
              <a:rPr sz="1800">
                <a:latin typeface="Helvetica Neue"/>
                <a:ea typeface="Helvetica Neue"/>
                <a:cs typeface="Helvetica Neue"/>
              </a:rPr>
              <a:t>Estimate cell-month asking prices. TreeSHAP explains the fitted model’s price drivers.</a:t>
            </a:r>
            <a:endParaRPr sz="1800">
              <a:latin typeface="Helvetica Neue"/>
              <a:ea typeface="Helvetica Neue"/>
              <a:cs typeface="Helvetica Neue"/>
            </a:endParaRP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3365500"/>
            <a:ext cx="3568700" cy="2628900"/>
          </a:xfrm>
        </p:spPr>
        <p:txBody>
          <a:bodyPr xmlns:a="http://schemas.openxmlformats.org/drawingml/2006/main">
            <a:norm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2400" b="0" i="0" u="none" cap="none" spc="0">
                <a:ln>
                  <a:noFill/>
                </a:ln>
                <a:latin typeface="Helvetica Neue"/>
                <a:ea typeface="Helvetica Neue"/>
                <a:cs typeface="Helvetica Neue"/>
              </a:rPr>
              <a:t>Graph forecasting</a:t>
            </a:r>
          </a:p>
          <a:p xmlns:a="http://schemas.openxmlformats.org/drawingml/2006/main">
            <a:pPr marL="0" marR="0" lvl="0" indent="0" algn="l" defTabSz="914400">
              <a:lnSpc>
                <a:spcPct val="114000"/>
              </a:lnSpc>
              <a:spcBef>
                <a:spcPts val="0"/>
              </a:spcBef>
              <a:spcAft>
                <a:spcPts val="800"/>
              </a:spcAft>
              <a:buClrTx/>
              <a:buSzTx/>
              <a:buFont typeface="Arial"/>
              <a:buNone/>
            </a:pPr>
            <a:r>
              <a:rPr sz="1800" b="0" i="0" u="none" cap="none" spc="0">
                <a:ln>
                  <a:noFill/>
                </a:ln>
                <a:latin typeface="Helvetica Neue"/>
                <a:ea typeface="Helvetica Neue"/>
                <a:cs typeface="Helvetica Neue"/>
              </a:rPr>
              <a:t>STGCN uses adjacency and history for 12/24-month rollouts. Ridge provides a fallback.</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3365500"/>
            <a:ext cx="3568700" cy="2628900"/>
          </a:xfrm>
        </p:spPr>
        <p:txBody>
          <a:bodyPr xmlns:a="http://schemas.openxmlformats.org/drawingml/2006/main">
            <a:norm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2400" b="0" i="0" u="none" cap="none" spc="0">
                <a:ln>
                  <a:noFill/>
                </a:ln>
                <a:latin typeface="Helvetica Neue"/>
                <a:ea typeface="Helvetica Neue"/>
                <a:cs typeface="Helvetica Neue"/>
              </a:rPr>
              <a:t>Conformal quantiles</a:t>
            </a:r>
          </a:p>
          <a:p xmlns:a="http://schemas.openxmlformats.org/drawingml/2006/main">
            <a:pPr marL="0" marR="0" lvl="0" indent="0" algn="l" defTabSz="914400">
              <a:lnSpc>
                <a:spcPct val="114000"/>
              </a:lnSpc>
              <a:spcBef>
                <a:spcPts val="0"/>
              </a:spcBef>
              <a:spcAft>
                <a:spcPts val="800"/>
              </a:spcAft>
              <a:buClrTx/>
              <a:buSzTx/>
              <a:buFont typeface="Arial"/>
              <a:buNone/>
            </a:pPr>
            <a:r>
              <a:rPr sz="1800" b="0" i="0" u="none" cap="none" spc="0">
                <a:ln>
                  <a:noFill/>
                </a:ln>
                <a:latin typeface="Helvetica Neue"/>
                <a:ea typeface="Helvetica Neue"/>
                <a:cs typeface="Helvetica Neue"/>
              </a:rPr>
              <a:t>Fit q10, q50 and q90, then calibrate the interval on later months.</a:t>
            </a:r>
          </a:p>
        </p:txBody>
      </p:sp>
    </p:spTree>
    <p:extLst>
      <p:ext uri="{BB962C8B-B14F-4D97-AF65-F5344CB8AC3E}">
        <p14:creationId xmlns:p14="http://schemas.microsoft.com/office/powerpoint/2010/main" val="139345699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370000"/>
            <a:ext cx="10400000" cy="241300"/>
          </a:xfrm>
        </p:spPr>
        <p:txBody>
          <a:bodyPr xmlns:a="http://schemas.openxmlformats.org/drawingml/2006/main"/>
          <a:lstStyle xmlns:a="http://schemas.openxmlformats.org/drawingml/2006/main"/>
          <a:p xmlns:a="http://schemas.openxmlformats.org/drawingml/2006/main">
            <a:r>
              <a:rPr sz="1000"/>
              <a:t>These safeguards describe the synthetic research pipeline</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r>
              <a:rPr sz="1000"/>
              <a:t>9</a:t>
            </a:r>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sz="3000"/>
              <a:t>Validation separates time from geography</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400">
                <a:latin typeface="Helvetica Neue"/>
                <a:ea typeface="Helvetica Neue"/>
                <a:cs typeface="Helvetica Neue"/>
              </a:rPr>
              <a:t>Temporal walk-forward</a:t>
            </a:r>
          </a:p>
          <a:p xmlns:a="http://schemas.openxmlformats.org/drawingml/2006/main">
            <a:pPr marL="0" indent="0">
              <a:lnSpc>
                <a:spcPct val="114000"/>
              </a:lnSpc>
              <a:spcBef>
                <a:spcPts val="0"/>
              </a:spcBef>
              <a:spcAft>
                <a:spcPts val="800"/>
              </a:spcAft>
              <a:buFont typeface="Arial"/>
              <a:buNone/>
            </a:pPr>
            <a:r>
              <a:rPr sz="2000">
                <a:latin typeface="Helvetica Neue"/>
                <a:ea typeface="Helvetica Neue"/>
                <a:cs typeface="Helvetica Neue"/>
              </a:rPr>
              <a:t>Train on past months and evaluate later months.
Compare each split with persistence: next month equals the last observed month.</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400">
                <a:latin typeface="Helvetica Neue"/>
                <a:ea typeface="Helvetica Neue"/>
                <a:cs typeface="Helvetica Neue"/>
              </a:rPr>
              <a:t>Spatial blocked folds</a:t>
            </a:r>
          </a:p>
          <a:p xmlns:a="http://schemas.openxmlformats.org/drawingml/2006/main">
            <a:pPr marL="0" indent="0">
              <a:lnSpc>
                <a:spcPct val="114000"/>
              </a:lnSpc>
              <a:spcBef>
                <a:spcPts val="0"/>
              </a:spcBef>
              <a:spcAft>
                <a:spcPts val="800"/>
              </a:spcAft>
              <a:buNone/>
            </a:pPr>
            <a:r>
              <a:rPr sz="2000">
                <a:latin typeface="Helvetica Neue"/>
                <a:ea typeface="Helvetica Neue"/>
                <a:cs typeface="Helvetica Neue"/>
              </a:rPr>
              <a:t>Hold out contiguous regions across months. Exclude neighbour-price features in this evaluation.
A canary test perturbs future prices and checks earlier features.</a:t>
            </a:r>
          </a:p>
        </p:txBody>
      </p:sp>
    </p:spTree>
    <p:extLst>
      <p:ext uri="{BB962C8B-B14F-4D97-AF65-F5344CB8AC3E}">
        <p14:creationId xmlns:p14="http://schemas.microsoft.com/office/powerpoint/2010/main" val="366718214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0" name="Footer Placeholder 9">
            <a:extLst xmlns:a="http://schemas.openxmlformats.org/drawingml/2006/main">
              <a:ext uri="{FF2B5EF4-FFF2-40B4-BE49-F238E27FC236}">
                <a16:creationId xmlns:a16="http://schemas.microsoft.com/office/drawing/2014/main" id="{86E641B5-9209-3FE0-FF9F-6D9DEC997FE3}"/>
              </a:ext>
            </a:extLst>
          </p:cNvPr>
          <p:cNvSpPr>
            <a:spLocks xmlns:a="http://schemas.openxmlformats.org/drawingml/2006/main" noGrp="1"/>
          </p:cNvSpPr>
          <p:nvPr>
            <p:ph type="ftr" idx="3"/>
          </p:nvPr>
        </p:nvSpPr>
        <p:spPr>
          <a:xfrm xmlns:a="http://schemas.openxmlformats.org/drawingml/2006/main">
            <a:off x="393700" y="6370000"/>
            <a:ext cx="10400000" cy="241300"/>
          </a:xfrm>
        </p:spPr>
        <p:txBody>
          <a:bodyPr xmlns:a="http://schemas.openxmlformats.org/drawingml/2006/main"/>
          <a:lstStyle xmlns:a="http://schemas.openxmlformats.org/drawingml/2006/main"/>
          <a:p xmlns:a="http://schemas.openxmlformats.org/drawingml/2006/main">
            <a:r>
              <a:rPr sz="1000"/>
              <a:t>README full-run benchmarks. Rounded improvement: (naive MAE − model MAE) / naive MAE</a:t>
            </a:r>
            <a:endParaRPr/>
          </a:p>
        </p:txBody>
      </p:sp>
      <p:sp>
        <p:nvSpPr>
          <p:cNvPr id="4" name="Slide Number Placeholder 3">
            <a:extLst xmlns:a="http://schemas.openxmlformats.org/drawingml/2006/main">
              <a:ext uri="{FF2B5EF4-FFF2-40B4-BE49-F238E27FC236}">
                <a16:creationId xmlns:a16="http://schemas.microsoft.com/office/drawing/2014/main" id="{0E4B3D1A-6BB0-A1C9-2A5D-E2CB5C0C28D8}"/>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r>
              <a:rPr sz="1000"/>
              <a:t>10</a:t>
            </a:r>
            <a:endParaRPr/>
          </a:p>
        </p:txBody>
      </p:sp>
      <p:sp>
        <p:nvSpPr>
          <p:cNvPr id="11" name="Title 10">
            <a:extLst xmlns:a="http://schemas.openxmlformats.org/drawingml/2006/main">
              <a:ext uri="{FF2B5EF4-FFF2-40B4-BE49-F238E27FC236}">
                <a16:creationId xmlns:a16="http://schemas.microsoft.com/office/drawing/2014/main" id="{76E542D1-756D-7A52-4319-E7068676CA8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rPr sz="3000"/>
              <a:t>XGBoost beats persistence on the synthetic panel</a:t>
            </a:r>
          </a:p>
        </p:txBody>
      </p:sp>
      <p:sp>
        <p:nvSpPr>
          <p:cNvPr id="38" name="Content Placeholder 9">
            <a:extLst xmlns:a="http://schemas.openxmlformats.org/drawingml/2006/main">
              <a:ext uri="{FF2B5EF4-FFF2-40B4-BE49-F238E27FC236}">
                <a16:creationId xmlns:a16="http://schemas.microsoft.com/office/drawing/2014/main" id="{23EBE22F-0E57-50F2-2730-87B6AA220C40}"/>
              </a:ext>
            </a:extLst>
          </p:cNvPr>
          <p:cNvSpPr>
            <a:spLocks xmlns:a="http://schemas.openxmlformats.org/drawingml/2006/main" noGrp="1"/>
          </p:cNvSpPr>
          <p:nvPr/>
        </p:nvSpPr>
        <p:spPr>
          <a:xfrm xmlns:a="http://schemas.openxmlformats.org/drawingml/2006/main">
            <a:off x="6366176" y="4072340"/>
            <a:ext cx="2133315" cy="903750"/>
          </a:xfrm>
          <a:prstGeom xmlns:a="http://schemas.openxmlformats.org/drawingml/2006/main" prst="rect">
            <a:avLst/>
          </a:prstGeom>
        </p:spPr>
        <p:txBody>
          <a:bodyPr xmlns:a="http://schemas.openxmlformats.org/drawingml/2006/main" vert="horz" lIns="0" tIns="0" rIns="0" bIns="0" anchor="b">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4600" u="none" cap="none" spc="0">
                <a:ln>
                  <a:noFill/>
                </a:ln>
                <a:latin typeface="Helvetica Neue"/>
                <a:ea typeface="Helvetica Neue"/>
                <a:cs typeface="Helvetica Neue"/>
              </a:rPr>
              <a:t>19%</a:t>
            </a:r>
            <a:endParaRPr sz="5000">
              <a:latin typeface="Helvetica Neue"/>
              <a:ea typeface="Helvetica Neue"/>
              <a:cs typeface="Helvetica Neue"/>
            </a:endParaRPr>
          </a:p>
        </p:txBody>
      </p:sp>
      <p:sp>
        <p:nvSpPr>
          <p:cNvPr id="39" name="Content Placeholder 15">
            <a:extLst xmlns:a="http://schemas.openxmlformats.org/drawingml/2006/main">
              <a:ext uri="{FF2B5EF4-FFF2-40B4-BE49-F238E27FC236}">
                <a16:creationId xmlns:a16="http://schemas.microsoft.com/office/drawing/2014/main" id="{321A36F2-8209-5AA9-0D95-01C3D5856CA8}"/>
              </a:ext>
            </a:extLst>
          </p:cNvPr>
          <p:cNvSpPr>
            <a:spLocks xmlns:a="http://schemas.openxmlformats.org/drawingml/2006/main" noGrp="1"/>
          </p:cNvSpPr>
          <p:nvPr/>
        </p:nvSpPr>
        <p:spPr>
          <a:xfrm xmlns:a="http://schemas.openxmlformats.org/drawingml/2006/main">
            <a:off x="6432794" y="5068235"/>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Lower temporal MAE</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213 versus 264</a:t>
            </a:r>
            <a:endParaRPr sz="1400">
              <a:latin typeface="Helvetica Neue"/>
              <a:ea typeface="Helvetica Neue"/>
              <a:cs typeface="Helvetica Neue"/>
            </a:endParaRPr>
          </a:p>
        </p:txBody>
      </p:sp>
      <p:sp>
        <p:nvSpPr>
          <p:cNvPr id="41" name="Content Placeholder 9">
            <a:extLst xmlns:a="http://schemas.openxmlformats.org/drawingml/2006/main">
              <a:ext uri="{FF2B5EF4-FFF2-40B4-BE49-F238E27FC236}">
                <a16:creationId xmlns:a16="http://schemas.microsoft.com/office/drawing/2014/main" id="{D26AD9AD-13F4-E1DA-D400-C93C8877BBBD}"/>
              </a:ext>
            </a:extLst>
          </p:cNvPr>
          <p:cNvSpPr>
            <a:spLocks xmlns:a="http://schemas.openxmlformats.org/drawingml/2006/main" noGrp="1"/>
          </p:cNvSpPr>
          <p:nvPr/>
        </p:nvSpPr>
        <p:spPr>
          <a:xfrm xmlns:a="http://schemas.openxmlformats.org/drawingml/2006/main">
            <a:off x="9318381" y="4072340"/>
            <a:ext cx="2133315" cy="903750"/>
          </a:xfrm>
          <a:prstGeom xmlns:a="http://schemas.openxmlformats.org/drawingml/2006/main" prst="rect">
            <a:avLst/>
          </a:prstGeom>
        </p:spPr>
        <p:txBody>
          <a:bodyPr xmlns:a="http://schemas.openxmlformats.org/drawingml/2006/main" vert="horz" lIns="0" tIns="0" rIns="0" bIns="0" anchor="b">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4600" u="none" cap="none" spc="0">
                <a:ln>
                  <a:noFill/>
                </a:ln>
                <a:latin typeface="Helvetica Neue"/>
                <a:ea typeface="Helvetica Neue"/>
                <a:cs typeface="Helvetica Neue"/>
              </a:rPr>
              <a:t>17%</a:t>
            </a:r>
            <a:endParaRPr sz="5000">
              <a:latin typeface="Helvetica Neue"/>
              <a:ea typeface="Helvetica Neue"/>
              <a:cs typeface="Helvetica Neue"/>
            </a:endParaRPr>
          </a:p>
        </p:txBody>
      </p:sp>
      <p:sp>
        <p:nvSpPr>
          <p:cNvPr id="42" name="Content Placeholder 15">
            <a:extLst xmlns:a="http://schemas.openxmlformats.org/drawingml/2006/main">
              <a:ext uri="{FF2B5EF4-FFF2-40B4-BE49-F238E27FC236}">
                <a16:creationId xmlns:a16="http://schemas.microsoft.com/office/drawing/2014/main" id="{D80012E4-4A17-58AB-7C13-D2FE52FDDB3B}"/>
              </a:ext>
            </a:extLst>
          </p:cNvPr>
          <p:cNvSpPr>
            <a:spLocks xmlns:a="http://schemas.openxmlformats.org/drawingml/2006/main" noGrp="1"/>
          </p:cNvSpPr>
          <p:nvPr/>
        </p:nvSpPr>
        <p:spPr>
          <a:xfrm xmlns:a="http://schemas.openxmlformats.org/drawingml/2006/main">
            <a:off x="9384999" y="5068235"/>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Lower spatial MAE</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209 versus 253</a:t>
            </a:r>
            <a:endParaRPr sz="1400">
              <a:latin typeface="Helvetica Neue"/>
              <a:ea typeface="Helvetica Neue"/>
              <a:cs typeface="Helvetica Neue"/>
            </a:endParaRPr>
          </a:p>
        </p:txBody>
      </p:sp>
      <p:sp>
        <p:nvSpPr>
          <p:cNvPr id="2" name="Rounded Rectangle 1">
            <a:extLst xmlns:a="http://schemas.openxmlformats.org/drawingml/2006/main">
              <a:ext uri="{FF2B5EF4-FFF2-40B4-BE49-F238E27FC236}">
                <a16:creationId xmlns:a16="http://schemas.microsoft.com/office/drawing/2014/main" id="{B9E294EF-928B-660C-B2B3-E78F4ECC5452}"/>
              </a:ext>
            </a:extLst>
          </p:cNvPr>
          <p:cNvSpPr>
            <a:spLocks xmlns:a="http://schemas.openxmlformats.org/drawingml/2006/main" noGrp="1"/>
          </p:cNvSpPr>
          <p:nvPr/>
        </p:nvSpPr>
        <p:spPr>
          <a:xfrm xmlns:a="http://schemas.openxmlformats.org/drawingml/2006/main">
            <a:off x="393700" y="1041400"/>
            <a:ext cx="5526315" cy="5435072"/>
          </a:xfrm>
          <a:prstGeom xmlns:a="http://schemas.openxmlformats.org/drawingml/2006/main" prst="roundRect">
            <a:avLst>
              <a:gd name="adj" fmla="val 0"/>
            </a:avLst>
          </a:prstGeom>
          <a:noFill xmlns:a="http://schemas.openxmlformats.org/drawingml/2006/main"/>
          <a:ln xmlns:a="http://schemas.openxmlformats.org/drawingml/2006/main" w="12700">
            <a:solidFill>
              <a:schemeClr val="tx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Content Placeholder 1">
            <a:extLst xmlns:a="http://schemas.openxmlformats.org/drawingml/2006/main">
              <a:ext uri="{FF2B5EF4-FFF2-40B4-BE49-F238E27FC236}">
                <a16:creationId xmlns:a16="http://schemas.microsoft.com/office/drawing/2014/main" id="{BE261F0F-2359-53ED-9F86-805EC1A3492D}"/>
              </a:ext>
            </a:extLst>
          </p:cNvPr>
          <p:cNvSpPr>
            <a:spLocks xmlns:a="http://schemas.openxmlformats.org/drawingml/2006/main" noGrp="1"/>
          </p:cNvSpPr>
          <p:nvPr/>
        </p:nvSpPr>
        <p:spPr>
          <a:xfrm xmlns:a="http://schemas.openxmlformats.org/drawingml/2006/main">
            <a:off x="6432794" y="1709230"/>
            <a:ext cx="5331640" cy="1614066"/>
          </a:xfrm>
          <a:prstGeom xmlns:a="http://schemas.openxmlformats.org/drawingml/2006/main" prst="rect">
            <a:avLst/>
          </a:prstGeom>
        </p:spPr>
        <p:txBody>
          <a:bodyPr xmlns:a="http://schemas.openxmlformats.org/drawingml/2006/main"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400">
                <a:latin typeface="Helvetica Neue"/>
                <a:ea typeface="Helvetica Neue"/>
                <a:cs typeface="Helvetica Neue"/>
              </a:rPr>
              <a:t>Mean absolute error</a:t>
            </a:r>
          </a:p>
          <a:p xmlns:a="http://schemas.openxmlformats.org/drawingml/2006/main">
            <a:pPr marL="0" indent="0">
              <a:lnSpc>
                <a:spcPct val="114000"/>
              </a:lnSpc>
              <a:spcBef>
                <a:spcPts val="0"/>
              </a:spcBef>
              <a:spcAft>
                <a:spcPts val="800"/>
              </a:spcAft>
              <a:buFont typeface="Arial"/>
              <a:buNone/>
            </a:pPr>
            <a:r>
              <a:rPr sz="1800">
                <a:latin typeface="Helvetica Neue"/>
                <a:ea typeface="Helvetica Neue"/>
                <a:cs typeface="Helvetica Neue"/>
              </a:rPr>
              <a:t>Lower is better, in AZN/m².
25 temporal splits and 5 spatial folds in the documented full run.</a:t>
            </a:r>
          </a:p>
        </p:txBody>
      </p:sp>
      <p:graphicFrame>
        <p:nvGraphicFramePr>
          <p:cNvPr id="53" name="Chart"/>
          <p:cNvGraphicFramePr/>
          <p:nvPr/>
        </p:nvGraphicFramePr>
        <p:xfrm>
          <a:off xmlns:a="http://schemas.openxmlformats.org/drawingml/2006/main" x="628650" y="1685925"/>
          <a:ext xmlns:a="http://schemas.openxmlformats.org/drawingml/2006/main" cx="5010150" cy="4010025"/>
        </p:xfrm>
        <a:graphic xmlns:a="http://schemas.openxmlformats.org/drawingml/2006/main">
          <a:graphicData uri="http://schemas.openxmlformats.org/drawingml/2006/chart">
            <c:chart xmlns:r="http://schemas.openxmlformats.org/officeDocument/2006/relationships" xmlns:c="http://schemas.openxmlformats.org/drawingml/2006/chart" r:id="Rcdd859e4d44e48a4"/>
          </a:graphicData>
        </a:graphic>
      </p:graphicFrame>
    </p:spTree>
    <p:extLst>
      <p:ext uri="{BB962C8B-B14F-4D97-AF65-F5344CB8AC3E}">
        <p14:creationId xmlns:p14="http://schemas.microsoft.com/office/powerpoint/2010/main" val="112643305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Rounded Rectangle 5">
            <a:extLst xmlns:a="http://schemas.openxmlformats.org/drawingml/2006/main">
              <a:ext uri="{FF2B5EF4-FFF2-40B4-BE49-F238E27FC236}">
                <a16:creationId xmlns:a16="http://schemas.microsoft.com/office/drawing/2014/main" id="{3595FF69-AA88-8653-2D13-3E0289A12A44}"/>
              </a:ext>
            </a:extLst>
          </p:cNvPr>
          <p:cNvSpPr>
            <a:spLocks xmlns:a="http://schemas.openxmlformats.org/drawingml/2006/main" noGrp="1"/>
          </p:cNvSpPr>
          <p:nvPr/>
        </p:nvSpPr>
        <p:spPr>
          <a:xfrm xmlns:a="http://schemas.openxmlformats.org/drawingml/2006/main">
            <a:off x="393700" y="3022600"/>
            <a:ext cx="3568700" cy="29718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ounded Rectangle 6">
            <a:extLst xmlns:a="http://schemas.openxmlformats.org/drawingml/2006/main">
              <a:ext uri="{FF2B5EF4-FFF2-40B4-BE49-F238E27FC236}">
                <a16:creationId xmlns:a16="http://schemas.microsoft.com/office/drawing/2014/main" id="{E3AFD29D-9AD2-841D-0915-B4BDDC09C0B7}"/>
              </a:ext>
            </a:extLst>
          </p:cNvPr>
          <p:cNvSpPr>
            <a:spLocks xmlns:a="http://schemas.openxmlformats.org/drawingml/2006/main" noGrp="1"/>
          </p:cNvSpPr>
          <p:nvPr/>
        </p:nvSpPr>
        <p:spPr>
          <a:xfrm xmlns:a="http://schemas.openxmlformats.org/drawingml/2006/main">
            <a:off x="4311650" y="3022600"/>
            <a:ext cx="3568700" cy="29718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ounded Rectangle 7">
            <a:extLst xmlns:a="http://schemas.openxmlformats.org/drawingml/2006/main">
              <a:ext uri="{FF2B5EF4-FFF2-40B4-BE49-F238E27FC236}">
                <a16:creationId xmlns:a16="http://schemas.microsoft.com/office/drawing/2014/main" id="{7A10D6BE-4B8A-E31D-9AC6-AEB4FCD518B2}"/>
              </a:ext>
            </a:extLst>
          </p:cNvPr>
          <p:cNvSpPr>
            <a:spLocks xmlns:a="http://schemas.openxmlformats.org/drawingml/2006/main" noGrp="1"/>
          </p:cNvSpPr>
          <p:nvPr/>
        </p:nvSpPr>
        <p:spPr>
          <a:xfrm xmlns:a="http://schemas.openxmlformats.org/drawingml/2006/main">
            <a:off x="8232297" y="3022600"/>
            <a:ext cx="3568700" cy="29718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Slide Number Placeholder 1">
            <a:extLst xmlns:a="http://schemas.openxmlformats.org/drawingml/2006/main">
              <a:ext uri="{FF2B5EF4-FFF2-40B4-BE49-F238E27FC236}">
                <a16:creationId xmlns:a16="http://schemas.microsoft.com/office/drawing/2014/main" id="{908090F4-C2CE-1329-8725-AC98A6AF8F60}"/>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r>
              <a:rPr sz="1000"/>
              <a:t>11</a:t>
            </a:r>
            <a:endParaRPr/>
          </a:p>
        </p:txBody>
      </p:sp>
      <p:sp>
        <p:nvSpPr>
          <p:cNvPr id="3" name="Title 2">
            <a:extLst xmlns:a="http://schemas.openxmlformats.org/drawingml/2006/main">
              <a:ext uri="{FF2B5EF4-FFF2-40B4-BE49-F238E27FC236}">
                <a16:creationId xmlns:a16="http://schemas.microsoft.com/office/drawing/2014/main" id="{B64EBD68-6C7C-E1E5-F754-A2CABD28D4B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3000"/>
              <a:t>A simulated metro opening tests causal recovery</a:t>
            </a:r>
            <a:endParaRPr/>
          </a:p>
        </p:txBody>
      </p:sp>
      <p:sp>
        <p:nvSpPr>
          <p:cNvPr id="10" name="Content Placeholder 9">
            <a:extLst xmlns:a="http://schemas.openxmlformats.org/drawingml/2006/main">
              <a:ext uri="{FF2B5EF4-FFF2-40B4-BE49-F238E27FC236}">
                <a16:creationId xmlns:a16="http://schemas.microsoft.com/office/drawing/2014/main" id="{E8352425-466B-B7C0-4556-B12F3F4F6DB3}"/>
              </a:ext>
            </a:extLst>
          </p:cNvPr>
          <p:cNvSpPr>
            <a:spLocks xmlns:a="http://schemas.openxmlformats.org/drawingml/2006/main" noGrp="1"/>
          </p:cNvSpPr>
          <p:nvPr>
            <p:ph idx="4294967295"/>
          </p:nvPr>
        </p:nvSpPr>
        <p:spPr>
          <a:xfrm xmlns:a="http://schemas.openxmlformats.org/drawingml/2006/main">
            <a:off x="702413" y="4900613"/>
            <a:ext cx="2949575" cy="819150"/>
          </a:xfrm>
        </p:spPr>
        <p:txBody>
          <a:bodyPr xmlns:a="http://schemas.openxmlformats.org/drawingml/2006/main">
            <a:normAutofit/>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latin typeface="Helvetica Neue"/>
                <a:ea typeface="Helvetica Neue"/>
                <a:cs typeface="Helvetica Neue"/>
              </a:rPr>
              <a:t>Estimated average</a:t>
            </a:r>
          </a:p>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latin typeface="Helvetica Neue"/>
                <a:ea typeface="Helvetica Neue"/>
                <a:cs typeface="Helvetica Neue"/>
              </a:rPr>
              <a:t>effect, log units</a:t>
            </a:r>
          </a:p>
        </p:txBody>
      </p:sp>
      <p:sp>
        <p:nvSpPr>
          <p:cNvPr id="11" name="Content Placeholder 10">
            <a:extLst xmlns:a="http://schemas.openxmlformats.org/drawingml/2006/main">
              <a:ext uri="{FF2B5EF4-FFF2-40B4-BE49-F238E27FC236}">
                <a16:creationId xmlns:a16="http://schemas.microsoft.com/office/drawing/2014/main" id="{9D1B4876-C319-B371-36B9-745CADB662E1}"/>
              </a:ext>
            </a:extLst>
          </p:cNvPr>
          <p:cNvSpPr>
            <a:spLocks xmlns:a="http://schemas.openxmlformats.org/drawingml/2006/main" noGrp="1"/>
          </p:cNvSpPr>
          <p:nvPr>
            <p:ph idx="4294967295"/>
          </p:nvPr>
        </p:nvSpPr>
        <p:spPr>
          <a:xfrm xmlns:a="http://schemas.openxmlformats.org/drawingml/2006/main">
            <a:off x="8541859" y="4900613"/>
            <a:ext cx="2949575" cy="819150"/>
          </a:xfrm>
        </p:spPr>
        <p:txBody>
          <a:bodyPr xmlns:a="http://schemas.openxmlformats.org/drawingml/2006/main">
            <a:normAutofit/>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latin typeface="Helvetica Neue"/>
                <a:ea typeface="Helvetica Neue"/>
                <a:cs typeface="Helvetica Neue"/>
              </a:rPr>
              <a:t>Post-ramp estimate</a:t>
            </a:r>
          </a:p>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latin typeface="Helvetica Neue"/>
                <a:ea typeface="Helvetica Neue"/>
                <a:cs typeface="Helvetica Neue"/>
              </a:rPr>
              <a:t>versus 0.080 planted</a:t>
            </a:r>
          </a:p>
        </p:txBody>
      </p:sp>
      <p:sp>
        <p:nvSpPr>
          <p:cNvPr id="12" name="Content Placeholder 11">
            <a:extLst xmlns:a="http://schemas.openxmlformats.org/drawingml/2006/main">
              <a:ext uri="{FF2B5EF4-FFF2-40B4-BE49-F238E27FC236}">
                <a16:creationId xmlns:a16="http://schemas.microsoft.com/office/drawing/2014/main" id="{1BDFAF15-9B61-BA2E-0381-0DE8F578A81F}"/>
              </a:ext>
            </a:extLst>
          </p:cNvPr>
          <p:cNvSpPr>
            <a:spLocks xmlns:a="http://schemas.openxmlformats.org/drawingml/2006/main" noGrp="1"/>
          </p:cNvSpPr>
          <p:nvPr>
            <p:ph idx="4294967295"/>
          </p:nvPr>
        </p:nvSpPr>
        <p:spPr>
          <a:xfrm xmlns:a="http://schemas.openxmlformats.org/drawingml/2006/main">
            <a:off x="4621211" y="4900613"/>
            <a:ext cx="2949575" cy="819150"/>
          </a:xfrm>
        </p:spPr>
        <p:txBody>
          <a:bodyPr xmlns:a="http://schemas.openxmlformats.org/drawingml/2006/main">
            <a:normAutofit/>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latin typeface="Helvetica Neue"/>
                <a:ea typeface="Helvetica Neue"/>
                <a:cs typeface="Helvetica Neue"/>
              </a:rPr>
              <a:t>Approximate planted</a:t>
            </a:r>
          </a:p>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latin typeface="Helvetica Neue"/>
                <a:ea typeface="Helvetica Neue"/>
                <a:cs typeface="Helvetica Neue"/>
              </a:rPr>
              <a:t>ramp-average effect</a:t>
            </a:r>
          </a:p>
        </p:txBody>
      </p:sp>
      <p:sp>
        <p:nvSpPr>
          <p:cNvPr id="13" name="Content Placeholder 9">
            <a:extLst xmlns:a="http://schemas.openxmlformats.org/drawingml/2006/main">
              <a:ext uri="{FF2B5EF4-FFF2-40B4-BE49-F238E27FC236}">
                <a16:creationId xmlns:a16="http://schemas.microsoft.com/office/drawing/2014/main" id="{EDBA9068-3E52-4988-B608-4CED930E45CC}"/>
              </a:ext>
            </a:extLst>
          </p:cNvPr>
          <p:cNvSpPr>
            <a:spLocks xmlns:a="http://schemas.openxmlformats.org/drawingml/2006/main" noGrp="1"/>
          </p:cNvSpPr>
          <p:nvPr/>
        </p:nvSpPr>
        <p:spPr>
          <a:xfrm xmlns:a="http://schemas.openxmlformats.org/drawingml/2006/main">
            <a:off x="702413" y="3429000"/>
            <a:ext cx="2940124" cy="1359356"/>
          </a:xfrm>
          <a:prstGeom xmlns:a="http://schemas.openxmlformats.org/drawingml/2006/main" prst="rect">
            <a:avLst/>
          </a:prstGeom>
        </p:spPr>
        <p:txBody>
          <a:bodyPr xmlns:a="http://schemas.openxmlformats.org/drawingml/2006/main" vert="horz" lIns="0" tIns="0" rIns="0" bIns="0" anchor="b">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4800" b="0" i="0" u="none" cap="none" spc="0">
                <a:ln>
                  <a:noFill/>
                </a:ln>
                <a:latin typeface="Helvetica Neue"/>
                <a:ea typeface="Helvetica Neue"/>
                <a:cs typeface="Helvetica Neue"/>
              </a:rPr>
              <a:t>0.069</a:t>
            </a:r>
            <a:endParaRPr sz="7500"/>
          </a:p>
        </p:txBody>
      </p:sp>
      <p:sp>
        <p:nvSpPr>
          <p:cNvPr id="4" name="Content Placeholder 9">
            <a:extLst xmlns:a="http://schemas.openxmlformats.org/drawingml/2006/main">
              <a:ext uri="{FF2B5EF4-FFF2-40B4-BE49-F238E27FC236}">
                <a16:creationId xmlns:a16="http://schemas.microsoft.com/office/drawing/2014/main" id="{553D01BD-BEDA-E1D7-8112-CCD78E0BB0D4}"/>
              </a:ext>
            </a:extLst>
          </p:cNvPr>
          <p:cNvSpPr>
            <a:spLocks xmlns:a="http://schemas.openxmlformats.org/drawingml/2006/main" noGrp="1"/>
          </p:cNvSpPr>
          <p:nvPr/>
        </p:nvSpPr>
        <p:spPr>
          <a:xfrm xmlns:a="http://schemas.openxmlformats.org/drawingml/2006/main">
            <a:off x="4612932" y="3429000"/>
            <a:ext cx="2940124" cy="1359356"/>
          </a:xfrm>
          <a:prstGeom xmlns:a="http://schemas.openxmlformats.org/drawingml/2006/main" prst="rect">
            <a:avLst/>
          </a:prstGeom>
        </p:spPr>
        <p:txBody>
          <a:bodyPr xmlns:a="http://schemas.openxmlformats.org/drawingml/2006/main" vert="horz" lIns="0" tIns="0" rIns="0" bIns="0" anchor="b">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4800" b="0" i="0" u="none" cap="none" spc="0">
                <a:ln>
                  <a:noFill/>
                </a:ln>
                <a:latin typeface="Helvetica Neue"/>
                <a:ea typeface="Helvetica Neue"/>
                <a:cs typeface="Helvetica Neue"/>
              </a:rPr>
              <a:t>0.075</a:t>
            </a:r>
            <a:endParaRPr sz="7500"/>
          </a:p>
        </p:txBody>
      </p:sp>
      <p:sp>
        <p:nvSpPr>
          <p:cNvPr id="5" name="Content Placeholder 9">
            <a:extLst xmlns:a="http://schemas.openxmlformats.org/drawingml/2006/main">
              <a:ext uri="{FF2B5EF4-FFF2-40B4-BE49-F238E27FC236}">
                <a16:creationId xmlns:a16="http://schemas.microsoft.com/office/drawing/2014/main" id="{5AE7C386-15B3-0C22-BD29-DB00B9F7FAA9}"/>
              </a:ext>
            </a:extLst>
          </p:cNvPr>
          <p:cNvSpPr>
            <a:spLocks xmlns:a="http://schemas.openxmlformats.org/drawingml/2006/main" noGrp="1"/>
          </p:cNvSpPr>
          <p:nvPr/>
        </p:nvSpPr>
        <p:spPr>
          <a:xfrm xmlns:a="http://schemas.openxmlformats.org/drawingml/2006/main">
            <a:off x="8562362" y="3429000"/>
            <a:ext cx="2940124" cy="1359356"/>
          </a:xfrm>
          <a:prstGeom xmlns:a="http://schemas.openxmlformats.org/drawingml/2006/main" prst="rect">
            <a:avLst/>
          </a:prstGeom>
        </p:spPr>
        <p:txBody>
          <a:bodyPr xmlns:a="http://schemas.openxmlformats.org/drawingml/2006/main" vert="horz" lIns="0" tIns="0" rIns="0" bIns="0" anchor="b">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4800" b="0" i="0" u="none" cap="none" spc="0">
                <a:ln>
                  <a:noFill/>
                </a:ln>
                <a:latin typeface="Helvetica Neue"/>
                <a:ea typeface="Helvetica Neue"/>
                <a:cs typeface="Helvetica Neue"/>
              </a:rPr>
              <a:t>0.088</a:t>
            </a:r>
            <a:endParaRPr sz="7500"/>
          </a:p>
        </p:txBody>
      </p:sp>
      <p:sp>
        <p:nvSpPr>
          <p:cNvPr id="14" name="Content Placeholder 15">
            <a:extLst xmlns:a="http://schemas.openxmlformats.org/drawingml/2006/main">
              <a:ext uri="{FF2B5EF4-FFF2-40B4-BE49-F238E27FC236}">
                <a16:creationId xmlns:a16="http://schemas.microsoft.com/office/drawing/2014/main" id="{45E38982-B0CA-BEBE-C656-B7F62835ADB0}"/>
              </a:ext>
            </a:extLst>
          </p:cNvPr>
          <p:cNvSpPr>
            <a:spLocks xmlns:a="http://schemas.openxmlformats.org/drawingml/2006/main" noGrp="1"/>
          </p:cNvSpPr>
          <p:nvPr/>
        </p:nvSpPr>
        <p:spPr>
          <a:xfrm xmlns:a="http://schemas.openxmlformats.org/drawingml/2006/main">
            <a:off x="393700" y="1138300"/>
            <a:ext cx="11404599" cy="159940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pPr>
            <a:r>
              <a:rPr sz="2400">
                <a:latin typeface="Helvetica Neue Medium"/>
                <a:ea typeface="Helvetica Neue Medium"/>
                <a:cs typeface="Helvetica Neue Medium"/>
              </a:rPr>
              <a:t>Spatial difference-in-differences</a:t>
            </a:r>
          </a:p>
          <a:p xmlns:a="http://schemas.openxmlformats.org/drawingml/2006/main">
            <a:pPr>
              <a:lnSpc>
                <a:spcPct val="114000"/>
              </a:lnSpc>
              <a:spcBef>
                <a:spcPts val="0"/>
              </a:spcBef>
              <a:spcAft>
                <a:spcPts val="600"/>
              </a:spcAft>
              <a:buNone/>
            </a:pPr>
            <a:r>
              <a:rPr sz="1800">
                <a:latin typeface="Helvetica Neue"/>
                <a:ea typeface="Helvetica Neue"/>
                <a:cs typeface="Helvetica Neue"/>
              </a:rPr>
              <a:t>Compare listings within 1 km with controls 2–6 km away. Cell and month effects isolate the simulated treatment.</a:t>
            </a:r>
          </a:p>
        </p:txBody>
      </p:sp>
      <p:sp>
        <p:nvSpPr>
          <p:cNvPr id="9" name="Footer Placeholder 6">
            <a:extLst xmlns:a="http://schemas.openxmlformats.org/drawingml/2006/main">
              <a:ext uri="{FF2B5EF4-FFF2-40B4-BE49-F238E27FC236}">
                <a16:creationId xmlns:a16="http://schemas.microsoft.com/office/drawing/2014/main" id="{7472BC53-6948-EE0F-E8E5-5488EF53DFE8}"/>
              </a:ext>
            </a:extLst>
          </p:cNvPr>
          <p:cNvSpPr>
            <a:spLocks xmlns:a="http://schemas.openxmlformats.org/drawingml/2006/main" noGrp="1"/>
          </p:cNvSpPr>
          <p:nvPr>
            <p:ph type="ftr" idx="3"/>
          </p:nvPr>
        </p:nvSpPr>
        <p:spPr>
          <a:xfrm xmlns:a="http://schemas.openxmlformats.org/drawingml/2006/main">
            <a:off x="393700" y="6370000"/>
            <a:ext cx="10400000" cy="241300"/>
          </a:xfrm>
        </p:spPr>
        <p:txBody>
          <a:bodyPr xmlns:a="http://schemas.openxmlformats.org/drawingml/2006/main"/>
          <a:lstStyle xmlns:a="http://schemas.openxmlformats.org/drawingml/2006/main"/>
          <a:p xmlns:a="http://schemas.openxmlformats.org/drawingml/2006/main">
            <a:r>
              <a:rPr sz="1000"/>
              <a:t>Documented synthetic recovery. This is not an estimate of an observed real-world metro effect</a:t>
            </a:r>
            <a:endParaRPr/>
          </a:p>
        </p:txBody>
      </p:sp>
    </p:spTree>
    <p:extLst>
      <p:ext uri="{BB962C8B-B14F-4D97-AF65-F5344CB8AC3E}">
        <p14:creationId xmlns:p14="http://schemas.microsoft.com/office/powerpoint/2010/main" val="236961682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CA82F118-C6BB-3BC4-35D2-F1406F35370D}"/>
              </a:ext>
            </a:extLst>
          </p:cNvPr>
          <p:cNvSpPr>
            <a:spLocks xmlns:a="http://schemas.openxmlformats.org/drawingml/2006/main" noGrp="1"/>
          </p:cNvSpPr>
          <p:nvPr>
            <p:ph type="ftr" idx="3"/>
          </p:nvPr>
        </p:nvSpPr>
        <p:spPr>
          <a:xfrm xmlns:a="http://schemas.openxmlformats.org/drawingml/2006/main">
            <a:off x="393700" y="6370000"/>
            <a:ext cx="10400000" cy="241300"/>
          </a:xfrm>
        </p:spPr>
        <p:txBody>
          <a:bodyPr xmlns:a="http://schemas.openxmlformats.org/drawingml/2006/main"/>
          <a:lstStyle xmlns:a="http://schemas.openxmlformats.org/drawingml/2006/main"/>
          <a:p xmlns:a="http://schemas.openxmlformats.org/drawingml/2006/main">
            <a:r>
              <a:rPr sz="1000"/>
              <a:t>Synthetic CQR holdout. Multi-month interval widths use a √horizon heuristic</a:t>
            </a:r>
            <a:endParaRPr/>
          </a:p>
        </p:txBody>
      </p:sp>
      <p:sp>
        <p:nvSpPr>
          <p:cNvPr id="4" name="Slide Number Placeholder 3">
            <a:extLst xmlns:a="http://schemas.openxmlformats.org/drawingml/2006/main">
              <a:ext uri="{FF2B5EF4-FFF2-40B4-BE49-F238E27FC236}">
                <a16:creationId xmlns:a16="http://schemas.microsoft.com/office/drawing/2014/main" id="{D3D601CC-90EA-4B7E-D56D-42EF2FCCABE3}"/>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r>
              <a:rPr sz="1000"/>
              <a:t>12</a:t>
            </a:r>
            <a:endParaRPr/>
          </a:p>
        </p:txBody>
      </p:sp>
      <p:sp>
        <p:nvSpPr>
          <p:cNvPr id="11" name="Title 10">
            <a:extLst xmlns:a="http://schemas.openxmlformats.org/drawingml/2006/main">
              <a:ext uri="{FF2B5EF4-FFF2-40B4-BE49-F238E27FC236}">
                <a16:creationId xmlns:a16="http://schemas.microsoft.com/office/drawing/2014/main" id="{4AEA3A7D-DBCA-D3E4-FBE6-7DFA3D3F5D94}"/>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rPr sz="3000"/>
              <a:t>Uncertainty remains an open challenge</a:t>
            </a:r>
          </a:p>
        </p:txBody>
      </p:sp>
      <p:sp>
        <p:nvSpPr>
          <p:cNvPr id="37" name="Rounded Rectangle 36">
            <a:extLst xmlns:a="http://schemas.openxmlformats.org/drawingml/2006/main">
              <a:ext uri="{FF2B5EF4-FFF2-40B4-BE49-F238E27FC236}">
                <a16:creationId xmlns:a16="http://schemas.microsoft.com/office/drawing/2014/main" id="{AD9F0FEC-2745-EA90-4350-ECA0139679CC}"/>
              </a:ext>
            </a:extLst>
          </p:cNvPr>
          <p:cNvSpPr>
            <a:spLocks xmlns:a="http://schemas.openxmlformats.org/drawingml/2006/main" noGrp="1"/>
          </p:cNvSpPr>
          <p:nvPr/>
        </p:nvSpPr>
        <p:spPr>
          <a:xfrm xmlns:a="http://schemas.openxmlformats.org/drawingml/2006/main">
            <a:off x="6271986" y="3360085"/>
            <a:ext cx="2581975" cy="2656541"/>
          </a:xfrm>
          <a:prstGeom xmlns:a="http://schemas.openxmlformats.org/drawingml/2006/main" prst="roundRect">
            <a:avLst>
              <a:gd name="adj" fmla="val 6087"/>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Content Placeholder 9">
            <a:extLst xmlns:a="http://schemas.openxmlformats.org/drawingml/2006/main">
              <a:ext uri="{FF2B5EF4-FFF2-40B4-BE49-F238E27FC236}">
                <a16:creationId xmlns:a16="http://schemas.microsoft.com/office/drawing/2014/main" id="{9F2C50E3-28B0-6CBB-D0C2-A884FA6A0F1E}"/>
              </a:ext>
            </a:extLst>
          </p:cNvPr>
          <p:cNvSpPr>
            <a:spLocks xmlns:a="http://schemas.openxmlformats.org/drawingml/2006/main" noGrp="1"/>
          </p:cNvSpPr>
          <p:nvPr/>
        </p:nvSpPr>
        <p:spPr>
          <a:xfrm xmlns:a="http://schemas.openxmlformats.org/drawingml/2006/main">
            <a:off x="6509338" y="3579974"/>
            <a:ext cx="2133315" cy="1155819"/>
          </a:xfrm>
          <a:prstGeom xmlns:a="http://schemas.openxmlformats.org/drawingml/2006/main" prst="rect">
            <a:avLst/>
          </a:prstGeom>
        </p:spPr>
        <p:txBody>
          <a:bodyPr xmlns:a="http://schemas.openxmlformats.org/drawingml/2006/main" vert="horz" lIns="0" tIns="0" rIns="0" bIns="0" anchor="b">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4300" u="none" cap="none" spc="0">
                <a:ln>
                  <a:noFill/>
                </a:ln>
                <a:latin typeface="Helvetica Neue"/>
                <a:ea typeface="Helvetica Neue"/>
                <a:cs typeface="Helvetica Neue"/>
              </a:rPr>
              <a:t>71.4%</a:t>
            </a:r>
            <a:endParaRPr sz="5000">
              <a:latin typeface="Helvetica Neue"/>
              <a:ea typeface="Helvetica Neue"/>
              <a:cs typeface="Helvetica Neue"/>
            </a:endParaRPr>
          </a:p>
        </p:txBody>
      </p:sp>
      <p:sp>
        <p:nvSpPr>
          <p:cNvPr id="39" name="Content Placeholder 15">
            <a:extLst xmlns:a="http://schemas.openxmlformats.org/drawingml/2006/main">
              <a:ext uri="{FF2B5EF4-FFF2-40B4-BE49-F238E27FC236}">
                <a16:creationId xmlns:a16="http://schemas.microsoft.com/office/drawing/2014/main" id="{57309BA0-73E7-AB92-9FFA-3CB6E7D29885}"/>
              </a:ext>
            </a:extLst>
          </p:cNvPr>
          <p:cNvSpPr>
            <a:spLocks xmlns:a="http://schemas.openxmlformats.org/drawingml/2006/main" noGrp="1"/>
          </p:cNvSpPr>
          <p:nvPr/>
        </p:nvSpPr>
        <p:spPr>
          <a:xfrm xmlns:a="http://schemas.openxmlformats.org/drawingml/2006/main">
            <a:off x="6575956" y="5068235"/>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Observed coverage</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on unseen months</a:t>
            </a:r>
            <a:endParaRPr sz="1400">
              <a:latin typeface="Helvetica Neue"/>
              <a:ea typeface="Helvetica Neue"/>
              <a:cs typeface="Helvetica Neue"/>
            </a:endParaRPr>
          </a:p>
        </p:txBody>
      </p:sp>
      <p:sp>
        <p:nvSpPr>
          <p:cNvPr id="40" name="Rounded Rectangle 39">
            <a:extLst xmlns:a="http://schemas.openxmlformats.org/drawingml/2006/main">
              <a:ext uri="{FF2B5EF4-FFF2-40B4-BE49-F238E27FC236}">
                <a16:creationId xmlns:a16="http://schemas.microsoft.com/office/drawing/2014/main" id="{5BFE1F75-4AAC-629D-4488-BAAF31013984}"/>
              </a:ext>
            </a:extLst>
          </p:cNvPr>
          <p:cNvSpPr>
            <a:spLocks xmlns:a="http://schemas.openxmlformats.org/drawingml/2006/main" noGrp="1"/>
          </p:cNvSpPr>
          <p:nvPr/>
        </p:nvSpPr>
        <p:spPr>
          <a:xfrm xmlns:a="http://schemas.openxmlformats.org/drawingml/2006/main">
            <a:off x="9224191" y="3360085"/>
            <a:ext cx="2581975" cy="2656541"/>
          </a:xfrm>
          <a:prstGeom xmlns:a="http://schemas.openxmlformats.org/drawingml/2006/main" prst="roundRect">
            <a:avLst>
              <a:gd name="adj" fmla="val 4984"/>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Content Placeholder 9">
            <a:extLst xmlns:a="http://schemas.openxmlformats.org/drawingml/2006/main">
              <a:ext uri="{FF2B5EF4-FFF2-40B4-BE49-F238E27FC236}">
                <a16:creationId xmlns:a16="http://schemas.microsoft.com/office/drawing/2014/main" id="{EDD16FA6-BF88-7DA4-7782-F905386C7429}"/>
              </a:ext>
            </a:extLst>
          </p:cNvPr>
          <p:cNvSpPr>
            <a:spLocks xmlns:a="http://schemas.openxmlformats.org/drawingml/2006/main" noGrp="1"/>
          </p:cNvSpPr>
          <p:nvPr/>
        </p:nvSpPr>
        <p:spPr>
          <a:xfrm xmlns:a="http://schemas.openxmlformats.org/drawingml/2006/main">
            <a:off x="9461543" y="3579974"/>
            <a:ext cx="2133315" cy="1155819"/>
          </a:xfrm>
          <a:prstGeom xmlns:a="http://schemas.openxmlformats.org/drawingml/2006/main" prst="rect">
            <a:avLst/>
          </a:prstGeom>
        </p:spPr>
        <p:txBody>
          <a:bodyPr xmlns:a="http://schemas.openxmlformats.org/drawingml/2006/main" vert="horz" lIns="0" tIns="0" rIns="0" bIns="0" anchor="b">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4300" u="none" cap="none" spc="0">
                <a:ln>
                  <a:noFill/>
                </a:ln>
                <a:latin typeface="Helvetica Neue"/>
                <a:ea typeface="Helvetica Neue"/>
                <a:cs typeface="Helvetica Neue"/>
              </a:rPr>
              <a:t>8.6 pp</a:t>
            </a:r>
            <a:endParaRPr sz="5000">
              <a:latin typeface="Helvetica Neue"/>
              <a:ea typeface="Helvetica Neue"/>
              <a:cs typeface="Helvetica Neue"/>
            </a:endParaRPr>
          </a:p>
        </p:txBody>
      </p:sp>
      <p:sp>
        <p:nvSpPr>
          <p:cNvPr id="42" name="Content Placeholder 15">
            <a:extLst xmlns:a="http://schemas.openxmlformats.org/drawingml/2006/main">
              <a:ext uri="{FF2B5EF4-FFF2-40B4-BE49-F238E27FC236}">
                <a16:creationId xmlns:a16="http://schemas.microsoft.com/office/drawing/2014/main" id="{6E0E4F2E-E5BA-848F-0BB2-B4A15FA331A8}"/>
              </a:ext>
            </a:extLst>
          </p:cNvPr>
          <p:cNvSpPr>
            <a:spLocks xmlns:a="http://schemas.openxmlformats.org/drawingml/2006/main" noGrp="1"/>
          </p:cNvSpPr>
          <p:nvPr/>
        </p:nvSpPr>
        <p:spPr>
          <a:xfrm xmlns:a="http://schemas.openxmlformats.org/drawingml/2006/main">
            <a:off x="9528161" y="5068235"/>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Gap below the</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80% target</a:t>
            </a:r>
            <a:endParaRPr sz="1400">
              <a:latin typeface="Helvetica Neue"/>
              <a:ea typeface="Helvetica Neue"/>
              <a:cs typeface="Helvetica Neue"/>
            </a:endParaRPr>
          </a:p>
        </p:txBody>
      </p:sp>
      <p:sp>
        <p:nvSpPr>
          <p:cNvPr id="43" name="Content Placeholder 2">
            <a:extLst xmlns:a="http://schemas.openxmlformats.org/drawingml/2006/main">
              <a:ext uri="{FF2B5EF4-FFF2-40B4-BE49-F238E27FC236}">
                <a16:creationId xmlns:a16="http://schemas.microsoft.com/office/drawing/2014/main" id="{D1B313AA-3A24-CBDF-D666-09D42298B0B5}"/>
              </a:ext>
            </a:extLst>
          </p:cNvPr>
          <p:cNvSpPr>
            <a:spLocks xmlns:a="http://schemas.openxmlformats.org/drawingml/2006/main" noGrp="1"/>
          </p:cNvSpPr>
          <p:nvPr/>
        </p:nvSpPr>
        <p:spPr>
          <a:xfrm xmlns:a="http://schemas.openxmlformats.org/drawingml/2006/main">
            <a:off x="6261100" y="1955554"/>
            <a:ext cx="5539873" cy="990600"/>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800">
                <a:latin typeface="Helvetica Neue"/>
                <a:ea typeface="Helvetica Neue"/>
                <a:cs typeface="Helvetica Neue"/>
              </a:rPr>
              <a:t>Held-out coverage falls below the 80% target. A trending market challenges exchangeability.</a:t>
            </a:r>
          </a:p>
        </p:txBody>
      </p:sp>
      <p:graphicFrame>
        <p:nvGraphicFramePr>
          <p:cNvPr id="55" name="Chart"/>
          <p:cNvGraphicFramePr/>
          <p:nvPr/>
        </p:nvGraphicFramePr>
        <p:xfrm>
          <a:off xmlns:a="http://schemas.openxmlformats.org/drawingml/2006/main" x="628650" y="1685925"/>
          <a:ext xmlns:a="http://schemas.openxmlformats.org/drawingml/2006/main" cx="5010150" cy="4010025"/>
        </p:xfrm>
        <a:graphic xmlns:a="http://schemas.openxmlformats.org/drawingml/2006/main">
          <a:graphicData uri="http://schemas.openxmlformats.org/drawingml/2006/chart">
            <c:chart xmlns:r="http://schemas.openxmlformats.org/officeDocument/2006/relationships" xmlns:c="http://schemas.openxmlformats.org/drawingml/2006/chart" r:id="Rbfd0704bfed84376"/>
          </a:graphicData>
        </a:graphic>
      </p:graphicFrame>
    </p:spTree>
    <p:extLst>
      <p:ext uri="{BB962C8B-B14F-4D97-AF65-F5344CB8AC3E}">
        <p14:creationId xmlns:p14="http://schemas.microsoft.com/office/powerpoint/2010/main" val="377680918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a:xfrm xmlns:a="http://schemas.openxmlformats.org/drawingml/2006/main">
            <a:off x="393700" y="6370000"/>
            <a:ext cx="10400000" cy="241300"/>
          </a:xfrm>
        </p:spPr>
        <p:txBody>
          <a:bodyPr xmlns:a="http://schemas.openxmlformats.org/drawingml/2006/main"/>
          <a:lstStyle xmlns:a="http://schemas.openxmlformats.org/drawingml/2006/main"/>
          <a:p xmlns:a="http://schemas.openxmlformats.org/drawingml/2006/main">
            <a:r>
              <a:rPr sz="1000"/>
              <a:t>Research scenarios are conditional simulations, not promised investment returns</a:t>
            </a:r>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r>
              <a:rPr sz="1000"/>
              <a:t>13</a:t>
            </a:r>
            <a:endParaRPr/>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sz="3000"/>
              <a:t>Scenarios explore explicit assumptions</a:t>
            </a: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3365500"/>
            <a:ext cx="3568700" cy="26289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2400">
                <a:latin typeface="Helvetica Neue"/>
                <a:ea typeface="Helvetica Neue"/>
                <a:cs typeface="Helvetica Neue"/>
              </a:rPr>
              <a:t>Baseline</a:t>
            </a:r>
            <a:endParaRPr sz="1800">
              <a:latin typeface="Helvetica Neue"/>
              <a:ea typeface="Helvetica Neue"/>
              <a:cs typeface="Helvetica Neue"/>
            </a:endParaRPr>
          </a:p>
          <a:p xmlns:a="http://schemas.openxmlformats.org/drawingml/2006/main">
            <a:pPr marL="0" indent="0">
              <a:lnSpc>
                <a:spcPct val="114000"/>
              </a:lnSpc>
              <a:spcBef>
                <a:spcPts val="0"/>
              </a:spcBef>
              <a:spcAft>
                <a:spcPts val="800"/>
              </a:spcAft>
              <a:buNone/>
            </a:pPr>
            <a:r>
              <a:rPr sz="1900">
                <a:latin typeface="Helvetica Neue"/>
                <a:ea typeface="Helvetica Neue"/>
                <a:cs typeface="Helvetica Neue"/>
              </a:rPr>
              <a:t>Continue the fitted forecast without an additional policy adjustment.</a:t>
            </a:r>
            <a:endParaRPr sz="1800">
              <a:latin typeface="Helvetica Neue"/>
              <a:ea typeface="Helvetica Neue"/>
              <a:cs typeface="Helvetica Neue"/>
            </a:endParaRP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3365500"/>
            <a:ext cx="3568700" cy="2628900"/>
          </a:xfrm>
        </p:spPr>
        <p:txBody>
          <a:bodyPr xmlns:a="http://schemas.openxmlformats.org/drawingml/2006/main">
            <a:norm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2400" b="0" i="0" u="none" cap="none" spc="0">
                <a:ln>
                  <a:noFill/>
                </a:ln>
                <a:latin typeface="Helvetica Neue"/>
                <a:ea typeface="Helvetica Neue"/>
                <a:cs typeface="Helvetica Neue"/>
              </a:rPr>
              <a:t>Transit</a:t>
            </a:r>
          </a:p>
          <a:p xmlns:a="http://schemas.openxmlformats.org/drawingml/2006/main">
            <a:pPr marL="0" marR="0" lvl="0" indent="0" algn="l" defTabSz="914400">
              <a:lnSpc>
                <a:spcPct val="114000"/>
              </a:lnSpc>
              <a:spcBef>
                <a:spcPts val="0"/>
              </a:spcBef>
              <a:spcAft>
                <a:spcPts val="800"/>
              </a:spcAft>
              <a:buClrTx/>
              <a:buSzTx/>
              <a:buFont typeface="Arial"/>
              <a:buNone/>
            </a:pPr>
            <a:r>
              <a:rPr sz="1900" b="0" i="0" u="none" cap="none" spc="0">
                <a:ln>
                  <a:noFill/>
                </a:ln>
                <a:latin typeface="Helvetica Neue"/>
                <a:ea typeface="Helvetica Neue"/>
                <a:cs typeface="Helvetica Neue"/>
              </a:rPr>
              <a:t>Apply the estimated metro effect near a hypothetical next station.</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3365500"/>
            <a:ext cx="3568700" cy="2628900"/>
          </a:xfrm>
        </p:spPr>
        <p:txBody>
          <a:bodyPr xmlns:a="http://schemas.openxmlformats.org/drawingml/2006/main">
            <a:norm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2400" b="0" i="0" u="none" cap="none" spc="0">
                <a:ln>
                  <a:noFill/>
                </a:ln>
                <a:latin typeface="Helvetica Neue"/>
                <a:ea typeface="Helvetica Neue"/>
                <a:cs typeface="Helvetica Neue"/>
              </a:rPr>
              <a:t>Polycentric</a:t>
            </a:r>
          </a:p>
          <a:p xmlns:a="http://schemas.openxmlformats.org/drawingml/2006/main">
            <a:pPr marL="0" marR="0" lvl="0" indent="0" algn="l" defTabSz="914400">
              <a:lnSpc>
                <a:spcPct val="114000"/>
              </a:lnSpc>
              <a:spcBef>
                <a:spcPts val="0"/>
              </a:spcBef>
              <a:spcAft>
                <a:spcPts val="800"/>
              </a:spcAft>
              <a:buClrTx/>
              <a:buSzTx/>
              <a:buFont typeface="Arial"/>
              <a:buNone/>
            </a:pPr>
            <a:r>
              <a:rPr sz="1900" b="0" i="0" u="none" cap="none" spc="0">
                <a:ln>
                  <a:noFill/>
                </a:ln>
                <a:latin typeface="Helvetica Neue"/>
                <a:ea typeface="Helvetica Neue"/>
                <a:cs typeface="Helvetica Neue"/>
              </a:rPr>
              <a:t>Double the estimated historical node-gravity appreciation slope.</a:t>
            </a:r>
          </a:p>
        </p:txBody>
      </p:sp>
    </p:spTree>
    <p:extLst>
      <p:ext uri="{BB962C8B-B14F-4D97-AF65-F5344CB8AC3E}">
        <p14:creationId xmlns:p14="http://schemas.microsoft.com/office/powerpoint/2010/main" val="139345699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a:xfrm xmlns:a="http://schemas.openxmlformats.org/drawingml/2006/main">
            <a:off x="393700" y="6370000"/>
            <a:ext cx="10400000" cy="241300"/>
          </a:xfrm>
        </p:spPr>
        <p:txBody>
          <a:bodyPr xmlns:a="http://schemas.openxmlformats.org/drawingml/2006/main"/>
          <a:lstStyle xmlns:a="http://schemas.openxmlformats.org/drawingml/2006/main"/>
          <a:p xmlns:a="http://schemas.openxmlformats.org/drawingml/2006/main">
            <a:r>
              <a:rPr sz="1000"/>
              <a:t>A populated demo requires listing and model artifacts</a:t>
            </a:r>
            <a:endParaRP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r>
              <a:rPr sz="1000"/>
              <a:t>14</a:t>
            </a:r>
            <a:endParaRPr/>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rPr sz="3000"/>
              <a:t>The product demonstration</a:t>
            </a:r>
          </a:p>
        </p:txBody>
      </p:sp>
      <p:cxnSp>
        <p:nvCxnSpPr>
          <p:cNvPr id="23" name="Google Shape;2259;p159"/>
          <p:cNvCxnSpPr>
            <a:stCxn xmlns:a="http://schemas.openxmlformats.org/drawingml/2006/main" id="3" idx="2"/>
          </p:cNvCxnSpPr>
          <p:nvPr/>
        </p:nvCxnSpPr>
        <p:spPr>
          <a:xfrm xmlns:a="http://schemas.openxmlformats.org/drawingml/2006/main">
            <a:off x="337757" y="3373755"/>
            <a:ext cx="11460480" cy="305"/>
          </a:xfrm>
          <a:prstGeom xmlns:a="http://schemas.openxmlformats.org/drawingml/2006/main" prst="straightConnector1">
            <a:avLst/>
          </a:prstGeom>
          <a:ln xmlns:a="http://schemas.openxmlformats.org/drawingml/2006/main" w="9525" cap="flat">
            <a:solidFill>
              <a:schemeClr val="tx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01  Browse</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02  Inspect</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03  Explore</a:t>
            </a:r>
          </a:p>
        </p:txBody>
      </p:sp>
      <p:sp>
        <p:nvSpPr>
          <p:cNvPr id="8" name="Text Placeholder 16">
            <a:extLst xmlns:a="http://schemas.openxmlformats.org/drawingml/2006/main">
              <a:ext uri="{FF2B5EF4-FFF2-40B4-BE49-F238E27FC236}">
                <a16:creationId xmlns:a16="http://schemas.microsoft.com/office/drawing/2014/main" id="{D0EE3B6B-F07C-271E-2F97-41D7686F1C33}"/>
              </a:ext>
            </a:extLst>
          </p:cNvPr>
          <p:cNvSpPr>
            <a:spLocks xmlns:a="http://schemas.openxmlformats.org/drawingml/2006/main" noGrp="1"/>
          </p:cNvSpPr>
          <p:nvPr/>
        </p:nvSpPr>
        <p:spPr>
          <a:xfrm xmlns:a="http://schemas.openxmlformats.org/drawingml/2006/main">
            <a:off x="4317118"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400">
                <a:latin typeface="Helvetica Neue"/>
                <a:ea typeface="Helvetica Neue"/>
                <a:cs typeface="Helvetica Neue"/>
              </a:rPr>
              <a:t>Read the context</a:t>
            </a:r>
          </a:p>
          <a:p xmlns:a="http://schemas.openxmlformats.org/drawingml/2006/main">
            <a:pPr marL="0" indent="0">
              <a:lnSpc>
                <a:spcPct val="114000"/>
              </a:lnSpc>
              <a:spcBef>
                <a:spcPts val="0"/>
              </a:spcBef>
              <a:spcAft>
                <a:spcPts val="800"/>
              </a:spcAft>
              <a:buFont typeface="Arial"/>
              <a:buNone/>
            </a:pPr>
            <a:r>
              <a:rPr sz="1800">
                <a:latin typeface="Helvetica Neue"/>
                <a:ea typeface="Helvetica Neue"/>
                <a:cs typeface="Helvetica Neue"/>
              </a:rPr>
              <a:t>Open the detail page to inspect price position, metro proximity and score.</a:t>
            </a:r>
          </a:p>
        </p:txBody>
      </p:sp>
      <p:sp>
        <p:nvSpPr>
          <p:cNvPr id="15" name="Text Placeholder 16">
            <a:extLst xmlns:a="http://schemas.openxmlformats.org/drawingml/2006/main">
              <a:ext uri="{FF2B5EF4-FFF2-40B4-BE49-F238E27FC236}">
                <a16:creationId xmlns:a16="http://schemas.microsoft.com/office/drawing/2014/main" id="{B3EA0E10-C778-6971-AFB5-9B9B52B082D5}"/>
              </a:ext>
            </a:extLst>
          </p:cNvPr>
          <p:cNvSpPr>
            <a:spLocks xmlns:a="http://schemas.openxmlformats.org/drawingml/2006/main" noGrp="1"/>
          </p:cNvSpPr>
          <p:nvPr/>
        </p:nvSpPr>
        <p:spPr>
          <a:xfrm xmlns:a="http://schemas.openxmlformats.org/drawingml/2006/main">
            <a:off x="399873"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400">
                <a:latin typeface="Helvetica Neue"/>
                <a:ea typeface="Helvetica Neue"/>
                <a:cs typeface="Helvetica Neue"/>
              </a:rPr>
              <a:t>Find a property</a:t>
            </a:r>
          </a:p>
          <a:p xmlns:a="http://schemas.openxmlformats.org/drawingml/2006/main">
            <a:pPr marL="0" indent="0">
              <a:lnSpc>
                <a:spcPct val="114000"/>
              </a:lnSpc>
              <a:spcBef>
                <a:spcPts val="0"/>
              </a:spcBef>
              <a:spcAft>
                <a:spcPts val="800"/>
              </a:spcAft>
              <a:buFont typeface="Arial"/>
              <a:buNone/>
            </a:pPr>
            <a:r>
              <a:rPr sz="1800">
                <a:latin typeface="Helvetica Neue"/>
                <a:ea typeface="Helvetica Neue"/>
                <a:cs typeface="Helvetica Neue"/>
              </a:rPr>
              <a:t>Apply district and budget filters, then sort the results.</a:t>
            </a:r>
          </a:p>
        </p:txBody>
      </p:sp>
      <p:sp>
        <p:nvSpPr>
          <p:cNvPr id="19" name="Text Placeholder 16">
            <a:extLst xmlns:a="http://schemas.openxmlformats.org/drawingml/2006/main">
              <a:ext uri="{FF2B5EF4-FFF2-40B4-BE49-F238E27FC236}">
                <a16:creationId xmlns:a16="http://schemas.microsoft.com/office/drawing/2014/main" id="{5A9F39A9-7A23-0F85-F761-1AB9FA6B8FDE}"/>
              </a:ext>
            </a:extLst>
          </p:cNvPr>
          <p:cNvSpPr>
            <a:spLocks xmlns:a="http://schemas.openxmlformats.org/drawingml/2006/main" noGrp="1"/>
          </p:cNvSpPr>
          <p:nvPr/>
        </p:nvSpPr>
        <p:spPr>
          <a:xfrm xmlns:a="http://schemas.openxmlformats.org/drawingml/2006/main">
            <a:off x="8177917"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400">
                <a:latin typeface="Helvetica Neue"/>
                <a:ea typeface="Helvetica Neue"/>
                <a:cs typeface="Helvetica Neue"/>
              </a:rPr>
              <a:t>Compare the map</a:t>
            </a:r>
          </a:p>
          <a:p xmlns:a="http://schemas.openxmlformats.org/drawingml/2006/main">
            <a:pPr marL="0" indent="0">
              <a:lnSpc>
                <a:spcPct val="114000"/>
              </a:lnSpc>
              <a:spcBef>
                <a:spcPts val="0"/>
              </a:spcBef>
              <a:spcAft>
                <a:spcPts val="800"/>
              </a:spcAft>
              <a:buFont typeface="Arial"/>
              <a:buNone/>
            </a:pPr>
            <a:r>
              <a:rPr sz="1800">
                <a:latin typeface="Helvetica Neue"/>
                <a:ea typeface="Helvetica Neue"/>
                <a:cs typeface="Helvetica Neue"/>
              </a:rPr>
              <a:t>Switch metrics and horizons, then inspect a cell’s history and estimates.</a:t>
            </a:r>
          </a:p>
        </p:txBody>
      </p:sp>
    </p:spTree>
    <p:extLst>
      <p:ext uri="{BB962C8B-B14F-4D97-AF65-F5344CB8AC3E}">
        <p14:creationId xmlns:p14="http://schemas.microsoft.com/office/powerpoint/2010/main" val="344633891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lstStyle xmlns:a="http://schemas.openxmlformats.org/drawingml/2006/main"/>
          <a:p xmlns:a="http://schemas.openxmlformats.org/drawingml/2006/main">
            <a:r>
              <a:rPr sz="1000"/>
              <a:t>15</a:t>
            </a:r>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rPr sz="3000"/>
              <a:t>The next milestone is credible real-data validation</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pPr>
            <a:r>
              <a:rPr sz="2400" b="0" i="0" u="none" cap="none" spc="0">
                <a:ln>
                  <a:noFill/>
                </a:ln>
                <a:latin typeface="Helvetica Neue"/>
                <a:ea typeface="Helvetica Neue"/>
                <a:cs typeface="Helvetica Neue"/>
              </a:rPr>
              <a:t>Collect longitudinal data</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latin typeface="Helvetica Neue"/>
                <a:ea typeface="Helvetica Neue"/>
                <a:cs typeface="Helvetica Neue"/>
              </a:rPr>
              <a:t>Build a recurring listing history before evaluating future growth.</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pPr>
            <a:r>
              <a:rPr sz="2400" b="0" i="0" u="none" cap="none" spc="0">
                <a:ln>
                  <a:noFill/>
                </a:ln>
                <a:latin typeface="Helvetica Neue"/>
                <a:ea typeface="Helvetica Neue"/>
                <a:cs typeface="Helvetica Neue"/>
              </a:rPr>
              <a:t>Rebuild validation boundaries</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latin typeface="Helvetica Neue"/>
                <a:ea typeface="Helvetica Neue"/>
                <a:cs typeface="Helvetica Neue"/>
              </a:rPr>
              <a:t>Compute neighbour features within folds and reserve calibration data.</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2400">
                <a:latin typeface="Helvetica Neue"/>
                <a:ea typeface="Helvetica Neue"/>
                <a:cs typeface="Helvetica Neue"/>
              </a:rPr>
              <a:t>Unify the application geometry</a:t>
            </a:r>
          </a:p>
          <a:p xmlns:a="http://schemas.openxmlformats.org/drawingml/2006/main">
            <a:pPr marL="0" indent="0">
              <a:lnSpc>
                <a:spcPct val="100000"/>
              </a:lnSpc>
              <a:spcBef>
                <a:spcPts val="1300"/>
              </a:spcBef>
              <a:spcAft>
                <a:spcPts val="1300"/>
              </a:spcAft>
              <a:buFontTx/>
              <a:buNone/>
            </a:pPr>
            <a:r>
              <a:rPr sz="1800">
                <a:latin typeface="Helvetica Neue"/>
                <a:ea typeface="Helvetica Neue"/>
                <a:cs typeface="Helvetica Neue"/>
              </a:rPr>
              <a:t>Make listing enrichment support the research pipeline’s adaptive cells.</a:t>
            </a:r>
            <a:endParaRPr sz="1800">
              <a:latin typeface="Helvetica Neue"/>
              <a:ea typeface="Helvetica Neue"/>
              <a:cs typeface="Helvetica Neue"/>
            </a:endParaRP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2400">
                <a:latin typeface="Helvetica Neue"/>
                <a:ea typeface="Helvetica Neue"/>
                <a:cs typeface="Helvetica Neue"/>
              </a:rPr>
              <a:t>Calibrate longer horizons</a:t>
            </a:r>
          </a:p>
          <a:p xmlns:a="http://schemas.openxmlformats.org/drawingml/2006/main">
            <a:pPr marL="0" indent="0">
              <a:lnSpc>
                <a:spcPct val="100000"/>
              </a:lnSpc>
              <a:spcBef>
                <a:spcPts val="1300"/>
              </a:spcBef>
              <a:spcAft>
                <a:spcPts val="1300"/>
              </a:spcAft>
              <a:buFontTx/>
              <a:buNone/>
            </a:pPr>
            <a:r>
              <a:rPr sz="1800">
                <a:latin typeface="Helvetica Neue"/>
                <a:ea typeface="Helvetica Neue"/>
                <a:cs typeface="Helvetica Neue"/>
              </a:rPr>
              <a:t>Backtest 12/24-month forecasts and measure coverage separately.</a:t>
            </a:r>
            <a:endParaRPr sz="1800">
              <a:latin typeface="Helvetica Neue"/>
              <a:ea typeface="Helvetica Neue"/>
              <a:cs typeface="Helvetica Neue"/>
            </a:endParaRPr>
          </a:p>
        </p:txBody>
      </p:sp>
    </p:spTree>
    <p:extLst>
      <p:ext uri="{BB962C8B-B14F-4D97-AF65-F5344CB8AC3E}">
        <p14:creationId xmlns:p14="http://schemas.microsoft.com/office/powerpoint/2010/main" val="36014548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979AC8B6-148F-970D-D8DE-AD2E0AB19BC8}"/>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a:noAutofit/>
          </a:bodyPr>
          <a:lstStyle xmlns:a="http://schemas.openxmlformats.org/drawingml/2006/main"/>
          <a:p xmlns:a="http://schemas.openxmlformats.org/drawingml/2006/main">
            <a:r>
              <a:rPr sz="6000"/>
              <a:t>BakuML</a:t>
            </a:r>
          </a:p>
          <a:p xmlns:a="http://schemas.openxmlformats.org/drawingml/2006/main">
            <a:r>
              <a:rPr sz="6000"/>
              <a:t>Questions?</a:t>
            </a:r>
          </a:p>
        </p:txBody>
      </p:sp>
      <p:sp>
        <p:nvSpPr>
          <p:cNvPr id="5" name="Subtitle 4">
            <a:extLst xmlns:a="http://schemas.openxmlformats.org/drawingml/2006/main">
              <a:ext uri="{FF2B5EF4-FFF2-40B4-BE49-F238E27FC236}">
                <a16:creationId xmlns:a16="http://schemas.microsoft.com/office/drawing/2014/main" id="{A8E1F2E1-786A-48AE-5E52-007228284270}"/>
              </a:ext>
            </a:extLst>
          </p:cNvPr>
          <p:cNvSpPr>
            <a:spLocks xmlns:a="http://schemas.openxmlformats.org/drawingml/2006/main" noGrp="1"/>
          </p:cNvSpPr>
          <p:nvPr>
            <p:ph type="subTitle" idx="1"/>
          </p:nvPr>
        </p:nvSpPr>
        <p:spPr>
          <a:xfrm xmlns:a="http://schemas.openxmlformats.org/drawingml/2006/main">
            <a:off x="393700" y="4973320"/>
            <a:ext cx="11000000" cy="1080246"/>
          </a:xfrm>
        </p:spPr>
        <p:txBody>
          <a:bodyPr xmlns:a="http://schemas.openxmlformats.org/drawingml/2006/main">
            <a:noAutofit/>
          </a:bodyPr>
          <a:lstStyle xmlns:a="http://schemas.openxmlformats.org/drawingml/2006/main"/>
          <a:p xmlns:a="http://schemas.openxmlformats.org/drawingml/2006/main">
            <a:r>
              <a:rPr sz="1700"/>
              <a:t>Hüseyn Hüseynli   ·   Nihad Süleymanov   ·   Eldəniz Arifzadə</a:t>
            </a:r>
          </a:p>
          <a:p xmlns:a="http://schemas.openxmlformats.org/drawingml/2006/main">
            <a:r>
              <a:rPr sz="1700"/>
              <a:t>Zeynəb Mirzəzadə   ·   Vüqar Dünyamalıyev</a:t>
            </a:r>
          </a:p>
        </p:txBody>
      </p:sp>
      <p:sp>
        <p:nvSpPr>
          <p:cNvPr id="6" name="Subtitle 4">
            <a:extLst xmlns:a="http://schemas.openxmlformats.org/drawingml/2006/main">
              <a:ext uri="{FF2B5EF4-FFF2-40B4-BE49-F238E27FC236}">
                <a16:creationId xmlns:a16="http://schemas.microsoft.com/office/drawing/2014/main" id="{A94AB779-D110-4562-575A-800C929A77DB}"/>
              </a:ext>
            </a:extLst>
          </p:cNvPr>
          <p:cNvSpPr>
            <a:spLocks xmlns:a="http://schemas.openxmlformats.org/drawingml/2006/main" noGrp="1"/>
          </p:cNvSpPr>
          <p:nvPr/>
        </p:nvSpPr>
        <p:spPr>
          <a:xfrm xmlns:a="http://schemas.openxmlformats.org/drawingml/2006/main">
            <a:off x="393700" y="392241"/>
            <a:ext cx="16129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t>Group 3</a:t>
            </a:r>
          </a:p>
        </p:txBody>
      </p:sp>
    </p:spTree>
    <p:extLst>
      <p:ext uri="{BB962C8B-B14F-4D97-AF65-F5344CB8AC3E}">
        <p14:creationId xmlns:p14="http://schemas.microsoft.com/office/powerpoint/2010/main" val="365367855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370000"/>
            <a:ext cx="10400000" cy="241300"/>
          </a:xfrm>
        </p:spPr>
        <p:txBody>
          <a:bodyPr xmlns:a="http://schemas.openxmlformats.org/drawingml/2006/main"/>
          <a:lstStyle xmlns:a="http://schemas.openxmlformats.org/drawingml/2006/main"/>
          <a:p xmlns:a="http://schemas.openxmlformats.org/drawingml/2006/main">
            <a:r>
              <a:rPr sz="1000"/>
              <a:t>Source review of scripts/run_real_pipeline.py and app/enrichment.py</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r>
              <a:rPr sz="1000"/>
              <a:t>17</a:t>
            </a:r>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sz="3000"/>
              <a:t>Appendix: current implementation boundaries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400">
                <a:latin typeface="Helvetica Neue"/>
                <a:ea typeface="Helvetica Neue"/>
                <a:cs typeface="Helvetica Neue"/>
              </a:rPr>
              <a:t>Real-data evaluation</a:t>
            </a:r>
          </a:p>
          <a:p xmlns:a="http://schemas.openxmlformats.org/drawingml/2006/main">
            <a:pPr marL="0" indent="0">
              <a:lnSpc>
                <a:spcPct val="114000"/>
              </a:lnSpc>
              <a:spcBef>
                <a:spcPts val="0"/>
              </a:spcBef>
              <a:spcAft>
                <a:spcPts val="800"/>
              </a:spcAft>
              <a:buFont typeface="Arial"/>
              <a:buNone/>
            </a:pPr>
            <a:r>
              <a:rPr sz="1800">
                <a:latin typeface="Helvetica Neue"/>
                <a:ea typeface="Helvetica Neue"/>
                <a:cs typeface="Helvetica Neue"/>
              </a:rPr>
              <a:t>Neighbour prices use the full snapshot before spatial folds. This can contaminate held-out regions.
Interval residuals come from the fitted training data, not an independent calibration set.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400">
                <a:latin typeface="Helvetica Neue"/>
                <a:ea typeface="Helvetica Neue"/>
                <a:cs typeface="Helvetica Neue"/>
              </a:rPr>
              <a:t>Application integration</a:t>
            </a:r>
          </a:p>
          <a:p xmlns:a="http://schemas.openxmlformats.org/drawingml/2006/main">
            <a:pPr marL="0" indent="0">
              <a:lnSpc>
                <a:spcPct val="114000"/>
              </a:lnSpc>
              <a:spcBef>
                <a:spcPts val="0"/>
              </a:spcBef>
              <a:spcAft>
                <a:spcPts val="800"/>
              </a:spcAft>
              <a:buNone/>
            </a:pPr>
            <a:r>
              <a:rPr sz="1800">
                <a:latin typeface="Helvetica Neue"/>
                <a:ea typeface="Helvetica Neue"/>
                <a:cs typeface="Helvetica Neue"/>
              </a:rPr>
              <a:t>Listing enrichment hard-codes H3, while the research default uses KD-tree cells.
The real pipeline writes baseline outputs only. The map offers all configured scenarios.</a:t>
            </a:r>
          </a:p>
        </p:txBody>
      </p:sp>
    </p:spTree>
    <p:extLst>
      <p:ext uri="{BB962C8B-B14F-4D97-AF65-F5344CB8AC3E}">
        <p14:creationId xmlns:p14="http://schemas.microsoft.com/office/powerpoint/2010/main" val="366718214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a:xfrm xmlns:a="http://schemas.openxmlformats.org/drawingml/2006/main">
            <a:off x="393700" y="6370000"/>
            <a:ext cx="10400000" cy="241300"/>
          </a:xfrm>
        </p:spPr>
        <p:txBody>
          <a:bodyPr xmlns:a="http://schemas.openxmlformats.org/drawingml/2006/main"/>
          <a:lstStyle xmlns:a="http://schemas.openxmlformats.org/drawingml/2006/main"/>
          <a:p xmlns:a="http://schemas.openxmlformats.org/drawingml/2006/main">
            <a:r>
              <a:rPr sz="1000"/>
              <a:t>Positive skill beats persistence on spatially held-out regions. Default: KD-tree ~140/cell</a:t>
            </a:r>
            <a:endParaRPr/>
          </a:p>
        </p:txBody>
      </p:sp>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r>
              <a:rPr sz="1000"/>
              <a:t>18</a:t>
            </a:r>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sz="3000"/>
              <a:t>Appendix: geographic sensitivity</a:t>
            </a: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pPr>
            <a:r>
              <a:rPr sz="1700">
                <a:latin typeface="Helvetica Neue Medium"/>
                <a:ea typeface="Helvetica Neue Medium"/>
                <a:cs typeface="Helvetica Neue Medium"/>
              </a:rPr>
              <a:t>Documented synthetic study. Skill = 1 − model MAE / persistence MAE.</a:t>
            </a:r>
          </a:p>
        </p:txBody>
      </p:sp>
      <p:graphicFrame>
        <p:nvGraphicFramePr>
          <p:cNvPr id="539" name=""/>
          <p:cNvGraphicFramePr/>
          <p:nvPr/>
        </p:nvGraphicFramePr>
        <p:xfrm>
          <a:off xmlns:a="http://schemas.openxmlformats.org/drawingml/2006/main" x="400050" y="2190750"/>
          <a:ext xmlns:a="http://schemas.openxmlformats.org/drawingml/2006/main" cx="11382375" cy="3905250"/>
        </p:xfrm>
        <a:graphic xmlns:a="http://schemas.openxmlformats.org/drawingml/2006/main">
          <a:graphicData uri="http://schemas.openxmlformats.org/drawingml/2006/table">
            <a:tbl>
              <a:tblPr/>
              <a:tblGrid>
                <a:gridCol w="3857625"/>
                <a:gridCol w="2505075"/>
                <a:gridCol w="2505075"/>
                <a:gridCol w="2514600"/>
              </a:tblGrid>
              <a:tr h="433917">
                <a:tc>
                  <a:txBody>
                    <a:bodyPr/>
                    <a:lstStyle/>
                    <a:p>
                      <a:r>
                        <a:rPr sz="1425" b="1">
                          <a:solidFill>
                            <a:srgbClr val="FFFFFF"/>
                          </a:solidFill>
                          <a:latin typeface="Helvetica Neue"/>
                          <a:ea typeface="Helvetica Neue"/>
                          <a:cs typeface="Helvetica Neue"/>
                        </a:rPr>
                        <a:t>Spatial unit</a:t>
                      </a:r>
                    </a:p>
                  </a:txBody>
                  <a:tcPr marL="91440" marR="91440" marT="45720" marB="45720">
                    <a:solidFill>
                      <a:srgbClr val="000000"/>
                    </a:solidFill>
                  </a:tcPr>
                </a:tc>
                <a:tc>
                  <a:txBody>
                    <a:bodyPr/>
                    <a:lstStyle/>
                    <a:p>
                      <a:r>
                        <a:rPr sz="1425" b="1">
                          <a:solidFill>
                            <a:srgbClr val="FFFFFF"/>
                          </a:solidFill>
                          <a:latin typeface="Helvetica Neue"/>
                          <a:ea typeface="Helvetica Neue"/>
                          <a:cs typeface="Helvetica Neue"/>
                        </a:rPr>
                        <a:t>Listings kept</a:t>
                      </a:r>
                    </a:p>
                  </a:txBody>
                  <a:tcPr marL="91440" marR="91440" marT="45720" marB="45720">
                    <a:solidFill>
                      <a:srgbClr val="000000"/>
                    </a:solidFill>
                  </a:tcPr>
                </a:tc>
                <a:tc>
                  <a:txBody>
                    <a:bodyPr/>
                    <a:lstStyle/>
                    <a:p>
                      <a:r>
                        <a:rPr sz="1425" b="1">
                          <a:solidFill>
                            <a:srgbClr val="FFFFFF"/>
                          </a:solidFill>
                          <a:latin typeface="Helvetica Neue"/>
                          <a:ea typeface="Helvetica Neue"/>
                          <a:cs typeface="Helvetica Neue"/>
                        </a:rPr>
                        <a:t>Median months</a:t>
                      </a:r>
                    </a:p>
                  </a:txBody>
                  <a:tcPr marL="91440" marR="91440" marT="45720" marB="45720">
                    <a:solidFill>
                      <a:srgbClr val="000000"/>
                    </a:solidFill>
                  </a:tcPr>
                </a:tc>
                <a:tc>
                  <a:txBody>
                    <a:bodyPr/>
                    <a:lstStyle/>
                    <a:p>
                      <a:r>
                        <a:rPr sz="1425" b="1">
                          <a:solidFill>
                            <a:srgbClr val="FFFFFF"/>
                          </a:solidFill>
                          <a:latin typeface="Helvetica Neue"/>
                          <a:ea typeface="Helvetica Neue"/>
                          <a:cs typeface="Helvetica Neue"/>
                        </a:rPr>
                        <a:t>Transfer skill</a:t>
                      </a:r>
                    </a:p>
                  </a:txBody>
                  <a:tcPr marL="91440" marR="91440" marT="45720" marB="45720">
                    <a:solidFill>
                      <a:srgbClr val="000000"/>
                    </a:solidFill>
                  </a:tcPr>
                </a:tc>
              </a:tr>
              <a:tr h="433917">
                <a:tc>
                  <a:txBody>
                    <a:bodyPr/>
                    <a:lstStyle/>
                    <a:p>
                      <a:r>
                        <a:rPr sz="1575" b="0">
                          <a:solidFill>
                            <a:srgbClr val="FFFFFF"/>
                          </a:solidFill>
                          <a:latin typeface="Helvetica Neue"/>
                          <a:ea typeface="Helvetica Neue"/>
                          <a:cs typeface="Helvetica Neue"/>
                        </a:rPr>
                        <a:t>H3 res 7</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93.7%</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33</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−0.174</a:t>
                      </a:r>
                    </a:p>
                  </a:txBody>
                  <a:tcPr marL="91440" marR="91440" marT="45720" marB="45720">
                    <a:solidFill>
                      <a:srgbClr val="000000"/>
                    </a:solidFill>
                  </a:tcPr>
                </a:tc>
              </a:tr>
              <a:tr h="433917">
                <a:tc>
                  <a:txBody>
                    <a:bodyPr/>
                    <a:lstStyle/>
                    <a:p>
                      <a:r>
                        <a:rPr sz="1575" b="0">
                          <a:solidFill>
                            <a:srgbClr val="FFFFFF"/>
                          </a:solidFill>
                          <a:latin typeface="Helvetica Neue"/>
                          <a:ea typeface="Helvetica Neue"/>
                          <a:cs typeface="Helvetica Neue"/>
                        </a:rPr>
                        <a:t>H3 res 8</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62.6%</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5</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+0.139</a:t>
                      </a:r>
                    </a:p>
                  </a:txBody>
                  <a:tcPr marL="91440" marR="91440" marT="45720" marB="45720">
                    <a:solidFill>
                      <a:srgbClr val="000000"/>
                    </a:solidFill>
                  </a:tcPr>
                </a:tc>
              </a:tr>
              <a:tr h="433917">
                <a:tc>
                  <a:txBody>
                    <a:bodyPr/>
                    <a:lstStyle/>
                    <a:p>
                      <a:r>
                        <a:rPr sz="1575" b="0">
                          <a:solidFill>
                            <a:srgbClr val="FFFFFF"/>
                          </a:solidFill>
                          <a:latin typeface="Helvetica Neue"/>
                          <a:ea typeface="Helvetica Neue"/>
                          <a:cs typeface="Helvetica Neue"/>
                        </a:rPr>
                        <a:t>H3 res 9</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11.3%</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2</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−0.339</a:t>
                      </a:r>
                    </a:p>
                  </a:txBody>
                  <a:tcPr marL="91440" marR="91440" marT="45720" marB="45720">
                    <a:solidFill>
                      <a:srgbClr val="000000"/>
                    </a:solidFill>
                  </a:tcPr>
                </a:tc>
              </a:tr>
              <a:tr h="433917">
                <a:tc>
                  <a:txBody>
                    <a:bodyPr/>
                    <a:lstStyle/>
                    <a:p>
                      <a:r>
                        <a:rPr sz="1575" b="0">
                          <a:solidFill>
                            <a:srgbClr val="FFFFFF"/>
                          </a:solidFill>
                          <a:latin typeface="Helvetica Neue"/>
                          <a:ea typeface="Helvetica Neue"/>
                          <a:cs typeface="Helvetica Neue"/>
                        </a:rPr>
                        <a:t>KD-tree ~70</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46.1%</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9</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+0.189</a:t>
                      </a:r>
                    </a:p>
                  </a:txBody>
                  <a:tcPr marL="91440" marR="91440" marT="45720" marB="45720">
                    <a:solidFill>
                      <a:srgbClr val="000000"/>
                    </a:solidFill>
                  </a:tcPr>
                </a:tc>
              </a:tr>
              <a:tr h="433917">
                <a:tc>
                  <a:txBody>
                    <a:bodyPr/>
                    <a:lstStyle/>
                    <a:p>
                      <a:r>
                        <a:rPr sz="1575" b="0">
                          <a:solidFill>
                            <a:srgbClr val="FFFFFF"/>
                          </a:solidFill>
                          <a:latin typeface="Helvetica Neue"/>
                          <a:ea typeface="Helvetica Neue"/>
                          <a:cs typeface="Helvetica Neue"/>
                        </a:rPr>
                        <a:t>KD-tree ~140</a:t>
                      </a:r>
                    </a:p>
                  </a:txBody>
                  <a:tcPr marL="91440" marR="91440" marT="45720" marB="45720">
                    <a:solidFill>
                      <a:srgbClr val="123D4A"/>
                    </a:solidFill>
                  </a:tcPr>
                </a:tc>
                <a:tc>
                  <a:txBody>
                    <a:bodyPr/>
                    <a:lstStyle/>
                    <a:p>
                      <a:r>
                        <a:rPr sz="1575" b="0">
                          <a:solidFill>
                            <a:srgbClr val="FFFFFF"/>
                          </a:solidFill>
                          <a:latin typeface="Helvetica Neue"/>
                          <a:ea typeface="Helvetica Neue"/>
                          <a:cs typeface="Helvetica Neue"/>
                        </a:rPr>
                        <a:t>81.6%</a:t>
                      </a:r>
                    </a:p>
                  </a:txBody>
                  <a:tcPr marL="91440" marR="91440" marT="45720" marB="45720">
                    <a:solidFill>
                      <a:srgbClr val="123D4A"/>
                    </a:solidFill>
                  </a:tcPr>
                </a:tc>
                <a:tc>
                  <a:txBody>
                    <a:bodyPr/>
                    <a:lstStyle/>
                    <a:p>
                      <a:r>
                        <a:rPr sz="1575" b="0">
                          <a:solidFill>
                            <a:srgbClr val="FFFFFF"/>
                          </a:solidFill>
                          <a:latin typeface="Helvetica Neue"/>
                          <a:ea typeface="Helvetica Neue"/>
                          <a:cs typeface="Helvetica Neue"/>
                        </a:rPr>
                        <a:t>26</a:t>
                      </a:r>
                    </a:p>
                  </a:txBody>
                  <a:tcPr marL="91440" marR="91440" marT="45720" marB="45720">
                    <a:solidFill>
                      <a:srgbClr val="123D4A"/>
                    </a:solidFill>
                  </a:tcPr>
                </a:tc>
                <a:tc>
                  <a:txBody>
                    <a:bodyPr/>
                    <a:lstStyle/>
                    <a:p>
                      <a:r>
                        <a:rPr sz="1575" b="0">
                          <a:solidFill>
                            <a:srgbClr val="FFFFFF"/>
                          </a:solidFill>
                          <a:latin typeface="Helvetica Neue"/>
                          <a:ea typeface="Helvetica Neue"/>
                          <a:cs typeface="Helvetica Neue"/>
                        </a:rPr>
                        <a:t>+0.174</a:t>
                      </a:r>
                    </a:p>
                  </a:txBody>
                  <a:tcPr marL="91440" marR="91440" marT="45720" marB="45720">
                    <a:solidFill>
                      <a:srgbClr val="123D4A"/>
                    </a:solidFill>
                  </a:tcPr>
                </a:tc>
              </a:tr>
              <a:tr h="433917">
                <a:tc>
                  <a:txBody>
                    <a:bodyPr/>
                    <a:lstStyle/>
                    <a:p>
                      <a:r>
                        <a:rPr sz="1575" b="0">
                          <a:solidFill>
                            <a:srgbClr val="FFFFFF"/>
                          </a:solidFill>
                          <a:latin typeface="Helvetica Neue"/>
                          <a:ea typeface="Helvetica Neue"/>
                          <a:cs typeface="Helvetica Neue"/>
                        </a:rPr>
                        <a:t>KD-tree ~280</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98.5%</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42</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+0.159</a:t>
                      </a:r>
                    </a:p>
                  </a:txBody>
                  <a:tcPr marL="91440" marR="91440" marT="45720" marB="45720">
                    <a:solidFill>
                      <a:srgbClr val="000000"/>
                    </a:solidFill>
                  </a:tcPr>
                </a:tc>
              </a:tr>
              <a:tr h="433917">
                <a:tc>
                  <a:txBody>
                    <a:bodyPr/>
                    <a:lstStyle/>
                    <a:p>
                      <a:r>
                        <a:rPr sz="1575" b="0">
                          <a:solidFill>
                            <a:srgbClr val="FFFFFF"/>
                          </a:solidFill>
                          <a:latin typeface="Helvetica Neue"/>
                          <a:ea typeface="Helvetica Neue"/>
                          <a:cs typeface="Helvetica Neue"/>
                        </a:rPr>
                        <a:t>Market k=120</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98.0%</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42</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−3.601</a:t>
                      </a:r>
                    </a:p>
                  </a:txBody>
                  <a:tcPr marL="91440" marR="91440" marT="45720" marB="45720">
                    <a:solidFill>
                      <a:srgbClr val="000000"/>
                    </a:solidFill>
                  </a:tcPr>
                </a:tc>
              </a:tr>
              <a:tr h="433917">
                <a:tc>
                  <a:txBody>
                    <a:bodyPr/>
                    <a:lstStyle/>
                    <a:p>
                      <a:r>
                        <a:rPr sz="1575" b="0">
                          <a:solidFill>
                            <a:srgbClr val="FFFFFF"/>
                          </a:solidFill>
                          <a:latin typeface="Helvetica Neue"/>
                          <a:ea typeface="Helvetica Neue"/>
                          <a:cs typeface="Helvetica Neue"/>
                        </a:rPr>
                        <a:t>Market k=240</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94.8%</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14</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−0.608</a:t>
                      </a:r>
                    </a:p>
                  </a:txBody>
                  <a:tcPr marL="91440" marR="91440" marT="45720" marB="45720">
                    <a:solidFill>
                      <a:srgbClr val="000000"/>
                    </a:solidFill>
                  </a:tcPr>
                </a:tc>
              </a:tr>
            </a:tbl>
          </a:graphicData>
        </a:graphic>
      </p:graphicFrame>
    </p:spTree>
    <p:extLst>
      <p:ext uri="{BB962C8B-B14F-4D97-AF65-F5344CB8AC3E}">
        <p14:creationId xmlns:p14="http://schemas.microsoft.com/office/powerpoint/2010/main" val="32985487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lstStyle xmlns:a="http://schemas.openxmlformats.org/drawingml/2006/main"/>
          <a:p xmlns:a="http://schemas.openxmlformats.org/drawingml/2006/main">
            <a:r>
              <a:rPr sz="1000"/>
              <a:t>19</a:t>
            </a:r>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rPr sz="3000"/>
              <a:t>Appendix: evidence and reproducibility</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pPr>
            <a:r>
              <a:rPr sz="2400" b="0" i="0" u="none" cap="none" spc="0">
                <a:ln>
                  <a:noFill/>
                </a:ln>
                <a:latin typeface="Helvetica Neue"/>
                <a:ea typeface="Helvetica Neue"/>
                <a:cs typeface="Helvetica Neue"/>
              </a:rPr>
              <a:t>Recovery-based tests</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latin typeface="Helvetica Neue"/>
                <a:ea typeface="Helvetica Neue"/>
                <a:cs typeface="Helvetica Neue"/>
              </a:rPr>
              <a:t>Duplicate detection and DiD tests compare estimates with planted truth.</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pPr>
            <a:r>
              <a:rPr sz="2400" b="0" i="0" u="none" cap="none" spc="0">
                <a:ln>
                  <a:noFill/>
                </a:ln>
                <a:latin typeface="Helvetica Neue"/>
                <a:ea typeface="Helvetica Neue"/>
                <a:cs typeface="Helvetica Neue"/>
              </a:rPr>
              <a:t>Leakage checks</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latin typeface="Helvetica Neue"/>
                <a:ea typeface="Helvetica Neue"/>
                <a:cs typeface="Helvetica Neue"/>
              </a:rPr>
              <a:t>Tests cover future-price perturbations, geographic partitions and time splits.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2400">
                <a:latin typeface="Helvetica Neue"/>
                <a:ea typeface="Helvetica Neue"/>
                <a:cs typeface="Helvetica Neue"/>
              </a:rPr>
              <a:t>Documented benchmarks</a:t>
            </a:r>
          </a:p>
          <a:p xmlns:a="http://schemas.openxmlformats.org/drawingml/2006/main">
            <a:pPr marL="0" indent="0">
              <a:lnSpc>
                <a:spcPct val="100000"/>
              </a:lnSpc>
              <a:spcBef>
                <a:spcPts val="1300"/>
              </a:spcBef>
              <a:spcAft>
                <a:spcPts val="1300"/>
              </a:spcAft>
              <a:buFontTx/>
              <a:buNone/>
            </a:pPr>
            <a:r>
              <a:rPr sz="1800">
                <a:latin typeface="Helvetica Neue"/>
                <a:ea typeface="Helvetica Neue"/>
                <a:cs typeface="Helvetica Neue"/>
              </a:rPr>
              <a:t>Numerical results come from README.md. This checkout contains no saved run artifacts.</a:t>
            </a:r>
            <a:endParaRPr sz="1800">
              <a:latin typeface="Helvetica Neue"/>
              <a:ea typeface="Helvetica Neue"/>
              <a:cs typeface="Helvetica Neue"/>
            </a:endParaRP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2400">
                <a:latin typeface="Helvetica Neue"/>
                <a:ea typeface="Helvetica Neue"/>
                <a:cs typeface="Helvetica Neue"/>
              </a:rPr>
              <a:t>Current verification scope</a:t>
            </a:r>
          </a:p>
          <a:p xmlns:a="http://schemas.openxmlformats.org/drawingml/2006/main">
            <a:pPr marL="0" indent="0">
              <a:lnSpc>
                <a:spcPct val="100000"/>
              </a:lnSpc>
              <a:spcBef>
                <a:spcPts val="1300"/>
              </a:spcBef>
              <a:spcAft>
                <a:spcPts val="1300"/>
              </a:spcAft>
              <a:buFontTx/>
              <a:buNone/>
            </a:pPr>
            <a:r>
              <a:rPr sz="1800">
                <a:latin typeface="Helvetica Neue"/>
                <a:ea typeface="Helvetica Neue"/>
                <a:cs typeface="Helvetica Neue"/>
              </a:rPr>
              <a:t>Source and test inspection only. Dependencies needed to rerun the suite are absent.</a:t>
            </a:r>
            <a:endParaRPr sz="1800">
              <a:latin typeface="Helvetica Neue"/>
              <a:ea typeface="Helvetica Neue"/>
              <a:cs typeface="Helvetica Neue"/>
            </a:endParaRPr>
          </a:p>
        </p:txBody>
      </p:sp>
    </p:spTree>
    <p:extLst>
      <p:ext uri="{BB962C8B-B14F-4D97-AF65-F5344CB8AC3E}">
        <p14:creationId xmlns:p14="http://schemas.microsoft.com/office/powerpoint/2010/main" val="360145486"/>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2026-09-17T18:02:58.9370000Z</dcterms:created>
  <dcterms:modified xsi:type="dcterms:W3CDTF">2026-09-17T18:02:58.9370000Z</dcterms:modified>
</coreProperties>
</file>