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87977fba4f449b" /><Relationship Type="http://schemas.openxmlformats.org/officeDocument/2006/relationships/extended-properties" Target="/docProps/app.xml" Id="R4c31ccd66e5d4ecf" /><Relationship Type="http://schemas.openxmlformats.org/officeDocument/2006/relationships/officeDocument" Target="/ppt/presentation.xml" Id="R5c6f2f10202842df" /></Relationships>
</file>

<file path=ppt/presentation.xml><?xml version="1.0" encoding="utf-8"?>
<p:presentation xmlns:p="http://schemas.openxmlformats.org/presentationml/2006/main">
  <p:sldMasterIdLst>
    <p:sldMasterId xmlns:r="http://schemas.openxmlformats.org/officeDocument/2006/relationships" id="2147483648" r:id="R1b042269aa17440d"/>
  </p:sldMasterIdLst>
  <p:notesMasterIdLst>
    <p:notesMasterId xmlns:r="http://schemas.openxmlformats.org/officeDocument/2006/relationships" r:id="Ra3f4ec5085144bd4"/>
  </p:notesMasterIdLst>
  <p:sldIdLst>
    <p:sldId xmlns:r="http://schemas.openxmlformats.org/officeDocument/2006/relationships" id="256" r:id="Rf8997124c92e4497"/>
    <p:sldId xmlns:r="http://schemas.openxmlformats.org/officeDocument/2006/relationships" id="257" r:id="R8fd20e9a0024479e"/>
    <p:sldId xmlns:r="http://schemas.openxmlformats.org/officeDocument/2006/relationships" id="258" r:id="Rae2afe6b467a420f"/>
    <p:sldId xmlns:r="http://schemas.openxmlformats.org/officeDocument/2006/relationships" id="259" r:id="R99a60067aaf24090"/>
    <p:sldId xmlns:r="http://schemas.openxmlformats.org/officeDocument/2006/relationships" id="260" r:id="Rf34a010f6e524a09"/>
    <p:sldId xmlns:r="http://schemas.openxmlformats.org/officeDocument/2006/relationships" id="261" r:id="Rf9c9d897cffc48ab"/>
    <p:sldId xmlns:r="http://schemas.openxmlformats.org/officeDocument/2006/relationships" id="262" r:id="R78c0c34606074ab6"/>
    <p:sldId xmlns:r="http://schemas.openxmlformats.org/officeDocument/2006/relationships" id="263" r:id="Rff8cd97675214963"/>
    <p:sldId xmlns:r="http://schemas.openxmlformats.org/officeDocument/2006/relationships" id="264" r:id="Rbebbdcc34079402d"/>
    <p:sldId xmlns:r="http://schemas.openxmlformats.org/officeDocument/2006/relationships" id="265" r:id="Rcb25789cd8244475"/>
    <p:sldId xmlns:r="http://schemas.openxmlformats.org/officeDocument/2006/relationships" id="266" r:id="R525ea7586e2d45f2"/>
    <p:sldId xmlns:r="http://schemas.openxmlformats.org/officeDocument/2006/relationships" id="267" r:id="R1bf030d30f2043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bddffa25b4ff9" /><Relationship Type="http://schemas.openxmlformats.org/officeDocument/2006/relationships/slideMaster" Target="/ppt/slideMasters/slideMaster1.xml" Id="R1b042269aa17440d" /><Relationship Type="http://schemas.openxmlformats.org/officeDocument/2006/relationships/notesMaster" Target="/ppt/notesMasters/notesMaster1.xml" Id="Ra3f4ec5085144bd4" /><Relationship Type="http://schemas.openxmlformats.org/officeDocument/2006/relationships/presProps" Target="/ppt/presProps.xml" Id="R47ff62a450ce4395" /><Relationship Type="http://schemas.openxmlformats.org/officeDocument/2006/relationships/tableStyles" Target="/ppt/tableStyles.xml" Id="Rf44de199868e4372" /><Relationship Type="http://schemas.openxmlformats.org/officeDocument/2006/relationships/slide" Target="/ppt/slides/slide1.xml" Id="Rf8997124c92e4497" /><Relationship Type="http://schemas.openxmlformats.org/officeDocument/2006/relationships/slide" Target="/ppt/slides/slide2.xml" Id="R8fd20e9a0024479e" /><Relationship Type="http://schemas.openxmlformats.org/officeDocument/2006/relationships/slide" Target="/ppt/slides/slide3.xml" Id="Rae2afe6b467a420f" /><Relationship Type="http://schemas.openxmlformats.org/officeDocument/2006/relationships/slide" Target="/ppt/slides/slide4.xml" Id="R99a60067aaf24090" /><Relationship Type="http://schemas.openxmlformats.org/officeDocument/2006/relationships/slide" Target="/ppt/slides/slide5.xml" Id="Rf34a010f6e524a09" /><Relationship Type="http://schemas.openxmlformats.org/officeDocument/2006/relationships/slide" Target="/ppt/slides/slide6.xml" Id="Rf9c9d897cffc48ab" /><Relationship Type="http://schemas.openxmlformats.org/officeDocument/2006/relationships/slide" Target="/ppt/slides/slide7.xml" Id="R78c0c34606074ab6" /><Relationship Type="http://schemas.openxmlformats.org/officeDocument/2006/relationships/slide" Target="/ppt/slides/slide8.xml" Id="Rff8cd97675214963" /><Relationship Type="http://schemas.openxmlformats.org/officeDocument/2006/relationships/slide" Target="/ppt/slides/slide9.xml" Id="Rbebbdcc34079402d" /><Relationship Type="http://schemas.openxmlformats.org/officeDocument/2006/relationships/slide" Target="/ppt/slides/slide10.xml" Id="Rcb25789cd8244475" /><Relationship Type="http://schemas.openxmlformats.org/officeDocument/2006/relationships/slide" Target="/ppt/slides/slide11.xml" Id="R525ea7586e2d45f2" /><Relationship Type="http://schemas.openxmlformats.org/officeDocument/2006/relationships/slide" Target="/ppt/slides/slide12.xml" Id="R1bf030d30f2043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2672d5113c4c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1b7b9acc594662" /><Relationship Type="http://schemas.openxmlformats.org/officeDocument/2006/relationships/notesMaster" Target="/ppt/notesMasters/notesMaster1.xml" Id="Re14507560c2f4d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8685b11422471b" /><Relationship Type="http://schemas.openxmlformats.org/officeDocument/2006/relationships/notesMaster" Target="/ppt/notesMasters/notesMaster1.xml" Id="Ra675f2494399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75cc196cd4b10" /><Relationship Type="http://schemas.openxmlformats.org/officeDocument/2006/relationships/notesMaster" Target="/ppt/notesMasters/notesMaster1.xml" Id="R038be905d05345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e0f0711999423f" /><Relationship Type="http://schemas.openxmlformats.org/officeDocument/2006/relationships/notesMaster" Target="/ppt/notesMasters/notesMaster1.xml" Id="R82ecad0bf41346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53534768aa4253" /><Relationship Type="http://schemas.openxmlformats.org/officeDocument/2006/relationships/notesMaster" Target="/ppt/notesMasters/notesMaster1.xml" Id="R7ce2ad051d1745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b2249c30de44b4" /><Relationship Type="http://schemas.openxmlformats.org/officeDocument/2006/relationships/notesMaster" Target="/ppt/notesMasters/notesMaster1.xml" Id="R2bc5c86f0df341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fe57ad49da4cea" /><Relationship Type="http://schemas.openxmlformats.org/officeDocument/2006/relationships/notesMaster" Target="/ppt/notesMasters/notesMaster1.xml" Id="R68bc48644c3840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0c0d11bd9c4dda" /><Relationship Type="http://schemas.openxmlformats.org/officeDocument/2006/relationships/notesMaster" Target="/ppt/notesMasters/notesMaster1.xml" Id="Ra23b40e6305d44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259286d9184f8b" /><Relationship Type="http://schemas.openxmlformats.org/officeDocument/2006/relationships/notesMaster" Target="/ppt/notesMasters/notesMaster1.xml" Id="R6e4c542ba2f648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1a6bf4d79c4b19" /><Relationship Type="http://schemas.openxmlformats.org/officeDocument/2006/relationships/notesMaster" Target="/ppt/notesMasters/notesMaster1.xml" Id="Rb37b16da0df445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bb4c23429140da" /><Relationship Type="http://schemas.openxmlformats.org/officeDocument/2006/relationships/notesMaster" Target="/ppt/notesMasters/notesMaster1.xml" Id="R78e66e1d35504c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394ebce1c24665" /><Relationship Type="http://schemas.openxmlformats.org/officeDocument/2006/relationships/notesMaster" Target="/ppt/notesMasters/notesMaster1.xml" Id="Rfd14834482ff40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connects asking prices, geography, infrastructure and time to explore future urban market potential. This is the purpose, not a claim of a validated urban-expansion model. Cover is an AI-generated conceptual Baku illustration, not a geographic map or photograph. Sources: README.md; bakuml/pipeline.py; bakuml/config.py.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generated from the project’s hex_layer_geojson helper and the fresh H3 artifacts. Each cell uses its latest available observed synthetic median asking price; this is not a simultaneous real-market snapshot. Colour limits use the 5th and 95th percentiles, with outliers saturated. Basemap attribution remains visible. Sources: research-h3/panel.parquet, predictions.parquet, cell_geometry.geojson; bakuml/viz.py.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counts are fresh run metrics, not README estimates. 35,195 deduplicated records remain; the minimum cell-month count is three. The feature matrix contains 3,953 rows after history availability constraints. Source: research-kdtree/metrics.json dataset.</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{"mae":211.9352308491179,"mape":8.118925352259827,"r2":0.8073786194554667} versus persistence {"mae":264.27424507658645,"mape":10.170313926776107,"r2":0.7038476938521243} across 25 splits. Spatial: {"mae":207.55560670520217,"mape":8.397496197872881,"r2":0.8113765353645102} versus {"mae":253.2630913230458,"mape":10.111507490561355,"r2":0.716211851639923} across 5 folds. Percent improvement uses unrounded MAE. Spatial evaluation omits neighbour encoding but retains own-cell price history, so this is not prediction in locations with no history. These metrics do not validate the 12/24-month forecast. Sources: metrics.json; bakuml/models/baseline.py.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largest mean absolute TreeSHAP contributions come directly from shap_summary.json. City-centre distance dominates, followed by neighbour prices and time. This is consistent with the synthetic generator’s planted spatial gradient, not independent proof of a real-world mechanism. Source: research-kdtree/shap_summary.json; bakuml/models/baseline.py; bakuml/data/synthetic.py.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ATT 0.06749224093078372; 95% CI [0.057763749390372834, 0.07722073247119461] log units. Do not confuse the planted fully ramped .08 with the approximate average post-opening .075 effect. Treated listings within 1 km, controls 2–6 km away. Cell and month fixed effects; clustered errors. Planted ramp lasts three months; see synthetic_truth.json. Source: research-kdtree/did_results.json; bakuml/causal/did.py. No real station causal conclusion is being made.</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is generated from actual H3 scenario predictions, not a hand-painted map. The polycentric scenario doubles the estimated historical node-gravity appreciation slope. The pipeline here used SpatialLagRidgeForecaster because torch is not installed. These are conditional projections, not validated future market outcomes or a forecast of physical city expansion. Source: research-h3/predictions.parquet and metrics.json;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Cell kd:10010011, centroid 40.37937125, 49.849948999999995, latest observed month 2026-08. Chosen as nearest eligible cell to the configured centre, not by forecast growth. Last observed 3813.2. All six q50 endpoints plotted directly from predictions.parquet. Ridge fallback, no new claim of STGCN performance. Forecast intervals scale one-month relative conformal widths by square root of horizon; long-horizon coverage is not established. Source: evidence.json example;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Flask application screenshot. A local capture wrapper serves research-h3 artifacts, adds a visible synthetic-demo banner, and converts the API’s RGBA palette arrays to CSS hex colours so the map renders. No production app source was changed. The screenshot illustrates current interaction, not a live deployed real-data product. Sources: app/flask_app.py; app/static/js/map.js; .presentation-build/demo_server.py.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74.64285714285714% versus80%, gap 5.357142857142861 percentage points. Six preceding calibration months and three held-out months. This updates the old README figure rather than repeating it. One-month interval coverage and long-horizon heuristic widths must not be conflated. Sources: metrics.json conformal; bakuml/models/conformal.py; bakuml/pipeline.py.</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are scoped to this synthetic research run: geography is a major fitted signal, XGBoost outperforms persistence in time and spatial tests, and the scenario engine produces explicit conditional futures. The real snapshot pipeline is separate and uses heuristic appreciation. To make credible real-market forecasting claims, collect repeated snapshots, compute neighbour features within folds, separate calibration and evaluation, and test each long horizon. Sources: pipeline.py; scripts/run_real_pipeline.py; metrics.json.</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reproduced from README.md. The central contribution is a spatial research pipeline, scenario outputs and an interface to explore them. Avoid describing this as a validated prediction of city land growth or investment returns.</a:t>
            </a:r>
          </a:p>
          <a:p xmlns:a="http://schemas.openxmlformats.org/drawingml/2006/main">
            <a:r>
              <a:t/>
            </a:r>
          </a:p>
          <a:p xmlns:a="http://schemas.openxmlformats.org/drawingml/2006/main">
            <a:r>
              <a:t>Evidence: fresh full synthetic pipeline run, seed 20243, 18 September 2026. Artifacts in .presentation-build/research-kdtree unless stated otherwise. No live-market forecast accuracy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597dc51d04e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cf03b3bf54413a" /><Relationship Type="http://schemas.openxmlformats.org/officeDocument/2006/relationships/slideLayout" Target="/ppt/slideLayouts/slideLayout1.xml" Id="R06d77fb96dcc47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d77fb96dcc47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a0911552bb482b" /><Relationship Type="http://schemas.openxmlformats.org/officeDocument/2006/relationships/image" Target="/ppt/media/image.png" Id="R56965841db014fb8" /><Relationship Type="http://schemas.openxmlformats.org/officeDocument/2006/relationships/notesSlide" Target="/ppt/notesSlides/notesSlide1.xml" Id="Rfb95e7a1ccb040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de0b705bf24d0d" /><Relationship Type="http://schemas.openxmlformats.org/officeDocument/2006/relationships/image" Target="/ppt/media/image.jpeg" Id="Rcb0e8e9a5e9240e8" /><Relationship Type="http://schemas.openxmlformats.org/officeDocument/2006/relationships/notesSlide" Target="/ppt/notesSlides/notesSlide2.xml" Id="R340ac905b1814b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e84534e50a4a7b" /><Relationship Type="http://schemas.openxmlformats.org/officeDocument/2006/relationships/notesSlide" Target="/ppt/notesSlides/notesSlide3.xml" Id="R6763d33c01a84c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cbd7ef49eb41ca" /><Relationship Type="http://schemas.openxmlformats.org/officeDocument/2006/relationships/chart" Target="/ppt/slides/charts/chart1.xml" Id="Rd59fafae9ae14533" /><Relationship Type="http://schemas.openxmlformats.org/officeDocument/2006/relationships/notesSlide" Target="/ppt/notesSlides/notesSlide4.xml" Id="R593fc0c470e544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937252c4ee4a2c" /><Relationship Type="http://schemas.openxmlformats.org/officeDocument/2006/relationships/chart" Target="/ppt/slides/charts/chart2.xml" Id="R83baba2005404cb2" /><Relationship Type="http://schemas.openxmlformats.org/officeDocument/2006/relationships/notesSlide" Target="/ppt/notesSlides/notesSlide5.xml" Id="Rc64d32bde8544b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5d79f47fc6415f" /><Relationship Type="http://schemas.openxmlformats.org/officeDocument/2006/relationships/notesSlide" Target="/ppt/notesSlides/notesSlide6.xml" Id="R2f1a38036cb843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7578e3497143ab" /><Relationship Type="http://schemas.openxmlformats.org/officeDocument/2006/relationships/image" Target="/ppt/media/image2.jpeg" Id="R9a303747cdc44279" /><Relationship Type="http://schemas.openxmlformats.org/officeDocument/2006/relationships/notesSlide" Target="/ppt/notesSlides/notesSlide7.xml" Id="Rd13e57cab58347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0ece99d1034d74" /><Relationship Type="http://schemas.openxmlformats.org/officeDocument/2006/relationships/chart" Target="/ppt/slides/charts/chart3.xml" Id="Rc9221c65430c4ab0" /><Relationship Type="http://schemas.openxmlformats.org/officeDocument/2006/relationships/notesSlide" Target="/ppt/notesSlides/notesSlide8.xml" Id="Rcf94b385402e4f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1c5f85d5c84cbc" /><Relationship Type="http://schemas.openxmlformats.org/officeDocument/2006/relationships/image" Target="/ppt/media/image3.jpeg" Id="Re67238ffb4cf4d50" /><Relationship Type="http://schemas.openxmlformats.org/officeDocument/2006/relationships/notesSlide" Target="/ppt/notesSlides/notesSlide9.xml" Id="Rd55ec09cdaf34e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87a189f9b64415" /><Relationship Type="http://schemas.openxmlformats.org/officeDocument/2006/relationships/chart" Target="/ppt/slides/charts/chart4.xml" Id="R254d9895de864d65" /><Relationship Type="http://schemas.openxmlformats.org/officeDocument/2006/relationships/notesSlide" Target="/ppt/notesSlides/notesSlide10.xml" Id="Rd0a1ebab802343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0fd5435616404d" /><Relationship Type="http://schemas.openxmlformats.org/officeDocument/2006/relationships/notesSlide" Target="/ppt/notesSlides/notesSlide11.xml" Id="R955221dbbff049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e4c9d6eb8f45dc" /><Relationship Type="http://schemas.openxmlformats.org/officeDocument/2006/relationships/notesSlide" Target="/ppt/notesSlides/notesSlide12.xml" Id="R807429652b8c42d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Persistence</c:v>
          </c:tx>
          <c:spPr>
            <a:solidFill xmlns:a="http://schemas.openxmlformats.org/drawingml/2006/main">
              <a:srgbClr val="AAC2BF"/>
            </a:solidFill>
          </c:spPr>
          <c:cat>
            <c:strRef>
              <c:f>'Chart Data'!$A$2:$A$3</c:f>
              <c:strCache>
                <c:ptCount val="2"/>
                <c:pt idx="0">
                  <c:v>Future months</c:v>
                </c:pt>
                <c:pt idx="1">
                  <c:v>Held-out regions</c:v>
                </c:pt>
              </c:strCache>
            </c:strRef>
          </c:cat>
          <c:val>
            <c:numRef>
              <c:f>'Chart Data'!$B$2:$B$3</c:f>
              <c:numCache>
                <c:formatCode>General</c:formatCode>
                <c:ptCount val="2"/>
                <c:pt idx="0">
                  <c:v>264</c:v>
                </c:pt>
                <c:pt idx="1">
                  <c:v>253</c:v>
                </c:pt>
              </c:numCache>
            </c:numRef>
          </c:val>
        </c:ser>
        <c:ser>
          <c:idx val="1"/>
          <c:order val="1"/>
          <c:tx>
            <c:v>XGBoost</c:v>
          </c:tx>
          <c:spPr>
            <a:solidFill xmlns:a="http://schemas.openxmlformats.org/drawingml/2006/main">
              <a:srgbClr val="138C85"/>
            </a:solidFill>
          </c:spPr>
          <c:cat>
            <c:strRef>
              <c:f>'Chart Data'!$C$2:$C$3</c:f>
              <c:strCache>
                <c:ptCount val="2"/>
                <c:pt idx="0">
                  <c:v>Future months</c:v>
                </c:pt>
                <c:pt idx="1">
                  <c:v>Held-out regions</c:v>
                </c:pt>
              </c:strCache>
            </c:strRef>
          </c:cat>
          <c:val>
            <c:numRef>
              <c:f>'Chart Data'!$D$2:$D$3</c:f>
              <c:numCache>
                <c:formatCode>General</c:formatCode>
                <c:ptCount val="2"/>
                <c:pt idx="0">
                  <c:v>212</c:v>
                </c:pt>
                <c:pt idx="1">
                  <c:v>208</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MAE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legend>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SHAP</c:v>
          </c:tx>
          <c:spPr>
            <a:solidFill xmlns:a="http://schemas.openxmlformats.org/drawingml/2006/main">
              <a:srgbClr val="138C85"/>
            </a:solidFill>
          </c:spPr>
          <c:cat>
            <c:strRef>
              <c:f>'Chart Data'!$A$2:$A$6</c:f>
              <c:strCache>
                <c:ptCount val="5"/>
                <c:pt idx="0">
                  <c:v>City-centre distance</c:v>
                </c:pt>
                <c:pt idx="1">
                  <c:v>Neighbour prices</c:v>
                </c:pt>
                <c:pt idx="2">
                  <c:v>Time trend</c:v>
                </c:pt>
                <c:pt idx="3">
                  <c:v>Metro distance</c:v>
                </c:pt>
                <c:pt idx="4">
                  <c:v>Last own-cell price</c:v>
                </c:pt>
              </c:strCache>
            </c:strRef>
          </c:cat>
          <c:val>
            <c:numRef>
              <c:f>'Chart Data'!$B$2:$B$6</c:f>
              <c:numCache>
                <c:formatCode>General</c:formatCode>
                <c:ptCount val="5"/>
                <c:pt idx="0">
                  <c:v>306</c:v>
                </c:pt>
                <c:pt idx="1">
                  <c:v>119</c:v>
                </c:pt>
                <c:pt idx="2">
                  <c:v>104</c:v>
                </c:pt>
                <c:pt idx="3">
                  <c:v>30</c:v>
                </c:pt>
                <c:pt idx="4">
                  <c:v>26</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360"/>
          <c:min val="0"/>
        </c:scaling>
        <c:delete val="0"/>
        <c:axPos val="b"/>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Mean |SHAP|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138C85"/>
            </a:solidFill>
          </c:spPr>
          <c:cat>
            <c:strRef>
              <c:f>'Chart Data'!$A$2:$A$3</c:f>
              <c:strCache>
                <c:ptCount val="2"/>
                <c:pt idx="0">
                  <c:v>12 months</c:v>
                </c:pt>
                <c:pt idx="1">
                  <c:v>24 months</c:v>
                </c:pt>
              </c:strCache>
            </c:strRef>
          </c:cat>
          <c:val>
            <c:numRef>
              <c:f>'Chart Data'!$B$2:$B$3</c:f>
              <c:numCache>
                <c:formatCode>General</c:formatCode>
                <c:ptCount val="2"/>
                <c:pt idx="0">
                  <c:v>3596</c:v>
                </c:pt>
                <c:pt idx="1">
                  <c:v>3553</c:v>
                </c:pt>
              </c:numCache>
            </c:numRef>
          </c:val>
        </c:ser>
        <c:ser>
          <c:idx val="1"/>
          <c:order val="1"/>
          <c:tx>
            <c:v>Polycentric</c:v>
          </c:tx>
          <c:spPr>
            <a:solidFill xmlns:a="http://schemas.openxmlformats.org/drawingml/2006/main">
              <a:srgbClr val="DE775A"/>
            </a:solidFill>
          </c:spPr>
          <c:cat>
            <c:strRef>
              <c:f>'Chart Data'!$C$2:$C$3</c:f>
              <c:strCache>
                <c:ptCount val="2"/>
                <c:pt idx="0">
                  <c:v>12 months</c:v>
                </c:pt>
                <c:pt idx="1">
                  <c:v>24 months</c:v>
                </c:pt>
              </c:strCache>
            </c:strRef>
          </c:cat>
          <c:val>
            <c:numRef>
              <c:f>'Chart Data'!$D$2:$D$3</c:f>
              <c:numCache>
                <c:formatCode>General</c:formatCode>
                <c:ptCount val="2"/>
                <c:pt idx="0">
                  <c:v>3620</c:v>
                </c:pt>
                <c:pt idx="1">
                  <c:v>3600</c:v>
                </c:pt>
              </c:numCache>
            </c:numRef>
          </c:val>
        </c:ser>
        <c:ser>
          <c:idx val="2"/>
          <c:order val="2"/>
          <c:tx>
            <c:v>Transit</c:v>
          </c:tx>
          <c:spPr>
            <a:solidFill xmlns:a="http://schemas.openxmlformats.org/drawingml/2006/main">
              <a:srgbClr val="80A8BE"/>
            </a:solidFill>
          </c:spPr>
          <c:cat>
            <c:strRef>
              <c:f>'Chart Data'!$E$2:$E$3</c:f>
              <c:strCache>
                <c:ptCount val="2"/>
                <c:pt idx="0">
                  <c:v>12 months</c:v>
                </c:pt>
                <c:pt idx="1">
                  <c:v>24 months</c:v>
                </c:pt>
              </c:strCache>
            </c:strRef>
          </c:cat>
          <c:val>
            <c:numRef>
              <c:f>'Chart Data'!$F$2:$F$3</c:f>
              <c:numCache>
                <c:formatCode>General</c:formatCode>
                <c:ptCount val="2"/>
                <c:pt idx="0">
                  <c:v>3608</c:v>
                </c:pt>
                <c:pt idx="1">
                  <c:v>3577</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400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Projected asking price (AZN/m²)</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legend>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Coverage</c:v>
          </c:tx>
          <c:spPr>
            <a:solidFill xmlns:a="http://schemas.openxmlformats.org/drawingml/2006/main">
              <a:srgbClr val="138C85"/>
            </a:solidFill>
          </c:spPr>
          <c:cat>
            <c:strRef>
              <c:f>'Chart Data'!$A$2:$A$3</c:f>
              <c:strCache>
                <c:ptCount val="2"/>
                <c:pt idx="0">
                  <c:v>80% target</c:v>
                </c:pt>
                <c:pt idx="1">
                  <c:v>Observed</c:v>
                </c:pt>
              </c:strCache>
            </c:strRef>
          </c:cat>
          <c:val>
            <c:numRef>
              <c:f>'Chart Data'!$B$2:$B$3</c:f>
              <c:numCache>
                <c:formatCode>General</c:formatCode>
                <c:ptCount val="2"/>
                <c:pt idx="0">
                  <c:v>80</c:v>
                </c:pt>
                <c:pt idx="1">
                  <c:v>74.6</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23C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3C4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5715">
              <a:solidFill>
                <a:srgbClr val="D2DDDA"/>
              </a:solidFill>
            </a:ln>
          </c:spPr>
        </c:majorGridlines>
        <c:title>
          <c:tx>
            <c:rich>
              <a:bodyPr xmlns:a="http://schemas.openxmlformats.org/drawingml/2006/main"/>
              <a:lstStyle xmlns:a="http://schemas.openxmlformats.org/drawingml/2006/main"/>
              <a:p xmlns:a="http://schemas.openxmlformats.org/drawingml/2006/main">
                <a:r>
                  <a:rPr sz="1200">
                    <a:solidFill>
                      <a:srgbClr val="123C43"/>
                    </a:solidFill>
                    <a:latin typeface="Arial"/>
                    <a:ea typeface="Arial"/>
                    <a:cs typeface="Arial"/>
                  </a:rPr>
                  <a:t>Coverage (%)</a:t>
                </a:r>
              </a:p>
            </c:rich>
          </c:tx>
          <c:overlay val="0"/>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23C43"/>
                </a:solidFill>
                <a:latin typeface="Arial"/>
                <a:ea typeface="Arial"/>
                <a:cs typeface="Arial"/>
              </a:defRPr>
            </a:pPr>
          </a:p>
        </c:txPr>
        <c:crossAx val="48650112"/>
        <c:crossBetween val="between"/>
      </c:valAx>
      <c:spPr>
        <a:solidFill xmlns:a="http://schemas.openxmlformats.org/drawingml/2006/main">
          <a:srgbClr val="F5F2EB"/>
        </a:solidFill>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6965841db014fb8"/>
          <a:srcRect xmlns:a="http://schemas.openxmlformats.org/drawingml/2006/main" l="0" t="11600" r="0" b="1160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D00CA8-A2A0-4820-AF72-22A895734D44}"/>
              </a:ext>
            </a:extLst>
          </p:cNvPr>
          <p:cNvSpPr>
            <a:spLocks xmlns:a="http://schemas.openxmlformats.org/drawingml/2006/main" noGrp="1"/>
          </p:cNvSpPr>
          <p:nvPr/>
        </p:nvSpPr>
        <p:spPr>
          <a:xfrm xmlns:a="http://schemas.openxmlformats.org/drawingml/2006/main">
            <a:off x="571500" y="5238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8C85"/>
                </a:solidFill>
                <a:latin typeface="Arial"/>
                <a:ea typeface="Arial"/>
                <a:cs typeface="Arial"/>
              </a:defRPr>
            </a:pPr>
            <a:r>
              <a:rPr sz="2100" b="1">
                <a:solidFill>
                  <a:srgbClr val="138C85"/>
                </a:solidFill>
                <a:latin typeface="Arial"/>
                <a:ea typeface="Arial"/>
                <a:cs typeface="Arial"/>
              </a:rPr>
              <a:t>BakuML</a:t>
            </a:r>
          </a:p>
        </p:txBody>
      </p:sp>
      <p:sp>
        <p:nvSpPr>
          <p:cNvPr id="3" name="">
            <a:extLst xmlns:a="http://schemas.openxmlformats.org/drawingml/2006/main">
              <a:ext uri="{FF2B5EF4-FFF2-40B4-BE49-F238E27FC236}">
                <a16:creationId xmlns:a16="http://schemas.microsoft.com/office/drawing/2014/main" id="{EF4266F7-ACCB-4970-B8C6-2ED9BA362A6F}"/>
              </a:ext>
            </a:extLst>
          </p:cNvPr>
          <p:cNvSpPr>
            <a:spLocks xmlns:a="http://schemas.openxmlformats.org/drawingml/2006/main" noGrp="1"/>
          </p:cNvSpPr>
          <p:nvPr/>
        </p:nvSpPr>
        <p:spPr>
          <a:xfrm xmlns:a="http://schemas.openxmlformats.org/drawingml/2006/main">
            <a:off x="552450" y="1619250"/>
            <a:ext cx="5762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23C43"/>
                </a:solidFill>
                <a:latin typeface="Arial"/>
                <a:ea typeface="Arial"/>
                <a:cs typeface="Arial"/>
              </a:defRPr>
            </a:pPr>
            <a:r>
              <a:rPr sz="4350" b="1">
                <a:solidFill>
                  <a:srgbClr val="123C43"/>
                </a:solidFill>
                <a:latin typeface="Arial"/>
                <a:ea typeface="Arial"/>
                <a:cs typeface="Arial"/>
              </a:rPr>
              <a:t>Where might</a:t>
            </a:r>
          </a:p>
          <a:p xmlns:a="http://schemas.openxmlformats.org/drawingml/2006/main">
            <a:pPr>
              <a:defRPr sz="4350" b="1">
                <a:solidFill>
                  <a:srgbClr val="123C43"/>
                </a:solidFill>
                <a:latin typeface="Arial"/>
                <a:ea typeface="Arial"/>
                <a:cs typeface="Arial"/>
              </a:defRPr>
            </a:pPr>
            <a:r>
              <a:rPr sz="4350" b="1">
                <a:solidFill>
                  <a:srgbClr val="123C43"/>
                </a:solidFill>
                <a:latin typeface="Arial"/>
                <a:ea typeface="Arial"/>
                <a:cs typeface="Arial"/>
              </a:rPr>
              <a:t>Baku grow next?</a:t>
            </a:r>
          </a:p>
        </p:txBody>
      </p:sp>
      <p:sp>
        <p:nvSpPr>
          <p:cNvPr id="4" name="">
            <a:extLst xmlns:a="http://schemas.openxmlformats.org/drawingml/2006/main">
              <a:ext uri="{FF2B5EF4-FFF2-40B4-BE49-F238E27FC236}">
                <a16:creationId xmlns:a16="http://schemas.microsoft.com/office/drawing/2014/main" id="{CB7F3E79-5C0A-47C0-9528-0CB43699CD4A}"/>
              </a:ext>
            </a:extLst>
          </p:cNvPr>
          <p:cNvSpPr>
            <a:spLocks xmlns:a="http://schemas.openxmlformats.org/drawingml/2006/main" noGrp="1"/>
          </p:cNvSpPr>
          <p:nvPr/>
        </p:nvSpPr>
        <p:spPr>
          <a:xfrm xmlns:a="http://schemas.openxmlformats.org/drawingml/2006/main">
            <a:off x="590550" y="4067175"/>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Mapping urban potential through</a:t>
            </a:r>
          </a:p>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12- and 24-month real estate</a:t>
            </a:r>
          </a:p>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price scenarios.</a:t>
            </a:r>
          </a:p>
        </p:txBody>
      </p:sp>
      <p:sp>
        <p:nvSpPr>
          <p:cNvPr id="5" name="">
            <a:extLst xmlns:a="http://schemas.openxmlformats.org/drawingml/2006/main">
              <a:ext uri="{FF2B5EF4-FFF2-40B4-BE49-F238E27FC236}">
                <a16:creationId xmlns:a16="http://schemas.microsoft.com/office/drawing/2014/main" id="{E2CB1F0B-01F0-4E22-B119-2E1811CF40D2}"/>
              </a:ext>
            </a:extLst>
          </p:cNvPr>
          <p:cNvSpPr>
            <a:spLocks xmlns:a="http://schemas.openxmlformats.org/drawingml/2006/main" noGrp="1"/>
          </p:cNvSpPr>
          <p:nvPr/>
        </p:nvSpPr>
        <p:spPr>
          <a:xfrm xmlns:a="http://schemas.openxmlformats.org/drawingml/2006/main">
            <a:off x="590550" y="60769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07879"/>
                </a:solidFill>
                <a:latin typeface="Arial"/>
                <a:ea typeface="Arial"/>
                <a:cs typeface="Arial"/>
              </a:defRPr>
            </a:pPr>
            <a:r>
              <a:rPr sz="1425" b="0">
                <a:solidFill>
                  <a:srgbClr val="607879"/>
                </a:solidFill>
                <a:latin typeface="Arial"/>
                <a:ea typeface="Arial"/>
                <a:cs typeface="Arial"/>
              </a:rPr>
              <a:t>Holberton School · Group 3</a:t>
            </a:r>
          </a:p>
        </p:txBody>
      </p:sp>
    </p:spTree>
    <p:extLst>
      <p:ext uri="{BB962C8B-B14F-4D97-AF65-F5344CB8AC3E}">
        <p14:creationId xmlns:p14="http://schemas.microsoft.com/office/powerpoint/2010/main" val="73140865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DB03B8-218C-4792-9252-282E61E3CA49}"/>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A city of different price patterns</a:t>
            </a:r>
          </a:p>
        </p:txBody>
      </p:sp>
      <p:sp>
        <p:nvSpPr>
          <p:cNvPr id="2" name="">
            <a:extLst xmlns:a="http://schemas.openxmlformats.org/drawingml/2006/main">
              <a:ext uri="{FF2B5EF4-FFF2-40B4-BE49-F238E27FC236}">
                <a16:creationId xmlns:a16="http://schemas.microsoft.com/office/drawing/2014/main" id="{F2B3CD7E-1B40-45CE-B442-B8F1A8802A9C}"/>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Baku &amp; Absheron · latest available synthetic median asking prices, AZN/m²</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b0e8e9a5e9240e8"/>
          <a:stretch xmlns:a="http://schemas.openxmlformats.org/drawingml/2006/main"/>
        </p:blipFill>
        <p:spPr>
          <a:xfrm xmlns:a="http://schemas.openxmlformats.org/drawingml/2006/main">
            <a:off x="1687593" y="1714500"/>
            <a:ext cx="8816814"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719594-B671-4A88-ABB0-B83781849C06}"/>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H3 resolution 8 · cells with usable data · cell observation dates can differ</a:t>
            </a:r>
          </a:p>
        </p:txBody>
      </p:sp>
    </p:spTree>
    <p:extLst>
      <p:ext uri="{BB962C8B-B14F-4D97-AF65-F5344CB8AC3E}">
        <p14:creationId xmlns:p14="http://schemas.microsoft.com/office/powerpoint/2010/main" val="983150109"/>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2A4193-6693-47DB-9977-E2035E0F4F41}"/>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44 months turn listings into a research panel</a:t>
            </a:r>
          </a:p>
        </p:txBody>
      </p:sp>
      <p:sp>
        <p:nvSpPr>
          <p:cNvPr id="2" name="">
            <a:extLst xmlns:a="http://schemas.openxmlformats.org/drawingml/2006/main">
              <a:ext uri="{FF2B5EF4-FFF2-40B4-BE49-F238E27FC236}">
                <a16:creationId xmlns:a16="http://schemas.microsoft.com/office/drawing/2014/main" id="{F5A9E3B4-6987-435C-882E-7B4EB309209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January 2023 – August 2026 · controlled synthetic experiment</a:t>
            </a:r>
          </a:p>
        </p:txBody>
      </p:sp>
      <p:sp>
        <p:nvSpPr>
          <p:cNvPr id="3" name="">
            <a:extLst xmlns:a="http://schemas.openxmlformats.org/drawingml/2006/main">
              <a:ext uri="{FF2B5EF4-FFF2-40B4-BE49-F238E27FC236}">
                <a16:creationId xmlns:a16="http://schemas.microsoft.com/office/drawing/2014/main" id="{E74F3803-B4ED-44F9-9C4C-A31F534FD3AB}"/>
              </a:ext>
            </a:extLst>
          </p:cNvPr>
          <p:cNvSpPr>
            <a:spLocks xmlns:a="http://schemas.openxmlformats.org/drawingml/2006/main" noGrp="1"/>
          </p:cNvSpPr>
          <p:nvPr/>
        </p:nvSpPr>
        <p:spPr>
          <a:xfrm xmlns:a="http://schemas.openxmlformats.org/drawingml/2006/main">
            <a:off x="619125" y="2209800"/>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38C85"/>
                </a:solidFill>
                <a:latin typeface="Arial"/>
                <a:ea typeface="Arial"/>
                <a:cs typeface="Arial"/>
              </a:defRPr>
            </a:pPr>
            <a:r>
              <a:rPr sz="6150" b="1">
                <a:solidFill>
                  <a:srgbClr val="138C85"/>
                </a:solidFill>
                <a:latin typeface="Arial"/>
                <a:ea typeface="Arial"/>
                <a:cs typeface="Arial"/>
              </a:rPr>
              <a:t>37,312</a:t>
            </a:r>
          </a:p>
        </p:txBody>
      </p:sp>
      <p:sp>
        <p:nvSpPr>
          <p:cNvPr id="4" name="">
            <a:extLst xmlns:a="http://schemas.openxmlformats.org/drawingml/2006/main">
              <a:ext uri="{FF2B5EF4-FFF2-40B4-BE49-F238E27FC236}">
                <a16:creationId xmlns:a16="http://schemas.microsoft.com/office/drawing/2014/main" id="{D0939050-8CF8-41B3-A8D3-C0EEDC7CEF02}"/>
              </a:ext>
            </a:extLst>
          </p:cNvPr>
          <p:cNvSpPr>
            <a:spLocks xmlns:a="http://schemas.openxmlformats.org/drawingml/2006/main" noGrp="1"/>
          </p:cNvSpPr>
          <p:nvPr/>
        </p:nvSpPr>
        <p:spPr>
          <a:xfrm xmlns:a="http://schemas.openxmlformats.org/drawingml/2006/main">
            <a:off x="647700" y="3276600"/>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generated listing records</a:t>
            </a:r>
          </a:p>
        </p:txBody>
      </p:sp>
      <p:sp>
        <p:nvSpPr>
          <p:cNvPr id="5" name="">
            <a:extLst xmlns:a="http://schemas.openxmlformats.org/drawingml/2006/main">
              <a:ext uri="{FF2B5EF4-FFF2-40B4-BE49-F238E27FC236}">
                <a16:creationId xmlns:a16="http://schemas.microsoft.com/office/drawing/2014/main" id="{DB2D4A86-5F2A-4076-83B4-2DFE94378EC0}"/>
              </a:ext>
            </a:extLst>
          </p:cNvPr>
          <p:cNvSpPr>
            <a:spLocks xmlns:a="http://schemas.openxmlformats.org/drawingml/2006/main" noGrp="1"/>
          </p:cNvSpPr>
          <p:nvPr/>
        </p:nvSpPr>
        <p:spPr>
          <a:xfrm xmlns:a="http://schemas.openxmlformats.org/drawingml/2006/main">
            <a:off x="6762750" y="220980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DE775A"/>
                </a:solidFill>
                <a:latin typeface="Arial"/>
                <a:ea typeface="Arial"/>
                <a:cs typeface="Arial"/>
              </a:defRPr>
            </a:pPr>
            <a:r>
              <a:rPr sz="6150" b="1">
                <a:solidFill>
                  <a:srgbClr val="DE775A"/>
                </a:solidFill>
                <a:latin typeface="Arial"/>
                <a:ea typeface="Arial"/>
                <a:cs typeface="Arial"/>
              </a:rPr>
              <a:t>2,117</a:t>
            </a:r>
          </a:p>
        </p:txBody>
      </p:sp>
      <p:sp>
        <p:nvSpPr>
          <p:cNvPr id="6" name="">
            <a:extLst xmlns:a="http://schemas.openxmlformats.org/drawingml/2006/main">
              <a:ext uri="{FF2B5EF4-FFF2-40B4-BE49-F238E27FC236}">
                <a16:creationId xmlns:a16="http://schemas.microsoft.com/office/drawing/2014/main" id="{4F5F0E1C-CBFF-4B72-B88F-85E8BD401887}"/>
              </a:ext>
            </a:extLst>
          </p:cNvPr>
          <p:cNvSpPr>
            <a:spLocks xmlns:a="http://schemas.openxmlformats.org/drawingml/2006/main" noGrp="1"/>
          </p:cNvSpPr>
          <p:nvPr/>
        </p:nvSpPr>
        <p:spPr>
          <a:xfrm xmlns:a="http://schemas.openxmlformats.org/drawingml/2006/main">
            <a:off x="6781800" y="3276600"/>
            <a:ext cx="471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C43"/>
                </a:solidFill>
                <a:latin typeface="Arial"/>
                <a:ea typeface="Arial"/>
                <a:cs typeface="Arial"/>
              </a:defRPr>
            </a:pPr>
            <a:r>
              <a:rPr sz="2025" b="0">
                <a:solidFill>
                  <a:srgbClr val="123C43"/>
                </a:solidFill>
                <a:latin typeface="Arial"/>
                <a:ea typeface="Arial"/>
                <a:cs typeface="Arial"/>
              </a:rPr>
              <a:t>duplicate reposts removed</a:t>
            </a:r>
          </a:p>
        </p:txBody>
      </p:sp>
      <p:sp>
        <p:nvSpPr>
          <p:cNvPr id="7" name="">
            <a:extLst xmlns:a="http://schemas.openxmlformats.org/drawingml/2006/main">
              <a:ext uri="{FF2B5EF4-FFF2-40B4-BE49-F238E27FC236}">
                <a16:creationId xmlns:a16="http://schemas.microsoft.com/office/drawing/2014/main" id="{3822D116-8DD3-4A7C-BD99-5E9DBF61C2D4}"/>
              </a:ext>
            </a:extLst>
          </p:cNvPr>
          <p:cNvSpPr>
            <a:spLocks xmlns:a="http://schemas.openxmlformats.org/drawingml/2006/main" noGrp="1"/>
          </p:cNvSpPr>
          <p:nvPr/>
        </p:nvSpPr>
        <p:spPr>
          <a:xfrm xmlns:a="http://schemas.openxmlformats.org/drawingml/2006/main">
            <a:off x="647700" y="46577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256 spatial cells</a:t>
            </a:r>
          </a:p>
        </p:txBody>
      </p:sp>
      <p:sp>
        <p:nvSpPr>
          <p:cNvPr id="8" name="">
            <a:extLst xmlns:a="http://schemas.openxmlformats.org/drawingml/2006/main">
              <a:ext uri="{FF2B5EF4-FFF2-40B4-BE49-F238E27FC236}">
                <a16:creationId xmlns:a16="http://schemas.microsoft.com/office/drawing/2014/main" id="{B2A7B1BA-A8EB-4E01-BCFE-302D1CA94905}"/>
              </a:ext>
            </a:extLst>
          </p:cNvPr>
          <p:cNvSpPr>
            <a:spLocks xmlns:a="http://schemas.openxmlformats.org/drawingml/2006/main" noGrp="1"/>
          </p:cNvSpPr>
          <p:nvPr/>
        </p:nvSpPr>
        <p:spPr>
          <a:xfrm xmlns:a="http://schemas.openxmlformats.org/drawingml/2006/main">
            <a:off x="6781800" y="4657725"/>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6,799 observed cell-months</a:t>
            </a:r>
          </a:p>
        </p:txBody>
      </p:sp>
      <p:sp>
        <p:nvSpPr>
          <p:cNvPr id="9" name="">
            <a:extLst xmlns:a="http://schemas.openxmlformats.org/drawingml/2006/main">
              <a:ext uri="{FF2B5EF4-FFF2-40B4-BE49-F238E27FC236}">
                <a16:creationId xmlns:a16="http://schemas.microsoft.com/office/drawing/2014/main" id="{A05DADE1-1885-49BD-A74F-C2C0434BDBF1}"/>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KD-tree research run · known synthetic truth lets us test the method</a:t>
            </a:r>
          </a:p>
        </p:txBody>
      </p:sp>
    </p:spTree>
    <p:extLst>
      <p:ext uri="{BB962C8B-B14F-4D97-AF65-F5344CB8AC3E}">
        <p14:creationId xmlns:p14="http://schemas.microsoft.com/office/powerpoint/2010/main" val="119096388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4C3C4C-7DB7-4EB7-9EB2-1BEFB1FA45D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The model improves on “last month again”</a:t>
            </a:r>
          </a:p>
        </p:txBody>
      </p:sp>
      <p:sp>
        <p:nvSpPr>
          <p:cNvPr id="2" name="">
            <a:extLst xmlns:a="http://schemas.openxmlformats.org/drawingml/2006/main">
              <a:ext uri="{FF2B5EF4-FFF2-40B4-BE49-F238E27FC236}">
                <a16:creationId xmlns:a16="http://schemas.microsoft.com/office/drawing/2014/main" id="{49E03868-D419-4EEA-8121-7C7607281051}"/>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Mean absolute error in AZN/m² · lower is better</a:t>
            </a:r>
          </a:p>
        </p:txBody>
      </p:sp>
      <p:graphicFrame>
        <p:nvGraphicFramePr>
          <p:cNvPr id="11" name="Chart"/>
          <p:cNvGraphicFramePr/>
          <p:nvPr/>
        </p:nvGraphicFramePr>
        <p:xfrm>
          <a:off xmlns:a="http://schemas.openxmlformats.org/drawingml/2006/main" x="571500" y="1981200"/>
          <a:ext xmlns:a="http://schemas.openxmlformats.org/drawingml/2006/main" cx="7334250" cy="3924300"/>
        </p:xfrm>
        <a:graphic xmlns:a="http://schemas.openxmlformats.org/drawingml/2006/main">
          <a:graphicData uri="http://schemas.openxmlformats.org/drawingml/2006/chart">
            <c:chart xmlns:r="http://schemas.openxmlformats.org/officeDocument/2006/relationships" xmlns:c="http://schemas.openxmlformats.org/drawingml/2006/chart" r:id="Rd59fafae9ae14533"/>
          </a:graphicData>
        </a:graphic>
      </p:graphicFrame>
      <p:sp>
        <p:nvSpPr>
          <p:cNvPr id="4" name="">
            <a:extLst xmlns:a="http://schemas.openxmlformats.org/drawingml/2006/main">
              <a:ext uri="{FF2B5EF4-FFF2-40B4-BE49-F238E27FC236}">
                <a16:creationId xmlns:a16="http://schemas.microsoft.com/office/drawing/2014/main" id="{BBC1BE87-50C0-4536-8B3D-7C4897A7DAA5}"/>
              </a:ext>
            </a:extLst>
          </p:cNvPr>
          <p:cNvSpPr>
            <a:spLocks xmlns:a="http://schemas.openxmlformats.org/drawingml/2006/main" noGrp="1"/>
          </p:cNvSpPr>
          <p:nvPr/>
        </p:nvSpPr>
        <p:spPr>
          <a:xfrm xmlns:a="http://schemas.openxmlformats.org/drawingml/2006/main">
            <a:off x="8553450" y="241935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38C85"/>
                </a:solidFill>
                <a:latin typeface="Arial"/>
                <a:ea typeface="Arial"/>
                <a:cs typeface="Arial"/>
              </a:defRPr>
            </a:pPr>
            <a:r>
              <a:rPr sz="5250" b="1">
                <a:solidFill>
                  <a:srgbClr val="138C85"/>
                </a:solidFill>
                <a:latin typeface="Arial"/>
                <a:ea typeface="Arial"/>
                <a:cs typeface="Arial"/>
              </a:rPr>
              <a:t>19.8%</a:t>
            </a:r>
          </a:p>
        </p:txBody>
      </p:sp>
      <p:sp>
        <p:nvSpPr>
          <p:cNvPr id="5" name="">
            <a:extLst xmlns:a="http://schemas.openxmlformats.org/drawingml/2006/main">
              <a:ext uri="{FF2B5EF4-FFF2-40B4-BE49-F238E27FC236}">
                <a16:creationId xmlns:a16="http://schemas.microsoft.com/office/drawing/2014/main" id="{85582466-95A1-40FD-A77D-CABFB985F4E8}"/>
              </a:ext>
            </a:extLst>
          </p:cNvPr>
          <p:cNvSpPr>
            <a:spLocks xmlns:a="http://schemas.openxmlformats.org/drawingml/2006/main" noGrp="1"/>
          </p:cNvSpPr>
          <p:nvPr/>
        </p:nvSpPr>
        <p:spPr>
          <a:xfrm xmlns:a="http://schemas.openxmlformats.org/drawingml/2006/main">
            <a:off x="8562975" y="3409950"/>
            <a:ext cx="2809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lower temporal error</a:t>
            </a:r>
          </a:p>
        </p:txBody>
      </p:sp>
      <p:sp>
        <p:nvSpPr>
          <p:cNvPr id="6" name="">
            <a:extLst xmlns:a="http://schemas.openxmlformats.org/drawingml/2006/main">
              <a:ext uri="{FF2B5EF4-FFF2-40B4-BE49-F238E27FC236}">
                <a16:creationId xmlns:a16="http://schemas.microsoft.com/office/drawing/2014/main" id="{FF0A59BE-17ED-4324-9646-8DCAD72329BC}"/>
              </a:ext>
            </a:extLst>
          </p:cNvPr>
          <p:cNvSpPr>
            <a:spLocks xmlns:a="http://schemas.openxmlformats.org/drawingml/2006/main" noGrp="1"/>
          </p:cNvSpPr>
          <p:nvPr/>
        </p:nvSpPr>
        <p:spPr>
          <a:xfrm xmlns:a="http://schemas.openxmlformats.org/drawingml/2006/main">
            <a:off x="8562975" y="4457700"/>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C43"/>
                </a:solidFill>
                <a:latin typeface="Arial"/>
                <a:ea typeface="Arial"/>
                <a:cs typeface="Arial"/>
              </a:defRPr>
            </a:pPr>
            <a:r>
              <a:rPr sz="2550" b="1">
                <a:solidFill>
                  <a:srgbClr val="123C43"/>
                </a:solidFill>
                <a:latin typeface="Arial"/>
                <a:ea typeface="Arial"/>
                <a:cs typeface="Arial"/>
              </a:rPr>
              <a:t>18.0% lower</a:t>
            </a:r>
          </a:p>
        </p:txBody>
      </p:sp>
      <p:sp>
        <p:nvSpPr>
          <p:cNvPr id="7" name="">
            <a:extLst xmlns:a="http://schemas.openxmlformats.org/drawingml/2006/main">
              <a:ext uri="{FF2B5EF4-FFF2-40B4-BE49-F238E27FC236}">
                <a16:creationId xmlns:a16="http://schemas.microsoft.com/office/drawing/2014/main" id="{FBF3266A-E861-4CF3-BDAA-40F9129C4DB4}"/>
              </a:ext>
            </a:extLst>
          </p:cNvPr>
          <p:cNvSpPr>
            <a:spLocks xmlns:a="http://schemas.openxmlformats.org/drawingml/2006/main" noGrp="1"/>
          </p:cNvSpPr>
          <p:nvPr/>
        </p:nvSpPr>
        <p:spPr>
          <a:xfrm xmlns:a="http://schemas.openxmlformats.org/drawingml/2006/main">
            <a:off x="8562975" y="5095875"/>
            <a:ext cx="2905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3C43"/>
                </a:solidFill>
                <a:latin typeface="Arial"/>
                <a:ea typeface="Arial"/>
                <a:cs typeface="Arial"/>
              </a:defRPr>
            </a:pPr>
            <a:r>
              <a:rPr sz="1725" b="0">
                <a:solidFill>
                  <a:srgbClr val="123C43"/>
                </a:solidFill>
                <a:latin typeface="Arial"/>
                <a:ea typeface="Arial"/>
                <a:cs typeface="Arial"/>
              </a:rPr>
              <a:t>across held-out regions</a:t>
            </a:r>
          </a:p>
        </p:txBody>
      </p:sp>
      <p:sp>
        <p:nvSpPr>
          <p:cNvPr id="8" name="">
            <a:extLst xmlns:a="http://schemas.openxmlformats.org/drawingml/2006/main">
              <a:ext uri="{FF2B5EF4-FFF2-40B4-BE49-F238E27FC236}">
                <a16:creationId xmlns:a16="http://schemas.microsoft.com/office/drawing/2014/main" id="{4E38CAC0-3A10-4934-A1A7-8FA9D3A86A44}"/>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Fresh synthetic KD-tree run · these tests measure monthly price estimates</a:t>
            </a:r>
          </a:p>
        </p:txBody>
      </p:sp>
    </p:spTree>
    <p:extLst>
      <p:ext uri="{BB962C8B-B14F-4D97-AF65-F5344CB8AC3E}">
        <p14:creationId xmlns:p14="http://schemas.microsoft.com/office/powerpoint/2010/main" val="1958533904"/>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848BCD-D96E-43F7-BB67-7A775612C34F}"/>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Location is the strongest fitted price signal</a:t>
            </a:r>
          </a:p>
        </p:txBody>
      </p:sp>
      <p:sp>
        <p:nvSpPr>
          <p:cNvPr id="2" name="">
            <a:extLst xmlns:a="http://schemas.openxmlformats.org/drawingml/2006/main">
              <a:ext uri="{FF2B5EF4-FFF2-40B4-BE49-F238E27FC236}">
                <a16:creationId xmlns:a16="http://schemas.microsoft.com/office/drawing/2014/main" id="{29F0370D-040D-455C-ADE2-09E7779BB6F2}"/>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Mean absolute TreeSHAP contribution · AZN/m²</a:t>
            </a:r>
          </a:p>
        </p:txBody>
      </p:sp>
      <p:graphicFrame>
        <p:nvGraphicFramePr>
          <p:cNvPr id="7" name="Chart"/>
          <p:cNvGraphicFramePr/>
          <p:nvPr/>
        </p:nvGraphicFramePr>
        <p:xfrm>
          <a:off xmlns:a="http://schemas.openxmlformats.org/drawingml/2006/main" x="571500" y="1981200"/>
          <a:ext xmlns:a="http://schemas.openxmlformats.org/drawingml/2006/main" cx="10668000" cy="3924300"/>
        </p:xfrm>
        <a:graphic xmlns:a="http://schemas.openxmlformats.org/drawingml/2006/main">
          <a:graphicData uri="http://schemas.openxmlformats.org/drawingml/2006/chart">
            <c:chart xmlns:r="http://schemas.openxmlformats.org/officeDocument/2006/relationships" xmlns:c="http://schemas.openxmlformats.org/drawingml/2006/chart" r:id="R83baba2005404cb2"/>
          </a:graphicData>
        </a:graphic>
      </p:graphicFrame>
      <p:sp>
        <p:nvSpPr>
          <p:cNvPr id="4" name="">
            <a:extLst xmlns:a="http://schemas.openxmlformats.org/drawingml/2006/main">
              <a:ext uri="{FF2B5EF4-FFF2-40B4-BE49-F238E27FC236}">
                <a16:creationId xmlns:a16="http://schemas.microsoft.com/office/drawing/2014/main" id="{E4EC1729-0245-45F2-A02B-FE535946BDE2}"/>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Global importance explains this fitted synthetic model; it does not establish causality</a:t>
            </a:r>
          </a:p>
        </p:txBody>
      </p:sp>
    </p:spTree>
    <p:extLst>
      <p:ext uri="{BB962C8B-B14F-4D97-AF65-F5344CB8AC3E}">
        <p14:creationId xmlns:p14="http://schemas.microsoft.com/office/powerpoint/2010/main" val="2132129689"/>
      </p:ext>
    </p:extLst>
  </p:cSld>
</p:sld>
</file>

<file path=ppt/slides/slide6.xml><?xml version="1.0" encoding="utf-8"?>
<p:sld xmlns:p="http://schemas.openxmlformats.org/presentationml/2006/main">
  <p:cSld>
    <p:bg>
      <p:bgPr>
        <a:solidFill xmlns:a="http://schemas.openxmlformats.org/drawingml/2006/main">
          <a:srgbClr val="102F3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8A2960-F52B-4B71-84C2-2BBECF6D417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Can we recover a simulated metro effect?</a:t>
            </a:r>
          </a:p>
        </p:txBody>
      </p:sp>
      <p:sp>
        <p:nvSpPr>
          <p:cNvPr id="2" name="">
            <a:extLst xmlns:a="http://schemas.openxmlformats.org/drawingml/2006/main">
              <a:ext uri="{FF2B5EF4-FFF2-40B4-BE49-F238E27FC236}">
                <a16:creationId xmlns:a16="http://schemas.microsoft.com/office/drawing/2014/main" id="{F9D36B9F-81BA-4A57-9531-CC0764773A7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6E9E5"/>
                </a:solidFill>
                <a:latin typeface="Arial"/>
                <a:ea typeface="Arial"/>
                <a:cs typeface="Arial"/>
              </a:defRPr>
            </a:pPr>
            <a:r>
              <a:rPr sz="1500" b="0">
                <a:solidFill>
                  <a:srgbClr val="D6E9E5"/>
                </a:solidFill>
                <a:latin typeface="Arial"/>
                <a:ea typeface="Arial"/>
                <a:cs typeface="Arial"/>
              </a:rPr>
              <a:t>Spatial difference-in-differences · a test against planted truth</a:t>
            </a:r>
          </a:p>
        </p:txBody>
      </p:sp>
      <p:sp>
        <p:nvSpPr>
          <p:cNvPr id="3" name="">
            <a:extLst xmlns:a="http://schemas.openxmlformats.org/drawingml/2006/main">
              <a:ext uri="{FF2B5EF4-FFF2-40B4-BE49-F238E27FC236}">
                <a16:creationId xmlns:a16="http://schemas.microsoft.com/office/drawing/2014/main" id="{0C19074B-16FA-4B57-9C56-7D9A0F16FC63}"/>
              </a:ext>
            </a:extLst>
          </p:cNvPr>
          <p:cNvSpPr>
            <a:spLocks xmlns:a="http://schemas.openxmlformats.org/drawingml/2006/main" noGrp="1"/>
          </p:cNvSpPr>
          <p:nvPr/>
        </p:nvSpPr>
        <p:spPr>
          <a:xfrm xmlns:a="http://schemas.openxmlformats.org/drawingml/2006/main">
            <a:off x="628650" y="2171700"/>
            <a:ext cx="533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FFFFFF"/>
                </a:solidFill>
                <a:latin typeface="Arial"/>
                <a:ea typeface="Arial"/>
                <a:cs typeface="Arial"/>
              </a:defRPr>
            </a:pPr>
            <a:r>
              <a:rPr sz="6300" b="1">
                <a:solidFill>
                  <a:srgbClr val="FFFFFF"/>
                </a:solidFill>
                <a:latin typeface="Arial"/>
                <a:ea typeface="Arial"/>
                <a:cs typeface="Arial"/>
              </a:rPr>
              <a:t>0.067</a:t>
            </a:r>
          </a:p>
        </p:txBody>
      </p:sp>
      <p:sp>
        <p:nvSpPr>
          <p:cNvPr id="4" name="">
            <a:extLst xmlns:a="http://schemas.openxmlformats.org/drawingml/2006/main">
              <a:ext uri="{FF2B5EF4-FFF2-40B4-BE49-F238E27FC236}">
                <a16:creationId xmlns:a16="http://schemas.microsoft.com/office/drawing/2014/main" id="{B6ADEADA-05CE-44F7-BEA5-F190531A653B}"/>
              </a:ext>
            </a:extLst>
          </p:cNvPr>
          <p:cNvSpPr>
            <a:spLocks xmlns:a="http://schemas.openxmlformats.org/drawingml/2006/main" noGrp="1"/>
          </p:cNvSpPr>
          <p:nvPr/>
        </p:nvSpPr>
        <p:spPr>
          <a:xfrm xmlns:a="http://schemas.openxmlformats.org/drawingml/2006/main">
            <a:off x="657225" y="340042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estimated average effect</a:t>
            </a:r>
          </a:p>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(log-price units)</a:t>
            </a:r>
          </a:p>
        </p:txBody>
      </p:sp>
      <p:sp>
        <p:nvSpPr>
          <p:cNvPr id="5" name="">
            <a:extLst xmlns:a="http://schemas.openxmlformats.org/drawingml/2006/main">
              <a:ext uri="{FF2B5EF4-FFF2-40B4-BE49-F238E27FC236}">
                <a16:creationId xmlns:a16="http://schemas.microsoft.com/office/drawing/2014/main" id="{B0692953-9290-4B43-958C-F94FE7F7DDC1}"/>
              </a:ext>
            </a:extLst>
          </p:cNvPr>
          <p:cNvSpPr>
            <a:spLocks xmlns:a="http://schemas.openxmlformats.org/drawingml/2006/main" noGrp="1"/>
          </p:cNvSpPr>
          <p:nvPr/>
        </p:nvSpPr>
        <p:spPr>
          <a:xfrm xmlns:a="http://schemas.openxmlformats.org/drawingml/2006/main">
            <a:off x="6858000" y="2171700"/>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DE775A"/>
                </a:solidFill>
                <a:latin typeface="Arial"/>
                <a:ea typeface="Arial"/>
                <a:cs typeface="Arial"/>
              </a:defRPr>
            </a:pPr>
            <a:r>
              <a:rPr sz="6300" b="1">
                <a:solidFill>
                  <a:srgbClr val="DE775A"/>
                </a:solidFill>
                <a:latin typeface="Arial"/>
                <a:ea typeface="Arial"/>
                <a:cs typeface="Arial"/>
              </a:rPr>
              <a:t>≈0.075</a:t>
            </a:r>
          </a:p>
        </p:txBody>
      </p:sp>
      <p:sp>
        <p:nvSpPr>
          <p:cNvPr id="6" name="">
            <a:extLst xmlns:a="http://schemas.openxmlformats.org/drawingml/2006/main">
              <a:ext uri="{FF2B5EF4-FFF2-40B4-BE49-F238E27FC236}">
                <a16:creationId xmlns:a16="http://schemas.microsoft.com/office/drawing/2014/main" id="{243A1622-52C4-4E49-B96F-88CB8B060FB6}"/>
              </a:ext>
            </a:extLst>
          </p:cNvPr>
          <p:cNvSpPr>
            <a:spLocks xmlns:a="http://schemas.openxmlformats.org/drawingml/2006/main" noGrp="1"/>
          </p:cNvSpPr>
          <p:nvPr/>
        </p:nvSpPr>
        <p:spPr>
          <a:xfrm xmlns:a="http://schemas.openxmlformats.org/drawingml/2006/main">
            <a:off x="6886575" y="3400425"/>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planted ramp-average effect</a:t>
            </a:r>
          </a:p>
          <a:p xmlns:a="http://schemas.openxmlformats.org/drawingml/2006/main">
            <a:pPr>
              <a:defRPr sz="2100" b="0">
                <a:solidFill>
                  <a:srgbClr val="D6E9E5"/>
                </a:solidFill>
                <a:latin typeface="Arial"/>
                <a:ea typeface="Arial"/>
                <a:cs typeface="Arial"/>
              </a:defRPr>
            </a:pPr>
            <a:r>
              <a:rPr sz="2100" b="0">
                <a:solidFill>
                  <a:srgbClr val="D6E9E5"/>
                </a:solidFill>
                <a:latin typeface="Arial"/>
                <a:ea typeface="Arial"/>
                <a:cs typeface="Arial"/>
              </a:rPr>
              <a:t>(log-price units)</a:t>
            </a:r>
          </a:p>
        </p:txBody>
      </p:sp>
      <p:sp>
        <p:nvSpPr>
          <p:cNvPr id="7" name="">
            <a:extLst xmlns:a="http://schemas.openxmlformats.org/drawingml/2006/main">
              <a:ext uri="{FF2B5EF4-FFF2-40B4-BE49-F238E27FC236}">
                <a16:creationId xmlns:a16="http://schemas.microsoft.com/office/drawing/2014/main" id="{6A7B80F2-E1BA-4E2C-BDD8-A68D66746708}"/>
              </a:ext>
            </a:extLst>
          </p:cNvPr>
          <p:cNvSpPr>
            <a:spLocks xmlns:a="http://schemas.openxmlformats.org/drawingml/2006/main" noGrp="1"/>
          </p:cNvSpPr>
          <p:nvPr/>
        </p:nvSpPr>
        <p:spPr>
          <a:xfrm xmlns:a="http://schemas.openxmlformats.org/drawingml/2006/main">
            <a:off x="647700" y="51530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Arial"/>
                <a:ea typeface="Arial"/>
                <a:cs typeface="Arial"/>
              </a:defRPr>
            </a:pPr>
            <a:r>
              <a:rPr sz="2625" b="1">
                <a:solidFill>
                  <a:srgbClr val="FFFFFF"/>
                </a:solidFill>
                <a:latin typeface="Arial"/>
                <a:ea typeface="Arial"/>
                <a:cs typeface="Arial"/>
              </a:rPr>
              <a:t>The experiment recovers a positive effect.</a:t>
            </a:r>
          </a:p>
        </p:txBody>
      </p:sp>
      <p:sp>
        <p:nvSpPr>
          <p:cNvPr id="8" name="">
            <a:extLst xmlns:a="http://schemas.openxmlformats.org/drawingml/2006/main">
              <a:ext uri="{FF2B5EF4-FFF2-40B4-BE49-F238E27FC236}">
                <a16:creationId xmlns:a16="http://schemas.microsoft.com/office/drawing/2014/main" id="{5FBE29BA-F6D8-4361-A839-BB00AEEE7CA5}"/>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D6E9E5"/>
                </a:solidFill>
                <a:latin typeface="Arial"/>
                <a:ea typeface="Arial"/>
                <a:cs typeface="Arial"/>
              </a:defRPr>
            </a:pPr>
            <a:r>
              <a:rPr sz="1050" b="0">
                <a:solidFill>
                  <a:srgbClr val="D6E9E5"/>
                </a:solidFill>
                <a:latin typeface="Arial"/>
                <a:ea typeface="Arial"/>
                <a:cs typeface="Arial"/>
              </a:rPr>
              <a:t>Synthetic station-opening experiment · not an observed causal effect in Baku</a:t>
            </a:r>
          </a:p>
        </p:txBody>
      </p:sp>
    </p:spTree>
    <p:extLst>
      <p:ext uri="{BB962C8B-B14F-4D97-AF65-F5344CB8AC3E}">
        <p14:creationId xmlns:p14="http://schemas.microsoft.com/office/powerpoint/2010/main" val="32774174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5C5F15-A607-4D03-BA4A-ADFA846CE40C}"/>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Future potential is a scenario, with assumptions</a:t>
            </a:r>
          </a:p>
        </p:txBody>
      </p:sp>
      <p:sp>
        <p:nvSpPr>
          <p:cNvPr id="2" name="">
            <a:extLst xmlns:a="http://schemas.openxmlformats.org/drawingml/2006/main">
              <a:ext uri="{FF2B5EF4-FFF2-40B4-BE49-F238E27FC236}">
                <a16:creationId xmlns:a16="http://schemas.microsoft.com/office/drawing/2014/main" id="{8F77A049-71CA-4A50-BAD1-C5022B031E4C}"/>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Polycentric scenario · projected 24-month appreciation (%) · synthetic H3 run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a303747cdc44279"/>
          <a:stretch xmlns:a="http://schemas.openxmlformats.org/drawingml/2006/main"/>
        </p:blipFill>
        <p:spPr>
          <a:xfrm xmlns:a="http://schemas.openxmlformats.org/drawingml/2006/main">
            <a:off x="1687593" y="1714500"/>
            <a:ext cx="8816814"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99FD70-7DCE-4A5A-AB43-27BE9962F90E}"/>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Ridge forecast fallback + estimated node adjustment · conditional research output</a:t>
            </a:r>
          </a:p>
        </p:txBody>
      </p:sp>
    </p:spTree>
    <p:extLst>
      <p:ext uri="{BB962C8B-B14F-4D97-AF65-F5344CB8AC3E}">
        <p14:creationId xmlns:p14="http://schemas.microsoft.com/office/powerpoint/2010/main" val="762433923"/>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CB49B9-A0BC-4DEA-99C5-5B64F5C40BA3}"/>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This central cell projects a lower price</a:t>
            </a:r>
          </a:p>
        </p:txBody>
      </p:sp>
      <p:sp>
        <p:nvSpPr>
          <p:cNvPr id="2" name="">
            <a:extLst xmlns:a="http://schemas.openxmlformats.org/drawingml/2006/main">
              <a:ext uri="{FF2B5EF4-FFF2-40B4-BE49-F238E27FC236}">
                <a16:creationId xmlns:a16="http://schemas.microsoft.com/office/drawing/2014/main" id="{DDED6702-34CA-476D-8415-D34418E7DE8B}"/>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Three conditional scenarios · cell selected by location and sufficient history</a:t>
            </a:r>
          </a:p>
        </p:txBody>
      </p:sp>
      <p:graphicFrame>
        <p:nvGraphicFramePr>
          <p:cNvPr id="9" name="Chart"/>
          <p:cNvGraphicFramePr/>
          <p:nvPr/>
        </p:nvGraphicFramePr>
        <p:xfrm>
          <a:off xmlns:a="http://schemas.openxmlformats.org/drawingml/2006/main" x="571500" y="1981200"/>
          <a:ext xmlns:a="http://schemas.openxmlformats.org/drawingml/2006/main" cx="7905750" cy="3924300"/>
        </p:xfrm>
        <a:graphic xmlns:a="http://schemas.openxmlformats.org/drawingml/2006/main">
          <a:graphicData uri="http://schemas.openxmlformats.org/drawingml/2006/chart">
            <c:chart xmlns:r="http://schemas.openxmlformats.org/officeDocument/2006/relationships" xmlns:c="http://schemas.openxmlformats.org/drawingml/2006/chart" r:id="Rc9221c65430c4ab0"/>
          </a:graphicData>
        </a:graphic>
      </p:graphicFrame>
      <p:sp>
        <p:nvSpPr>
          <p:cNvPr id="4" name="">
            <a:extLst xmlns:a="http://schemas.openxmlformats.org/drawingml/2006/main">
              <a:ext uri="{FF2B5EF4-FFF2-40B4-BE49-F238E27FC236}">
                <a16:creationId xmlns:a16="http://schemas.microsoft.com/office/drawing/2014/main" id="{F3D8E191-EEF5-422E-8E20-8B82A18F42BF}"/>
              </a:ext>
            </a:extLst>
          </p:cNvPr>
          <p:cNvSpPr>
            <a:spLocks xmlns:a="http://schemas.openxmlformats.org/drawingml/2006/main" noGrp="1"/>
          </p:cNvSpPr>
          <p:nvPr/>
        </p:nvSpPr>
        <p:spPr>
          <a:xfrm xmlns:a="http://schemas.openxmlformats.org/drawingml/2006/main">
            <a:off x="8934450" y="2619375"/>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38C85"/>
                </a:solidFill>
                <a:latin typeface="Arial"/>
                <a:ea typeface="Arial"/>
                <a:cs typeface="Arial"/>
              </a:defRPr>
            </a:pPr>
            <a:r>
              <a:rPr sz="4350" b="1">
                <a:solidFill>
                  <a:srgbClr val="138C85"/>
                </a:solidFill>
                <a:latin typeface="Arial"/>
                <a:ea typeface="Arial"/>
                <a:cs typeface="Arial"/>
              </a:rPr>
              <a:t>3,813</a:t>
            </a:r>
          </a:p>
        </p:txBody>
      </p:sp>
      <p:sp>
        <p:nvSpPr>
          <p:cNvPr id="5" name="">
            <a:extLst xmlns:a="http://schemas.openxmlformats.org/drawingml/2006/main">
              <a:ext uri="{FF2B5EF4-FFF2-40B4-BE49-F238E27FC236}">
                <a16:creationId xmlns:a16="http://schemas.microsoft.com/office/drawing/2014/main" id="{9C3DCC74-3510-4190-98F1-0D22AD4E9CC7}"/>
              </a:ext>
            </a:extLst>
          </p:cNvPr>
          <p:cNvSpPr>
            <a:spLocks xmlns:a="http://schemas.openxmlformats.org/drawingml/2006/main" noGrp="1"/>
          </p:cNvSpPr>
          <p:nvPr/>
        </p:nvSpPr>
        <p:spPr>
          <a:xfrm xmlns:a="http://schemas.openxmlformats.org/drawingml/2006/main">
            <a:off x="8953500" y="3619500"/>
            <a:ext cx="2505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23C43"/>
                </a:solidFill>
                <a:latin typeface="Arial"/>
                <a:ea typeface="Arial"/>
                <a:cs typeface="Arial"/>
              </a:defRPr>
            </a:pPr>
            <a:r>
              <a:rPr sz="1800" b="0">
                <a:solidFill>
                  <a:srgbClr val="123C43"/>
                </a:solidFill>
                <a:latin typeface="Arial"/>
                <a:ea typeface="Arial"/>
                <a:cs typeface="Arial"/>
              </a:rPr>
              <a:t>AZN/m²</a:t>
            </a:r>
          </a:p>
          <a:p xmlns:a="http://schemas.openxmlformats.org/drawingml/2006/main">
            <a:pPr>
              <a:defRPr sz="1800" b="0">
                <a:solidFill>
                  <a:srgbClr val="123C43"/>
                </a:solidFill>
                <a:latin typeface="Arial"/>
                <a:ea typeface="Arial"/>
                <a:cs typeface="Arial"/>
              </a:defRPr>
            </a:pPr>
            <a:r>
              <a:rPr sz="1800" b="0">
                <a:solidFill>
                  <a:srgbClr val="123C43"/>
                </a:solidFill>
                <a:latin typeface="Arial"/>
                <a:ea typeface="Arial"/>
                <a:cs typeface="Arial"/>
              </a:rPr>
              <a:t>last observed median</a:t>
            </a:r>
          </a:p>
        </p:txBody>
      </p:sp>
      <p:sp>
        <p:nvSpPr>
          <p:cNvPr id="6" name="">
            <a:extLst xmlns:a="http://schemas.openxmlformats.org/drawingml/2006/main">
              <a:ext uri="{FF2B5EF4-FFF2-40B4-BE49-F238E27FC236}">
                <a16:creationId xmlns:a16="http://schemas.microsoft.com/office/drawing/2014/main" id="{4CB9E54F-095C-4658-85FB-7BAE5B3BC2CB}"/>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Synthetic cell example · forecast endpoints, not observed future prices</a:t>
            </a:r>
          </a:p>
        </p:txBody>
      </p:sp>
    </p:spTree>
    <p:extLst>
      <p:ext uri="{BB962C8B-B14F-4D97-AF65-F5344CB8AC3E}">
        <p14:creationId xmlns:p14="http://schemas.microsoft.com/office/powerpoint/2010/main" val="1182027248"/>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867673-9D0A-44A2-BD75-52C70C3E9401}"/>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The research is explorable in the software</a:t>
            </a:r>
          </a:p>
        </p:txBody>
      </p:sp>
      <p:sp>
        <p:nvSpPr>
          <p:cNvPr id="2" name="">
            <a:extLst xmlns:a="http://schemas.openxmlformats.org/drawingml/2006/main">
              <a:ext uri="{FF2B5EF4-FFF2-40B4-BE49-F238E27FC236}">
                <a16:creationId xmlns:a16="http://schemas.microsoft.com/office/drawing/2014/main" id="{DC6A3968-C5D1-450B-9F22-68FB9C6DF132}"/>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Actual local application · scenario and horizon controls · cell-level map</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67238ffb4cf4d50"/>
          <a:stretch xmlns:a="http://schemas.openxmlformats.org/drawingml/2006/main"/>
        </p:blipFill>
        <p:spPr>
          <a:xfrm xmlns:a="http://schemas.openxmlformats.org/drawingml/2006/main">
            <a:off x="2237572" y="1857375"/>
            <a:ext cx="7716855" cy="434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959D83E-62AB-4B4D-9F69-67CDF2EC012B}"/>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Captured with synthetic H3 artifacts and a visible research-demo label</a:t>
            </a:r>
          </a:p>
        </p:txBody>
      </p:sp>
    </p:spTree>
    <p:extLst>
      <p:ext uri="{BB962C8B-B14F-4D97-AF65-F5344CB8AC3E}">
        <p14:creationId xmlns:p14="http://schemas.microsoft.com/office/powerpoint/2010/main" val="1586350954"/>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4D451A-7B9F-4C1C-9CCA-71356A411680}"/>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Uncertainty still needs improvement</a:t>
            </a:r>
          </a:p>
        </p:txBody>
      </p:sp>
      <p:sp>
        <p:nvSpPr>
          <p:cNvPr id="2" name="">
            <a:extLst xmlns:a="http://schemas.openxmlformats.org/drawingml/2006/main">
              <a:ext uri="{FF2B5EF4-FFF2-40B4-BE49-F238E27FC236}">
                <a16:creationId xmlns:a16="http://schemas.microsoft.com/office/drawing/2014/main" id="{34531944-020D-4B33-A883-2695DACC9A10}"/>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Observed interval coverage on three unseen months</a:t>
            </a:r>
          </a:p>
        </p:txBody>
      </p:sp>
      <p:graphicFrame>
        <p:nvGraphicFramePr>
          <p:cNvPr id="10" name="Chart"/>
          <p:cNvGraphicFramePr/>
          <p:nvPr/>
        </p:nvGraphicFramePr>
        <p:xfrm>
          <a:off xmlns:a="http://schemas.openxmlformats.org/drawingml/2006/main" x="571500" y="1981200"/>
          <a:ext xmlns:a="http://schemas.openxmlformats.org/drawingml/2006/main" cx="7334250" cy="3924300"/>
        </p:xfrm>
        <a:graphic xmlns:a="http://schemas.openxmlformats.org/drawingml/2006/main">
          <a:graphicData uri="http://schemas.openxmlformats.org/drawingml/2006/chart">
            <c:chart xmlns:r="http://schemas.openxmlformats.org/officeDocument/2006/relationships" xmlns:c="http://schemas.openxmlformats.org/drawingml/2006/chart" r:id="R254d9895de864d65"/>
          </a:graphicData>
        </a:graphic>
      </p:graphicFrame>
      <p:sp>
        <p:nvSpPr>
          <p:cNvPr id="4" name="">
            <a:extLst xmlns:a="http://schemas.openxmlformats.org/drawingml/2006/main">
              <a:ext uri="{FF2B5EF4-FFF2-40B4-BE49-F238E27FC236}">
                <a16:creationId xmlns:a16="http://schemas.microsoft.com/office/drawing/2014/main" id="{1985AEF5-D422-4370-9556-1424A34855F1}"/>
              </a:ext>
            </a:extLst>
          </p:cNvPr>
          <p:cNvSpPr>
            <a:spLocks xmlns:a="http://schemas.openxmlformats.org/drawingml/2006/main" noGrp="1"/>
          </p:cNvSpPr>
          <p:nvPr/>
        </p:nvSpPr>
        <p:spPr>
          <a:xfrm xmlns:a="http://schemas.openxmlformats.org/drawingml/2006/main">
            <a:off x="8410575" y="2600325"/>
            <a:ext cx="309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E775A"/>
                </a:solidFill>
                <a:latin typeface="Arial"/>
                <a:ea typeface="Arial"/>
                <a:cs typeface="Arial"/>
              </a:defRPr>
            </a:pPr>
            <a:r>
              <a:rPr sz="4800" b="1">
                <a:solidFill>
                  <a:srgbClr val="DE775A"/>
                </a:solidFill>
                <a:latin typeface="Arial"/>
                <a:ea typeface="Arial"/>
                <a:cs typeface="Arial"/>
              </a:rPr>
              <a:t>5.4 pp</a:t>
            </a:r>
          </a:p>
        </p:txBody>
      </p:sp>
      <p:sp>
        <p:nvSpPr>
          <p:cNvPr id="5" name="">
            <a:extLst xmlns:a="http://schemas.openxmlformats.org/drawingml/2006/main">
              <a:ext uri="{FF2B5EF4-FFF2-40B4-BE49-F238E27FC236}">
                <a16:creationId xmlns:a16="http://schemas.microsoft.com/office/drawing/2014/main" id="{DF3D57EE-D28F-4EFA-A609-28BED78FA246}"/>
              </a:ext>
            </a:extLst>
          </p:cNvPr>
          <p:cNvSpPr>
            <a:spLocks xmlns:a="http://schemas.openxmlformats.org/drawingml/2006/main" noGrp="1"/>
          </p:cNvSpPr>
          <p:nvPr/>
        </p:nvSpPr>
        <p:spPr>
          <a:xfrm xmlns:a="http://schemas.openxmlformats.org/drawingml/2006/main">
            <a:off x="8458200" y="3657600"/>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C43"/>
                </a:solidFill>
                <a:latin typeface="Arial"/>
                <a:ea typeface="Arial"/>
                <a:cs typeface="Arial"/>
              </a:defRPr>
            </a:pPr>
            <a:r>
              <a:rPr sz="2100" b="0">
                <a:solidFill>
                  <a:srgbClr val="123C43"/>
                </a:solidFill>
                <a:latin typeface="Arial"/>
                <a:ea typeface="Arial"/>
                <a:cs typeface="Arial"/>
              </a:rPr>
              <a:t>below the target</a:t>
            </a:r>
          </a:p>
        </p:txBody>
      </p:sp>
      <p:sp>
        <p:nvSpPr>
          <p:cNvPr id="6" name="">
            <a:extLst xmlns:a="http://schemas.openxmlformats.org/drawingml/2006/main">
              <a:ext uri="{FF2B5EF4-FFF2-40B4-BE49-F238E27FC236}">
                <a16:creationId xmlns:a16="http://schemas.microsoft.com/office/drawing/2014/main" id="{84BDF92A-F0B2-41E3-B85B-4612E0C5637C}"/>
              </a:ext>
            </a:extLst>
          </p:cNvPr>
          <p:cNvSpPr>
            <a:spLocks xmlns:a="http://schemas.openxmlformats.org/drawingml/2006/main" noGrp="1"/>
          </p:cNvSpPr>
          <p:nvPr/>
        </p:nvSpPr>
        <p:spPr>
          <a:xfrm xmlns:a="http://schemas.openxmlformats.org/drawingml/2006/main">
            <a:off x="8458200" y="4781550"/>
            <a:ext cx="29146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Long-horizon coverage</a:t>
            </a:r>
          </a:p>
          <a:p xmlns:a="http://schemas.openxmlformats.org/drawingml/2006/main">
            <a:pPr>
              <a:defRPr sz="1875" b="0">
                <a:solidFill>
                  <a:srgbClr val="123C43"/>
                </a:solidFill>
                <a:latin typeface="Arial"/>
                <a:ea typeface="Arial"/>
                <a:cs typeface="Arial"/>
              </a:defRPr>
            </a:pPr>
            <a:r>
              <a:rPr sz="1875" b="0">
                <a:solidFill>
                  <a:srgbClr val="123C43"/>
                </a:solidFill>
                <a:latin typeface="Arial"/>
                <a:ea typeface="Arial"/>
                <a:cs typeface="Arial"/>
              </a:rPr>
              <a:t>is not yet established.</a:t>
            </a:r>
          </a:p>
        </p:txBody>
      </p:sp>
      <p:sp>
        <p:nvSpPr>
          <p:cNvPr id="7" name="">
            <a:extLst xmlns:a="http://schemas.openxmlformats.org/drawingml/2006/main">
              <a:ext uri="{FF2B5EF4-FFF2-40B4-BE49-F238E27FC236}">
                <a16:creationId xmlns:a16="http://schemas.microsoft.com/office/drawing/2014/main" id="{1DC1C98F-5214-477D-B993-9398068AE142}"/>
              </a:ext>
            </a:extLst>
          </p:cNvPr>
          <p:cNvSpPr>
            <a:spLocks xmlns:a="http://schemas.openxmlformats.org/drawingml/2006/main" noGrp="1"/>
          </p:cNvSpPr>
          <p:nvPr/>
        </p:nvSpPr>
        <p:spPr>
          <a:xfrm xmlns:a="http://schemas.openxmlformats.org/drawingml/2006/main">
            <a:off x="590550" y="6362700"/>
            <a:ext cx="1101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07879"/>
                </a:solidFill>
                <a:latin typeface="Arial"/>
                <a:ea typeface="Arial"/>
                <a:cs typeface="Arial"/>
              </a:defRPr>
            </a:pPr>
            <a:r>
              <a:rPr sz="1050" b="0">
                <a:solidFill>
                  <a:srgbClr val="607879"/>
                </a:solidFill>
                <a:latin typeface="Arial"/>
                <a:ea typeface="Arial"/>
                <a:cs typeface="Arial"/>
              </a:rPr>
              <a:t>Fresh synthetic KD-tree run · holdout: June–August 2026</a:t>
            </a:r>
          </a:p>
        </p:txBody>
      </p:sp>
    </p:spTree>
    <p:extLst>
      <p:ext uri="{BB962C8B-B14F-4D97-AF65-F5344CB8AC3E}">
        <p14:creationId xmlns:p14="http://schemas.microsoft.com/office/powerpoint/2010/main" val="613891960"/>
      </p:ext>
    </p:extLst>
  </p:cSld>
</p:sld>
</file>

<file path=ppt/slides/slide11.xml><?xml version="1.0" encoding="utf-8"?>
<p:sld xmlns:p="http://schemas.openxmlformats.org/presentationml/2006/main">
  <p:cSld>
    <p:bg>
      <p:bgPr>
        <a:solidFill xmlns:a="http://schemas.openxmlformats.org/drawingml/2006/main">
          <a:srgbClr val="102F3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47AB9E-5329-4AFB-9C4A-6D0D0E50BFF8}"/>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our work establishes</a:t>
            </a:r>
          </a:p>
        </p:txBody>
      </p:sp>
      <p:sp>
        <p:nvSpPr>
          <p:cNvPr id="2" name="">
            <a:extLst xmlns:a="http://schemas.openxmlformats.org/drawingml/2006/main">
              <a:ext uri="{FF2B5EF4-FFF2-40B4-BE49-F238E27FC236}">
                <a16:creationId xmlns:a16="http://schemas.microsoft.com/office/drawing/2014/main" id="{5799CB94-35AF-4EC7-A547-5CDE0D338AD8}"/>
              </a:ext>
            </a:extLst>
          </p:cNvPr>
          <p:cNvSpPr>
            <a:spLocks xmlns:a="http://schemas.openxmlformats.org/drawingml/2006/main" noGrp="1"/>
          </p:cNvSpPr>
          <p:nvPr/>
        </p:nvSpPr>
        <p:spPr>
          <a:xfrm xmlns:a="http://schemas.openxmlformats.org/drawingml/2006/main">
            <a:off x="619125" y="2057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Geography matters.</a:t>
            </a:r>
          </a:p>
        </p:txBody>
      </p:sp>
      <p:sp>
        <p:nvSpPr>
          <p:cNvPr id="3" name="">
            <a:extLst xmlns:a="http://schemas.openxmlformats.org/drawingml/2006/main">
              <a:ext uri="{FF2B5EF4-FFF2-40B4-BE49-F238E27FC236}">
                <a16:creationId xmlns:a16="http://schemas.microsoft.com/office/drawing/2014/main" id="{B7982E6F-943A-4230-A8EA-5137840F7F01}"/>
              </a:ext>
            </a:extLst>
          </p:cNvPr>
          <p:cNvSpPr>
            <a:spLocks xmlns:a="http://schemas.openxmlformats.org/drawingml/2006/main" noGrp="1"/>
          </p:cNvSpPr>
          <p:nvPr/>
        </p:nvSpPr>
        <p:spPr>
          <a:xfrm xmlns:a="http://schemas.openxmlformats.org/drawingml/2006/main">
            <a:off x="619125" y="3114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D6E9E5"/>
                </a:solidFill>
                <a:latin typeface="Arial"/>
                <a:ea typeface="Arial"/>
                <a:cs typeface="Arial"/>
              </a:defRPr>
            </a:pPr>
            <a:r>
              <a:rPr sz="3225" b="1">
                <a:solidFill>
                  <a:srgbClr val="D6E9E5"/>
                </a:solidFill>
                <a:latin typeface="Arial"/>
                <a:ea typeface="Arial"/>
                <a:cs typeface="Arial"/>
              </a:rPr>
              <a:t>The monthly model beats persistence.</a:t>
            </a:r>
          </a:p>
        </p:txBody>
      </p:sp>
      <p:sp>
        <p:nvSpPr>
          <p:cNvPr id="4" name="">
            <a:extLst xmlns:a="http://schemas.openxmlformats.org/drawingml/2006/main">
              <a:ext uri="{FF2B5EF4-FFF2-40B4-BE49-F238E27FC236}">
                <a16:creationId xmlns:a16="http://schemas.microsoft.com/office/drawing/2014/main" id="{FEBF83EE-5125-4F3E-878B-1209E8EADF70}"/>
              </a:ext>
            </a:extLst>
          </p:cNvPr>
          <p:cNvSpPr>
            <a:spLocks xmlns:a="http://schemas.openxmlformats.org/drawingml/2006/main" noGrp="1"/>
          </p:cNvSpPr>
          <p:nvPr/>
        </p:nvSpPr>
        <p:spPr>
          <a:xfrm xmlns:a="http://schemas.openxmlformats.org/drawingml/2006/main">
            <a:off x="619125" y="41719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Scenarios make future assumptions visible.</a:t>
            </a:r>
          </a:p>
        </p:txBody>
      </p:sp>
      <p:sp>
        <p:nvSpPr>
          <p:cNvPr id="5" name="">
            <a:extLst xmlns:a="http://schemas.openxmlformats.org/drawingml/2006/main">
              <a:ext uri="{FF2B5EF4-FFF2-40B4-BE49-F238E27FC236}">
                <a16:creationId xmlns:a16="http://schemas.microsoft.com/office/drawing/2014/main" id="{A6F55997-DA1B-4FA9-934E-EDAEC2B83F65}"/>
              </a:ext>
            </a:extLst>
          </p:cNvPr>
          <p:cNvSpPr>
            <a:spLocks xmlns:a="http://schemas.openxmlformats.org/drawingml/2006/main" noGrp="1"/>
          </p:cNvSpPr>
          <p:nvPr/>
        </p:nvSpPr>
        <p:spPr>
          <a:xfrm xmlns:a="http://schemas.openxmlformats.org/drawingml/2006/main">
            <a:off x="647700" y="55816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6E9E5"/>
                </a:solidFill>
                <a:latin typeface="Arial"/>
                <a:ea typeface="Arial"/>
                <a:cs typeface="Arial"/>
              </a:defRPr>
            </a:pPr>
            <a:r>
              <a:rPr sz="1875" b="0">
                <a:solidFill>
                  <a:srgbClr val="D6E9E5"/>
                </a:solidFill>
                <a:latin typeface="Arial"/>
                <a:ea typeface="Arial"/>
                <a:cs typeface="Arial"/>
              </a:rPr>
              <a:t>Next: longitudinal real data and 12/24-month backtests.</a:t>
            </a:r>
          </a:p>
        </p:txBody>
      </p:sp>
    </p:spTree>
    <p:extLst>
      <p:ext uri="{BB962C8B-B14F-4D97-AF65-F5344CB8AC3E}">
        <p14:creationId xmlns:p14="http://schemas.microsoft.com/office/powerpoint/2010/main" val="1985600535"/>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F8C103-5475-4D2F-AFDE-F1820E1CBA28}"/>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23C43"/>
                </a:solidFill>
                <a:latin typeface="Arial"/>
                <a:ea typeface="Arial"/>
                <a:cs typeface="Arial"/>
              </a:defRPr>
            </a:pPr>
            <a:r>
              <a:rPr sz="3150" b="1">
                <a:solidFill>
                  <a:srgbClr val="123C43"/>
                </a:solidFill>
                <a:latin typeface="Arial"/>
                <a:ea typeface="Arial"/>
                <a:cs typeface="Arial"/>
              </a:rPr>
              <a:t>BakuML</a:t>
            </a:r>
          </a:p>
        </p:txBody>
      </p:sp>
      <p:sp>
        <p:nvSpPr>
          <p:cNvPr id="2" name="">
            <a:extLst xmlns:a="http://schemas.openxmlformats.org/drawingml/2006/main">
              <a:ext uri="{FF2B5EF4-FFF2-40B4-BE49-F238E27FC236}">
                <a16:creationId xmlns:a16="http://schemas.microsoft.com/office/drawing/2014/main" id="{FEEA502F-5751-40BE-B68F-F1B291DFC99E}"/>
              </a:ext>
            </a:extLst>
          </p:cNvPr>
          <p:cNvSpPr>
            <a:spLocks xmlns:a="http://schemas.openxmlformats.org/drawingml/2006/main" noGrp="1"/>
          </p:cNvSpPr>
          <p:nvPr/>
        </p:nvSpPr>
        <p:spPr>
          <a:xfrm xmlns:a="http://schemas.openxmlformats.org/drawingml/2006/main">
            <a:off x="590550" y="128587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7879"/>
                </a:solidFill>
                <a:latin typeface="Arial"/>
                <a:ea typeface="Arial"/>
                <a:cs typeface="Arial"/>
              </a:defRPr>
            </a:pPr>
            <a:r>
              <a:rPr sz="1500" b="0">
                <a:solidFill>
                  <a:srgbClr val="607879"/>
                </a:solidFill>
                <a:latin typeface="Arial"/>
                <a:ea typeface="Arial"/>
                <a:cs typeface="Arial"/>
              </a:rPr>
              <a:t>Holberton School · Group 3</a:t>
            </a:r>
          </a:p>
        </p:txBody>
      </p:sp>
      <p:sp>
        <p:nvSpPr>
          <p:cNvPr id="3" name="">
            <a:extLst xmlns:a="http://schemas.openxmlformats.org/drawingml/2006/main">
              <a:ext uri="{FF2B5EF4-FFF2-40B4-BE49-F238E27FC236}">
                <a16:creationId xmlns:a16="http://schemas.microsoft.com/office/drawing/2014/main" id="{6CC51878-35F3-4CC7-9145-47F6C55D7DC0}"/>
              </a:ext>
            </a:extLst>
          </p:cNvPr>
          <p:cNvSpPr>
            <a:spLocks xmlns:a="http://schemas.openxmlformats.org/drawingml/2006/main" noGrp="1"/>
          </p:cNvSpPr>
          <p:nvPr/>
        </p:nvSpPr>
        <p:spPr>
          <a:xfrm xmlns:a="http://schemas.openxmlformats.org/drawingml/2006/main">
            <a:off x="609600" y="2190750"/>
            <a:ext cx="109251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23C43"/>
                </a:solidFill>
                <a:latin typeface="Arial"/>
                <a:ea typeface="Arial"/>
                <a:cs typeface="Arial"/>
              </a:defRPr>
            </a:pPr>
            <a:r>
              <a:rPr sz="3375" b="1">
                <a:solidFill>
                  <a:srgbClr val="123C43"/>
                </a:solidFill>
                <a:latin typeface="Arial"/>
                <a:ea typeface="Arial"/>
                <a:cs typeface="Arial"/>
              </a:rPr>
              <a:t>We connect place, time and infrastructure</a:t>
            </a:r>
          </a:p>
          <a:p xmlns:a="http://schemas.openxmlformats.org/drawingml/2006/main">
            <a:pPr>
              <a:defRPr sz="3375" b="1">
                <a:solidFill>
                  <a:srgbClr val="123C43"/>
                </a:solidFill>
                <a:latin typeface="Arial"/>
                <a:ea typeface="Arial"/>
                <a:cs typeface="Arial"/>
              </a:defRPr>
            </a:pPr>
            <a:r>
              <a:rPr sz="3375" b="1">
                <a:solidFill>
                  <a:srgbClr val="123C43"/>
                </a:solidFill>
                <a:latin typeface="Arial"/>
                <a:ea typeface="Arial"/>
                <a:cs typeface="Arial"/>
              </a:rPr>
              <a:t>to explore Baku’s future real estate potential.</a:t>
            </a:r>
          </a:p>
        </p:txBody>
      </p:sp>
      <p:sp>
        <p:nvSpPr>
          <p:cNvPr id="4" name="">
            <a:extLst xmlns:a="http://schemas.openxmlformats.org/drawingml/2006/main">
              <a:ext uri="{FF2B5EF4-FFF2-40B4-BE49-F238E27FC236}">
                <a16:creationId xmlns:a16="http://schemas.microsoft.com/office/drawing/2014/main" id="{3DD3C3AE-8D14-4314-A300-3A8889226EF9}"/>
              </a:ext>
            </a:extLst>
          </p:cNvPr>
          <p:cNvSpPr>
            <a:spLocks xmlns:a="http://schemas.openxmlformats.org/drawingml/2006/main" noGrp="1"/>
          </p:cNvSpPr>
          <p:nvPr/>
        </p:nvSpPr>
        <p:spPr>
          <a:xfrm xmlns:a="http://schemas.openxmlformats.org/drawingml/2006/main">
            <a:off x="628650" y="47529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07879"/>
                </a:solidFill>
                <a:latin typeface="Arial"/>
                <a:ea typeface="Arial"/>
                <a:cs typeface="Arial"/>
              </a:defRPr>
            </a:pPr>
            <a:r>
              <a:rPr sz="1875" b="0">
                <a:solidFill>
                  <a:srgbClr val="607879"/>
                </a:solidFill>
                <a:latin typeface="Arial"/>
                <a:ea typeface="Arial"/>
                <a:cs typeface="Arial"/>
              </a:rPr>
              <a:t>Hüseyn Hüseynli · Nihad Süleymanov · Eldəniz Arifzadə</a:t>
            </a:r>
          </a:p>
          <a:p xmlns:a="http://schemas.openxmlformats.org/drawingml/2006/main">
            <a:pPr>
              <a:defRPr sz="1875" b="0">
                <a:solidFill>
                  <a:srgbClr val="607879"/>
                </a:solidFill>
                <a:latin typeface="Arial"/>
                <a:ea typeface="Arial"/>
                <a:cs typeface="Arial"/>
              </a:defRPr>
            </a:pPr>
            <a:r>
              <a:rPr sz="1875" b="0">
                <a:solidFill>
                  <a:srgbClr val="607879"/>
                </a:solidFill>
                <a:latin typeface="Arial"/>
                <a:ea typeface="Arial"/>
                <a:cs typeface="Arial"/>
              </a:rPr>
              <a:t>Zeynəb Mirzəzadə · Vüqar Dünyamalıyev</a:t>
            </a:r>
          </a:p>
        </p:txBody>
      </p:sp>
      <p:sp>
        <p:nvSpPr>
          <p:cNvPr id="5" name="">
            <a:extLst xmlns:a="http://schemas.openxmlformats.org/drawingml/2006/main">
              <a:ext uri="{FF2B5EF4-FFF2-40B4-BE49-F238E27FC236}">
                <a16:creationId xmlns:a16="http://schemas.microsoft.com/office/drawing/2014/main" id="{C1FCCAB2-256E-4F82-904D-A62A2A9A99E8}"/>
              </a:ext>
            </a:extLst>
          </p:cNvPr>
          <p:cNvSpPr>
            <a:spLocks xmlns:a="http://schemas.openxmlformats.org/drawingml/2006/main" noGrp="1"/>
          </p:cNvSpPr>
          <p:nvPr/>
        </p:nvSpPr>
        <p:spPr>
          <a:xfrm xmlns:a="http://schemas.openxmlformats.org/drawingml/2006/main">
            <a:off x="628650" y="6048375"/>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8C85"/>
                </a:solidFill>
                <a:latin typeface="Arial"/>
                <a:ea typeface="Arial"/>
                <a:cs typeface="Arial"/>
              </a:defRPr>
            </a:pPr>
            <a:r>
              <a:rPr sz="2025" b="1">
                <a:solidFill>
                  <a:srgbClr val="138C85"/>
                </a:solidFill>
                <a:latin typeface="Arial"/>
                <a:ea typeface="Arial"/>
                <a:cs typeface="Arial"/>
              </a:rPr>
              <a:t>Questions?</a:t>
            </a:r>
          </a:p>
        </p:txBody>
      </p:sp>
    </p:spTree>
    <p:extLst>
      <p:ext uri="{BB962C8B-B14F-4D97-AF65-F5344CB8AC3E}">
        <p14:creationId xmlns:p14="http://schemas.microsoft.com/office/powerpoint/2010/main" val="138942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2026-09-18T08:18:38.2370000Z</dcterms:created>
  <dcterms:modified xsi:type="dcterms:W3CDTF">2026-09-18T08:18:38.2380000Z</dcterms:modified>
</coreProperties>
</file>