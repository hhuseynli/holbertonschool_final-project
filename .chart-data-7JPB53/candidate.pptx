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b886288bfa4ac0" /><Relationship Type="http://schemas.openxmlformats.org/officeDocument/2006/relationships/extended-properties" Target="/docProps/app.xml" Id="R1fb4590269754e4c" /><Relationship Type="http://schemas.openxmlformats.org/officeDocument/2006/relationships/officeDocument" Target="/ppt/presentation.xml" Id="R8afdca9c461c4f8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889d04e443046b9"/>
  </p:sldMasterIdLst>
  <p:notesMasterIdLst>
    <p:notesMasterId xmlns:r="http://schemas.openxmlformats.org/officeDocument/2006/relationships" r:id="R00fa2494470f481e"/>
  </p:notesMasterIdLst>
  <p:sldIdLst>
    <p:sldId xmlns:r="http://schemas.openxmlformats.org/officeDocument/2006/relationships" id="256" r:id="Rda65c667604b4565"/>
    <p:sldId xmlns:r="http://schemas.openxmlformats.org/officeDocument/2006/relationships" id="257" r:id="R14658fbfcb1c45c2"/>
    <p:sldId xmlns:r="http://schemas.openxmlformats.org/officeDocument/2006/relationships" id="258" r:id="R13119411c1a84f6c"/>
    <p:sldId xmlns:r="http://schemas.openxmlformats.org/officeDocument/2006/relationships" id="259" r:id="R985181f865ae4cfb"/>
    <p:sldId xmlns:r="http://schemas.openxmlformats.org/officeDocument/2006/relationships" id="260" r:id="R9ba77251c1c848b8"/>
    <p:sldId xmlns:r="http://schemas.openxmlformats.org/officeDocument/2006/relationships" id="261" r:id="Rcbe3486788054529"/>
    <p:sldId xmlns:r="http://schemas.openxmlformats.org/officeDocument/2006/relationships" id="262" r:id="R1c17644c736e4250"/>
    <p:sldId xmlns:r="http://schemas.openxmlformats.org/officeDocument/2006/relationships" id="263" r:id="R6e608632020747af"/>
    <p:sldId xmlns:r="http://schemas.openxmlformats.org/officeDocument/2006/relationships" id="264" r:id="R2057019834334529"/>
    <p:sldId xmlns:r="http://schemas.openxmlformats.org/officeDocument/2006/relationships" id="265" r:id="Ra799e836c9c44ecd"/>
    <p:sldId xmlns:r="http://schemas.openxmlformats.org/officeDocument/2006/relationships" id="266" r:id="R9d23ea67ab2f448f"/>
    <p:sldId xmlns:r="http://schemas.openxmlformats.org/officeDocument/2006/relationships" id="267" r:id="R4a73570e3e814530"/>
    <p:sldId xmlns:r="http://schemas.openxmlformats.org/officeDocument/2006/relationships" id="268" r:id="R4124f952ed35421a"/>
    <p:sldId xmlns:r="http://schemas.openxmlformats.org/officeDocument/2006/relationships" id="269" r:id="R115b29400fbe4823"/>
    <p:sldId xmlns:r="http://schemas.openxmlformats.org/officeDocument/2006/relationships" id="270" r:id="R9e51d97f8b5244d7"/>
    <p:sldId xmlns:r="http://schemas.openxmlformats.org/officeDocument/2006/relationships" id="271" r:id="R09ce1836a4d341be"/>
    <p:sldId xmlns:r="http://schemas.openxmlformats.org/officeDocument/2006/relationships" id="272" r:id="Rf3a1ad45baee411d"/>
    <p:sldId xmlns:r="http://schemas.openxmlformats.org/officeDocument/2006/relationships" id="273" r:id="Rf95cdeaacf5a41ad"/>
    <p:sldId xmlns:r="http://schemas.openxmlformats.org/officeDocument/2006/relationships" id="274" r:id="R43a6f35afceb44e1"/>
  </p:sldIdLst>
  <p:sldSz cx="12192000" cy="6858000"/>
  <p:notesSz cx="6858000" cy="9144000"/>
  <p:embeddedFontLst>
    <p:embeddedFont>
      <p:font typeface="OpenAI Sans"/>
      <p:regular xmlns:r="http://schemas.openxmlformats.org/officeDocument/2006/relationships" r:id="R11773dc5b4714d6b"/>
      <p:bold xmlns:r="http://schemas.openxmlformats.org/officeDocument/2006/relationships" r:id="R0ebc2515c0824578"/>
      <p:italic xmlns:r="http://schemas.openxmlformats.org/officeDocument/2006/relationships" r:id="R65376bb2e66c4b97"/>
      <p:boldItalic xmlns:r="http://schemas.openxmlformats.org/officeDocument/2006/relationships" r:id="Ra49f2dac5607464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01f32f870d44a90" /><Relationship Type="http://schemas.openxmlformats.org/officeDocument/2006/relationships/slideMaster" Target="/ppt/slideMasters/slideMaster1.xml" Id="R5889d04e443046b9" /><Relationship Type="http://schemas.openxmlformats.org/officeDocument/2006/relationships/notesMaster" Target="/ppt/notesMasters/notesMaster1.xml" Id="R00fa2494470f481e" /><Relationship Type="http://schemas.openxmlformats.org/officeDocument/2006/relationships/presProps" Target="/ppt/presProps.xml" Id="Rdc7c6756194247d2" /><Relationship Type="http://schemas.openxmlformats.org/officeDocument/2006/relationships/viewProps" Target="/ppt/viewProps.xml" Id="R107359247dc2487a" /><Relationship Type="http://schemas.openxmlformats.org/officeDocument/2006/relationships/tableStyles" Target="/ppt/tableStyles.xml" Id="R7475164a74e2483f" /><Relationship Type="http://schemas.openxmlformats.org/officeDocument/2006/relationships/font" Target="/ppt/fonts/font.dat" Id="R11773dc5b4714d6b" /><Relationship Type="http://schemas.openxmlformats.org/officeDocument/2006/relationships/font" Target="/ppt/fonts/font2.dat" Id="R0ebc2515c0824578" /><Relationship Type="http://schemas.openxmlformats.org/officeDocument/2006/relationships/font" Target="/ppt/fonts/font3.dat" Id="R65376bb2e66c4b97" /><Relationship Type="http://schemas.openxmlformats.org/officeDocument/2006/relationships/font" Target="/ppt/fonts/font4.dat" Id="Ra49f2dac5607464a" /><Relationship Type="http://schemas.openxmlformats.org/officeDocument/2006/relationships/slide" Target="/ppt/slides/slide1.xml" Id="Rda65c667604b4565" /><Relationship Type="http://schemas.openxmlformats.org/officeDocument/2006/relationships/slide" Target="/ppt/slides/slide2.xml" Id="R14658fbfcb1c45c2" /><Relationship Type="http://schemas.openxmlformats.org/officeDocument/2006/relationships/slide" Target="/ppt/slides/slide3.xml" Id="R13119411c1a84f6c" /><Relationship Type="http://schemas.openxmlformats.org/officeDocument/2006/relationships/slide" Target="/ppt/slides/slide4.xml" Id="R985181f865ae4cfb" /><Relationship Type="http://schemas.openxmlformats.org/officeDocument/2006/relationships/slide" Target="/ppt/slides/slide5.xml" Id="R9ba77251c1c848b8" /><Relationship Type="http://schemas.openxmlformats.org/officeDocument/2006/relationships/slide" Target="/ppt/slides/slide6.xml" Id="Rcbe3486788054529" /><Relationship Type="http://schemas.openxmlformats.org/officeDocument/2006/relationships/slide" Target="/ppt/slides/slide7.xml" Id="R1c17644c736e4250" /><Relationship Type="http://schemas.openxmlformats.org/officeDocument/2006/relationships/slide" Target="/ppt/slides/slide8.xml" Id="R6e608632020747af" /><Relationship Type="http://schemas.openxmlformats.org/officeDocument/2006/relationships/slide" Target="/ppt/slides/slide9.xml" Id="R2057019834334529" /><Relationship Type="http://schemas.openxmlformats.org/officeDocument/2006/relationships/slide" Target="/ppt/slides/slide10.xml" Id="Ra799e836c9c44ecd" /><Relationship Type="http://schemas.openxmlformats.org/officeDocument/2006/relationships/slide" Target="/ppt/slides/slide11.xml" Id="R9d23ea67ab2f448f" /><Relationship Type="http://schemas.openxmlformats.org/officeDocument/2006/relationships/slide" Target="/ppt/slides/slide12.xml" Id="R4a73570e3e814530" /><Relationship Type="http://schemas.openxmlformats.org/officeDocument/2006/relationships/slide" Target="/ppt/slides/slide13.xml" Id="R4124f952ed35421a" /><Relationship Type="http://schemas.openxmlformats.org/officeDocument/2006/relationships/slide" Target="/ppt/slides/slide14.xml" Id="R115b29400fbe4823" /><Relationship Type="http://schemas.openxmlformats.org/officeDocument/2006/relationships/slide" Target="/ppt/slides/slide15.xml" Id="R9e51d97f8b5244d7" /><Relationship Type="http://schemas.openxmlformats.org/officeDocument/2006/relationships/slide" Target="/ppt/slides/slide16.xml" Id="R09ce1836a4d341be" /><Relationship Type="http://schemas.openxmlformats.org/officeDocument/2006/relationships/slide" Target="/ppt/slides/slide17.xml" Id="Rf3a1ad45baee411d" /><Relationship Type="http://schemas.openxmlformats.org/officeDocument/2006/relationships/slide" Target="/ppt/slides/slide18.xml" Id="Rf95cdeaacf5a41ad" /><Relationship Type="http://schemas.openxmlformats.org/officeDocument/2006/relationships/slide" Target="/ppt/slides/slide19.xml" Id="R43a6f35afceb44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0294403d4a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43fbda7754626" /><Relationship Type="http://schemas.openxmlformats.org/officeDocument/2006/relationships/notesMaster" Target="/ppt/notesMasters/notesMaster1.xml" Id="R932675a3bfa143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a2682ac11c4b27" /><Relationship Type="http://schemas.openxmlformats.org/officeDocument/2006/relationships/notesMaster" Target="/ppt/notesMasters/notesMaster1.xml" Id="R90a4a365944442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63a1beeb9f45a9" /><Relationship Type="http://schemas.openxmlformats.org/officeDocument/2006/relationships/notesMaster" Target="/ppt/notesMasters/notesMaster1.xml" Id="Rd07ca162571940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dc73ed33b343f6" /><Relationship Type="http://schemas.openxmlformats.org/officeDocument/2006/relationships/notesMaster" Target="/ppt/notesMasters/notesMaster1.xml" Id="Rd8760bf1645440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09238ff3ce4061" /><Relationship Type="http://schemas.openxmlformats.org/officeDocument/2006/relationships/notesMaster" Target="/ppt/notesMasters/notesMaster1.xml" Id="R85264378637449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b3bfb592924416" /><Relationship Type="http://schemas.openxmlformats.org/officeDocument/2006/relationships/notesMaster" Target="/ppt/notesMasters/notesMaster1.xml" Id="Rbc3a881394a14f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5d34699fc345f8" /><Relationship Type="http://schemas.openxmlformats.org/officeDocument/2006/relationships/notesMaster" Target="/ppt/notesMasters/notesMaster1.xml" Id="R3c8ac5515b6c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351c2fe4dc446b" /><Relationship Type="http://schemas.openxmlformats.org/officeDocument/2006/relationships/notesMaster" Target="/ppt/notesMasters/notesMaster1.xml" Id="R3bfa95c67ff749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be5b322b944801" /><Relationship Type="http://schemas.openxmlformats.org/officeDocument/2006/relationships/notesMaster" Target="/ppt/notesMasters/notesMaster1.xml" Id="R63400b9c88aa4e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2ebabcaf5c4b37" /><Relationship Type="http://schemas.openxmlformats.org/officeDocument/2006/relationships/notesMaster" Target="/ppt/notesMasters/notesMaster1.xml" Id="R3d6f6e85a9724e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18d07bec3c4cb2" /><Relationship Type="http://schemas.openxmlformats.org/officeDocument/2006/relationships/notesMaster" Target="/ppt/notesMasters/notesMaster1.xml" Id="R3f5bdde587cd44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e91e89a7eb4fb9" /><Relationship Type="http://schemas.openxmlformats.org/officeDocument/2006/relationships/notesMaster" Target="/ppt/notesMasters/notesMaster1.xml" Id="R223aff729b4b4a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05c5e8e8734907" /><Relationship Type="http://schemas.openxmlformats.org/officeDocument/2006/relationships/notesMaster" Target="/ppt/notesMasters/notesMaster1.xml" Id="Ra6ac39a5373540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14a43c37f74348" /><Relationship Type="http://schemas.openxmlformats.org/officeDocument/2006/relationships/notesMaster" Target="/ppt/notesMasters/notesMaster1.xml" Id="Rd859fea710b24b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94887fd41f418e" /><Relationship Type="http://schemas.openxmlformats.org/officeDocument/2006/relationships/notesMaster" Target="/ppt/notesMasters/notesMaster1.xml" Id="R60a109a366da41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55fa01f8364f65" /><Relationship Type="http://schemas.openxmlformats.org/officeDocument/2006/relationships/notesMaster" Target="/ppt/notesMasters/notesMaster1.xml" Id="R7224bcd449d048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4b71ad4f884b8d" /><Relationship Type="http://schemas.openxmlformats.org/officeDocument/2006/relationships/notesMaster" Target="/ppt/notesMasters/notesMaster1.xml" Id="Rb917982bcaa447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5e08db462742ff" /><Relationship Type="http://schemas.openxmlformats.org/officeDocument/2006/relationships/notesMaster" Target="/ppt/notesMasters/notesMaster1.xml" Id="R4811166fe72445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d5669d4c1f4daa" /><Relationship Type="http://schemas.openxmlformats.org/officeDocument/2006/relationships/notesMaster" Target="/ppt/notesMasters/notesMaster1.xml" Id="R0ec93103e7cd40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Introduce BakuML as a graduation project studying asking-price patterns across Baku and Absheron. The project combines a research pipeline with a property-browsing application. The question is whether spatial structure and infrastructure can help explain where the market changes. Source: README.md; app/templates/base.html. Cover artwork is an AI-generated conceptual illustration, not a factual geographic map or a photograph.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35 seconds. A listing contains a current asking price. Our research question adds geography and time: where might prices change as access and urban structure change? Explain that asking prices are observable in advertisements, while executed transaction prices are outside the dataset. Urban expansion is an ambition in the README, not a separately validated land-change output in the current implementation. Source: README.md; bakuml/pipeline.py.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Describe the two halves of the project. Flask serves the Buy, listing detail and Map pages. JavaScript calls listing, cell and map APIs. The analytics layer enriches listings using precomputed artifacts. The research pipeline creates those artifacts offline. This is an implemented interface, but the current checkout has empty data/artifacts folders, so avoid claiming a populated live deployment. Sources: app/flask_app.py, app/enrichment.py, app/templates/, app/static/js/.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45 seconds. Make the evidence boundary explicit early. The synthetic generator plants price gradients, duplicates and a station treatment. That lets us test whether the system recovers known quantities. The real pipeline consumes a short bina.az snapshot and estimates listing-level price/m². Its 12/24-month growth columns use node gravity multiplied by fixed constants, not a learned temporal forecast. No real-data benchmark artifacts exist in this checkout. Sources: bakuml/data/synthetic.py; bakuml/data/scraping/client.py; scripts/run_real_pipeline.py.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Data normalization creates consistent fields. Dedup uses spatial/property blocking plus image hash or TF-IDF similarity, then chooses a canonical listing. Tessellation creates cell-month observations. Feature engineering uses historical data, followed by validation, XGBoost explanations, conformal quantiles, graph forecasting and spatial DiD. Parquet/JSON outputs decouple offline computation from the app. Sources: bakuml/data/dedup.py; bakuml/pipeline.py; bakuml/data/schema.py.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Explain the modifiable areal unit problem: changing boundaries changes which listings share an estimate. Fixed H3 cells can be thin where listing density is low. The default KD-tree uses only coordinates to balance counts. The documented MAUP study retains 81.6% versus 62.6% for H3 res 8 and gives 26 versus 5 median months. The ~70 setting has slightly higher skill but less retained data. These are source-reported synthetic measurements, not a new run. Sources: README.md spatial-architecture table; scripts/maup_study.py; bakuml/spatial/tessellation.py.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Distinguish static location from historical price features. Master-plan features use configured approximate node coordinates and redevelopment areas. They do not yet represent a complete GIS ingestion of the official plan. Metro features use the station opening timeline. Price and supply lags look backward. Current distances are straight-line haversine distances. Sources: bakuml/config.py; bakuml/features/masterplan.py; bakuml/features/infrastructure.py; bakuml/features/build.py.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45 seconds. XGBoost predicts monthly cell median asking price. TreeSHAP ranks contributions to this fitted model. CQR trains quantile models and adjusts bounds using later calibration months. STGCN learns temporal and graph structure and rolls forward autoregressively, with a spatial-lag Ridge fallback when torch is unavailable. Do not attach the XGBoost MAE/R² to the STGCN's 12/24-month forecasts. Sources: bakuml/models/baseline.py; conformal.py; stgcn.py; bakuml/pipeline.py.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50 seconds. Randomly mixing nearby listings or future months creates overly easy evaluation. Temporal walk-forward trains strictly before its evaluation window and compares with persistence. Spatial CV removes entire contiguous groups from model training and drops neighbour target encoding in the research pipeline. Own-cell historical price features remain available, so interpret spatial results as model transfer with local history, not a geography with no data at all. The canary test triples future prices and asserts earlier feature rows are unchanged. Sources: bakuml/models/baseline.py; bakuml/pipeline.py; tests/test_features.py.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These README benchmarks use the full synthetic run. Temporal MAE is 213 against 264 AZN/m², approximately 19.3% lower. Spatial MAE is 209 against 253, approximately 17.4% lower. README reports model R² 0.81 in both evaluations. The full documented panel has 6,799 usable cell-months and 3,953 feature/training rows. This is evidence that the method works on the controlled data-generating process, not evidence of live-market accuracy. Source: README.md Results on the offline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Explain the difference between proximity correlation and treatment effect. The synthetic design compares treated listings within one kilometre with controls two to six kilometres away, excluding the buffer. The model includes cell and month fixed effects and controls, with cluster-robust errors. Average post-opening ATT is 0.069 log units against approximately 0.075 planted ramp average. Post-ramp event-study mean is 0.088 against 0.080 planted. These are distinct estimands. Event-study pre-trends are documented near zero. This recovery experiment does not establish a causal effect in real Baku. Sources: README.md; bakuml/causal/did.py; tests/test_did.py.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CQR uses a train/calibrate/holdout time split: six calibration months and a final three-month holdout. Report the observed 71.4% coverage honestly against an 80% target, a gap of 8.6 percentage points. Exchangeability is difficult with trends and drift. The research pipeline reuses relative one-month widths and scales them by square root of horizon for longer forecasts. That heuristic does not establish calibrated 12/24-month coverage. Sources: README.md; bakuml/pipeline.py; bakuml/models/conformal.py.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About 40 seconds. The research pipeline composes scenarios from estimated quantities, not planted truth. Baseline keeps the forecast unchanged. Polycentric doubles the estimated historical gravity slope. Transit places a hypothetical B-05 one inter-station step beyond B-04 and applies the estimated ATT under an assumed opening/ramp schedule. These are sensitivity exercises. The real-data pipeline currently emits only baseline rows, so demonstrate all three only with compatible research artifacts. Source: bakuml/pipeline.py; scripts/run_real_pipeline.py.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or 90 seconds if a populated app is available. Browse by district and budget, open one listing, explain the analytics and switch to the map. Describe the score as a weighted heuristic. Do not describe it as a validated return probability. Before presenting, use compatible H3 artifacts for the current listing enricher, because it does not resolve KD-tree cell IDs. No populated dataset ships in this checkout. Sources: app/flask_app.py; app/enrichment.py; app/templates/detail.html; app/static/js/map.js.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Prioritize the real-data evidence gap. Collect longitudinal snapshots, perform dedup, create neighbour features within the training fold and separate calibration from final evaluation. Unify listing-to-cell mapping and artifact geometry. Then backtest each long horizon and scenario honestly. OSM network distances and satellite embeddings are later extensions. Source-review findings: scripts/run_real_pipeline.py; app/enrichment.py; README.md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Close on the contribution: an adaptable spatial research framework and a property interface that makes its outputs accessible. Invite questions about geography, leakage, causal design or real-data readiness. Team names reproduced from README.md. No individual contribution assignments were available in the repository.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In the real pipeline, cell_medians and nbr_price are computed on fm before cv_fold is used. As a result, test-region labels can influence features used across folds. The final model trains on all rows and derives residual quantiles on those same rows, so reported interval coverage is in-sample. The real pipeline does not invoke the research dedup stage and creates gravity-based appreciation plus a normal-CDF score. The listing enricher directly uses h3.latlng_to_cell, which does not match KD IDs. The map offers config.SCENARIOS despite the real pipeline producing baseline only. These are source-review findings, not runtime-verified failures. Sources: scripts/run_real_pipeline.py; app/enrichment.py; app/flask_app.py.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All eight rows reproduce the README MAUP table. Positive transfer skill indicates lower MAE than persistence under blocked spatial evaluation. KD ~140 is the default compromise, not the maximum-skill row. Market regions improve homogeneity but perform poorly under this transfer setup. Do not generalize this ranking to every dataset. Sources: README.md; scripts/maup_study.py.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Tests in the repository cover normalization, dedup recovery, features, validation, spatial tessellation, baseline models, DiD, forecasting, visualization and the pipeline. The code review inspected the tests but did not execute pytest, because the available runtime lacks pytest and the project ML/geospatial dependencies. Local artifacts/ and data/ contain no datasets or benchmark outputs. Reproduce documented numbers with the project dependencies and the full pipeline, preserving separate artifact directories for research and real data. README and DESIGN still refer to Streamlit/Scrapy, whereas the current implementation uses Flask and a GraphQL client. Sources: tests/; requirements.txt; README.md; DESIGN.md;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7d0fb47c234f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a2a4179c5f4a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30cb603bd346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4dd383cf4b49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e613d3efbf45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1442fb961744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ceab762d4374a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f4e7e76d0b8487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40ac3cd9484981" /><Relationship Type="http://schemas.openxmlformats.org/officeDocument/2006/relationships/slideLayout" Target="/ppt/slideLayouts/slideLayout1.xml" Id="Rbca9c1a994b747a1" /><Relationship Type="http://schemas.openxmlformats.org/officeDocument/2006/relationships/slideLayout" Target="/ppt/slideLayouts/slideLayout2.xml" Id="Rc572d4db34744fce" /><Relationship Type="http://schemas.openxmlformats.org/officeDocument/2006/relationships/slideLayout" Target="/ppt/slideLayouts/slideLayout3.xml" Id="R6eae0918268142fa" /><Relationship Type="http://schemas.openxmlformats.org/officeDocument/2006/relationships/slideLayout" Target="/ppt/slideLayouts/slideLayout4.xml" Id="R8e609102bb424460" /><Relationship Type="http://schemas.openxmlformats.org/officeDocument/2006/relationships/slideLayout" Target="/ppt/slideLayouts/slideLayout5.xml" Id="Rda970a7fc75e430f" /><Relationship Type="http://schemas.openxmlformats.org/officeDocument/2006/relationships/slideLayout" Target="/ppt/slideLayouts/slideLayout6.xml" Id="Ra89df5c67e894d9f" /><Relationship Type="http://schemas.openxmlformats.org/officeDocument/2006/relationships/slideLayout" Target="/ppt/slideLayouts/slideLayout7.xml" Id="Rb913971ff19c4722" /><Relationship Type="http://schemas.openxmlformats.org/officeDocument/2006/relationships/slideLayout" Target="/ppt/slideLayouts/slideLayout8.xml" Id="Rfcdccc3c99534cb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ca9c1a994b747a1"/>
    <p:sldLayoutId xmlns:r="http://schemas.openxmlformats.org/officeDocument/2006/relationships" id="2147483650" r:id="Rc572d4db34744fce"/>
    <p:sldLayoutId xmlns:r="http://schemas.openxmlformats.org/officeDocument/2006/relationships" id="2147483651" r:id="R6eae0918268142fa"/>
    <p:sldLayoutId xmlns:r="http://schemas.openxmlformats.org/officeDocument/2006/relationships" id="2147483652" r:id="R8e609102bb424460"/>
    <p:sldLayoutId xmlns:r="http://schemas.openxmlformats.org/officeDocument/2006/relationships" id="2147483653" r:id="Rda970a7fc75e430f"/>
    <p:sldLayoutId xmlns:r="http://schemas.openxmlformats.org/officeDocument/2006/relationships" id="2147483654" r:id="Ra89df5c67e894d9f"/>
    <p:sldLayoutId xmlns:r="http://schemas.openxmlformats.org/officeDocument/2006/relationships" id="2147483655" r:id="Rb913971ff19c4722"/>
    <p:sldLayoutId xmlns:r="http://schemas.openxmlformats.org/officeDocument/2006/relationships" id="2147483656" r:id="Rfcdccc3c99534cb5"/>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a95d67ca3b499c" /><Relationship Type="http://schemas.openxmlformats.org/officeDocument/2006/relationships/image" Target="/ppt/media/image.png" Id="R10b816b916364d11" /><Relationship Type="http://schemas.openxmlformats.org/officeDocument/2006/relationships/notesSlide" Target="/ppt/notesSlides/notesSlide1.xml" Id="Rb22e98f4611b48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46c3c2cb994124" /><Relationship Type="http://schemas.openxmlformats.org/officeDocument/2006/relationships/notesSlide" Target="/ppt/notesSlides/notesSlide2.xml" Id="R3f6dffd038ab42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c487c189f043c9" /><Relationship Type="http://schemas.openxmlformats.org/officeDocument/2006/relationships/notesSlide" Target="/ppt/notesSlides/notesSlide3.xml" Id="Rf493d801268248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56204cd3224be7" /><Relationship Type="http://schemas.openxmlformats.org/officeDocument/2006/relationships/notesSlide" Target="/ppt/notesSlides/notesSlide4.xml" Id="Re5bfbc60ea974e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72a35c5b944b99" /><Relationship Type="http://schemas.openxmlformats.org/officeDocument/2006/relationships/notesSlide" Target="/ppt/notesSlides/notesSlide5.xml" Id="R721bd2d148cd43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9ef5e5b2ee4b34" /><Relationship Type="http://schemas.openxmlformats.org/officeDocument/2006/relationships/chart" Target="/ppt/slides/charts/chart1.xml" Id="R382871de1f1547a5" /><Relationship Type="http://schemas.openxmlformats.org/officeDocument/2006/relationships/notesSlide" Target="/ppt/notesSlides/notesSlide6.xml" Id="Rdb4b380f6ad547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453184857944ce2" /><Relationship Type="http://schemas.openxmlformats.org/officeDocument/2006/relationships/notesSlide" Target="/ppt/notesSlides/notesSlide7.xml" Id="R77350141afa141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ec48fb34f24600" /><Relationship Type="http://schemas.openxmlformats.org/officeDocument/2006/relationships/notesSlide" Target="/ppt/notesSlides/notesSlide8.xml" Id="R3c473927880e40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aec2d57ff94a08" /><Relationship Type="http://schemas.openxmlformats.org/officeDocument/2006/relationships/notesSlide" Target="/ppt/notesSlides/notesSlide9.xml" Id="Re4688edff4c24f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a919c2cb7a42ef" /><Relationship Type="http://schemas.openxmlformats.org/officeDocument/2006/relationships/chart" Target="/ppt/slides/charts/chart2.xml" Id="Rcdd859e4d44e48a4" /><Relationship Type="http://schemas.openxmlformats.org/officeDocument/2006/relationships/notesSlide" Target="/ppt/notesSlides/notesSlide10.xml" Id="R8395d2edc5ff48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9f4ac235e96455f" /><Relationship Type="http://schemas.openxmlformats.org/officeDocument/2006/relationships/notesSlide" Target="/ppt/notesSlides/notesSlide11.xml" Id="R93cb3e62ef0244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667d86b305478c" /><Relationship Type="http://schemas.openxmlformats.org/officeDocument/2006/relationships/chart" Target="/ppt/slides/charts/chart3.xml" Id="Rbfd0704bfed84376" /><Relationship Type="http://schemas.openxmlformats.org/officeDocument/2006/relationships/notesSlide" Target="/ppt/notesSlides/notesSlide12.xml" Id="R2d5f4612092248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61ec51788b45b4" /><Relationship Type="http://schemas.openxmlformats.org/officeDocument/2006/relationships/notesSlide" Target="/ppt/notesSlides/notesSlide13.xml" Id="R7bb79ba1b2304e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be94d25660404f" /><Relationship Type="http://schemas.openxmlformats.org/officeDocument/2006/relationships/notesSlide" Target="/ppt/notesSlides/notesSlide14.xml" Id="R1ff9f7843bdd40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3bda2b715ea4978" /><Relationship Type="http://schemas.openxmlformats.org/officeDocument/2006/relationships/notesSlide" Target="/ppt/notesSlides/notesSlide15.xml" Id="R36a6837942484d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fbb8dd72434554" /><Relationship Type="http://schemas.openxmlformats.org/officeDocument/2006/relationships/notesSlide" Target="/ppt/notesSlides/notesSlide16.xml" Id="R028a4ace0eeb45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a43434066e14b35" /><Relationship Type="http://schemas.openxmlformats.org/officeDocument/2006/relationships/notesSlide" Target="/ppt/notesSlides/notesSlide17.xml" Id="R2416e6c6a67142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5e473807acd4690" /><Relationship Type="http://schemas.openxmlformats.org/officeDocument/2006/relationships/notesSlide" Target="/ppt/notesSlides/notesSlide18.xml" Id="Re6f119778df647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e1abc9e2a5b438c" /><Relationship Type="http://schemas.openxmlformats.org/officeDocument/2006/relationships/notesSlide" Target="/ppt/notesSlides/notesSlide19.xml" Id="R74888ed3a2504f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Listings retained</c:v>
          </c:tx>
          <c:spPr>
            <a:solidFill xmlns:a="http://schemas.openxmlformats.org/drawingml/2006/main">
              <a:srgbClr val="51C4E6"/>
            </a:solidFill>
          </c:spPr>
          <c:cat>
            <c:strRef>
              <c:f>'Chart Data'!$A$2:$A$3</c:f>
              <c:strCache>
                <c:ptCount val="2"/>
                <c:pt idx="0">
                  <c:v>H3 res 8</c:v>
                </c:pt>
                <c:pt idx="1">
                  <c:v>KD ~140</c:v>
                </c:pt>
              </c:strCache>
            </c:strRef>
          </c:cat>
          <c:val>
            <c:numRef>
              <c:f>'Chart Data'!$B$2:$B$3</c:f>
              <c:numCache>
                <c:formatCode>General</c:formatCode>
                <c:ptCount val="2"/>
                <c:pt idx="0">
                  <c:v>62.6</c:v>
                </c:pt>
                <c:pt idx="1">
                  <c:v>81.6</c:v>
                </c:pt>
              </c:numCache>
            </c:numRef>
          </c:val>
        </c:ser>
        <c:dLbls>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Listings retained (%)</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BBBBBB"/>
                </a:solidFill>
                <a:latin typeface="Helvetica Neue"/>
                <a:ea typeface="Helvetica Neue"/>
                <a:cs typeface="Helvetica Neue"/>
              </a:defRPr>
            </a:pPr>
          </a:p>
        </c:txPr>
        <c:crossAx val="48650112"/>
        <c:crossBetween val="between"/>
        <c:majorUnit val="20"/>
      </c:valAx>
      <c:spPr>
        <a:solidFill xmlns:a="http://schemas.openxmlformats.org/drawingml/2006/main">
          <a:srgbClr val="000000"/>
        </a:solidFill>
      </c:spPr>
    </c:plotArea>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Persistence</c:v>
          </c:tx>
          <c:spPr>
            <a:solidFill xmlns:a="http://schemas.openxmlformats.org/drawingml/2006/main">
              <a:srgbClr val="DBE6EB"/>
            </a:solidFill>
          </c:spPr>
          <c:cat>
            <c:strRef>
              <c:f>'Chart Data'!$A$2:$A$3</c:f>
              <c:strCache>
                <c:ptCount val="2"/>
                <c:pt idx="0">
                  <c:v>Temporal</c:v>
                </c:pt>
                <c:pt idx="1">
                  <c:v>Spatial</c:v>
                </c:pt>
              </c:strCache>
            </c:strRef>
          </c:cat>
          <c:val>
            <c:numRef>
              <c:f>'Chart Data'!$B$2:$B$3</c:f>
              <c:numCache>
                <c:formatCode>General</c:formatCode>
                <c:ptCount val="2"/>
                <c:pt idx="0">
                  <c:v>264</c:v>
                </c:pt>
                <c:pt idx="1">
                  <c:v>253</c:v>
                </c:pt>
              </c:numCache>
            </c:numRef>
          </c:val>
        </c:ser>
        <c:ser>
          <c:idx val="1"/>
          <c:order val="1"/>
          <c:tx>
            <c:v>XGBoost</c:v>
          </c:tx>
          <c:spPr>
            <a:solidFill xmlns:a="http://schemas.openxmlformats.org/drawingml/2006/main">
              <a:srgbClr val="51C4E6"/>
            </a:solidFill>
          </c:spPr>
          <c:cat>
            <c:strRef>
              <c:f>'Chart Data'!$C$2:$C$3</c:f>
              <c:strCache>
                <c:ptCount val="2"/>
                <c:pt idx="0">
                  <c:v>Temporal</c:v>
                </c:pt>
                <c:pt idx="1">
                  <c:v>Spatial</c:v>
                </c:pt>
              </c:strCache>
            </c:strRef>
          </c:cat>
          <c:val>
            <c:numRef>
              <c:f>'Chart Data'!$D$2:$D$3</c:f>
              <c:numCache>
                <c:formatCode>General</c:formatCode>
                <c:ptCount val="2"/>
                <c:pt idx="0">
                  <c:v>213</c:v>
                </c:pt>
                <c:pt idx="1">
                  <c:v>209</c:v>
                </c:pt>
              </c:numCache>
            </c:numRef>
          </c:val>
        </c:ser>
        <c:dLbls>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350"/>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MAE (AZN/m²)</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BBBBBB"/>
                </a:solidFill>
                <a:latin typeface="Helvetica Neue"/>
                <a:ea typeface="Helvetica Neue"/>
                <a:cs typeface="Helvetica Neue"/>
              </a:defRPr>
            </a:pPr>
          </a:p>
        </c:txPr>
        <c:crossAx val="48650112"/>
        <c:crossBetween val="between"/>
        <c:majorUnit val="100"/>
      </c:valAx>
      <c:spPr>
        <a:solidFill xmlns:a="http://schemas.openxmlformats.org/drawingml/2006/main">
          <a:srgbClr val="000000"/>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Coverage</c:v>
          </c:tx>
          <c:spPr>
            <a:solidFill xmlns:a="http://schemas.openxmlformats.org/drawingml/2006/main">
              <a:srgbClr val="51C4E6"/>
            </a:solidFill>
          </c:spPr>
          <c:cat>
            <c:strRef>
              <c:f>'Chart Data'!$A$2:$A$3</c:f>
              <c:strCache>
                <c:ptCount val="2"/>
                <c:pt idx="0">
                  <c:v>Target</c:v>
                </c:pt>
                <c:pt idx="1">
                  <c:v>Observed</c:v>
                </c:pt>
              </c:strCache>
            </c:strRef>
          </c:cat>
          <c:val>
            <c:numRef>
              <c:f>'Chart Data'!$B$2:$B$3</c:f>
              <c:numCache>
                <c:formatCode>General</c:formatCode>
                <c:ptCount val="2"/>
                <c:pt idx="0">
                  <c:v>80</c:v>
                </c:pt>
                <c:pt idx="1">
                  <c:v>71.4</c:v>
                </c:pt>
              </c:numCache>
            </c:numRef>
          </c:val>
        </c:ser>
        <c:dLbls>
          <c:txPr>
            <a:bodyPr xmlns:a="http://schemas.openxmlformats.org/drawingml/2006/main" anchorCtr="1"/>
            <a:lstStyle xmlns:a="http://schemas.openxmlformats.org/drawingml/2006/main"/>
            <a:p xmlns:a="http://schemas.openxmlformats.org/drawingml/2006/main">
              <a:pPr>
                <a:defRPr sz="1500">
                  <a:solidFill>
                    <a:srgbClr val="FFFF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333333"/>
              </a:solidFill>
            </a:ln>
          </c:spPr>
        </c:majorGridlines>
        <c:title>
          <c:tx>
            <c:rich>
              <a:bodyPr xmlns:a="http://schemas.openxmlformats.org/drawingml/2006/main"/>
              <a:lstStyle xmlns:a="http://schemas.openxmlformats.org/drawingml/2006/main"/>
              <a:p xmlns:a="http://schemas.openxmlformats.org/drawingml/2006/main">
                <a:r>
                  <a:rPr sz="1125">
                    <a:solidFill>
                      <a:srgbClr val="FFFFFF"/>
                    </a:solidFill>
                    <a:latin typeface="Helvetica Neue"/>
                    <a:ea typeface="Helvetica Neue"/>
                    <a:cs typeface="Helvetica Neue"/>
                  </a:rPr>
                  <a:t>Coverage (%)</a:t>
                </a:r>
              </a:p>
            </c:rich>
          </c:tx>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BBBBBB"/>
                </a:solidFill>
                <a:latin typeface="Helvetica Neue"/>
                <a:ea typeface="Helvetica Neue"/>
                <a:cs typeface="Helvetica Neue"/>
              </a:defRPr>
            </a:pPr>
          </a:p>
        </c:txPr>
        <c:crossAx val="48650112"/>
        <c:crossBetween val="between"/>
        <c:majorUnit val="20"/>
      </c:valAx>
      <c:spPr>
        <a:solidFill xmlns:a="http://schemas.openxmlformats.org/drawingml/2006/main">
          <a:srgbClr val="000000"/>
        </a:solidFill>
      </c:spPr>
    </c:plotArea>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r>
              <a:rPr sz="5400"/>
              <a:t>Beyond Price</a:t>
            </a:r>
          </a:p>
          <a:p xmlns:a="http://schemas.openxmlformats.org/drawingml/2006/main">
            <a:r>
              <a:rPr sz="5400"/>
              <a:t>Prediction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r>
              <a:rPr sz="1800"/>
              <a:t>Baku &amp; Absheron real estate</a:t>
            </a:r>
          </a:p>
          <a:p xmlns:a="http://schemas.openxmlformats.org/drawingml/2006/main">
            <a:r>
              <a:rPr sz="1800"/>
              <a:t>Holberton School  /  Group 3</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2000"/>
              <a:t>BakuML</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10b816b916364d11"/>
          <a:srcRect xmlns:a="http://schemas.openxmlformats.org/drawingml/2006/main" l="3052" t="0" r="3052" b="0"/>
          <a:stretch xmlns:a="http://schemas.openxmlformats.org/drawingml/2006/main">
            <a:fillRect l="0" t="0" r="0" b="0"/>
          </a:stretch>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3712696"/>
            <a:ext cx="9448800" cy="2491490"/>
          </a:xfrm>
        </p:spPr>
        <p:txBody>
          <a:bodyPr xmlns:a="http://schemas.openxmlformats.org/drawingml/2006/main">
            <a:noAutofit/>
          </a:bodyPr>
          <a:lstStyle xmlns:a="http://schemas.openxmlformats.org/drawingml/2006/main"/>
          <a:p xmlns:a="http://schemas.openxmlformats.org/drawingml/2006/main">
            <a:r>
              <a:rPr sz="6000"/>
              <a:t>Where will Baku’s</a:t>
            </a:r>
          </a:p>
          <a:p xmlns:a="http://schemas.openxmlformats.org/drawingml/2006/main">
            <a:r>
              <a:rPr sz="6000"/>
              <a:t>market move next?</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The research question</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Asking prices, place and time</a:t>
            </a:r>
          </a:p>
        </p:txBody>
      </p:sp>
    </p:spTree>
    <p:extLst>
      <p:ext uri="{BB962C8B-B14F-4D97-AF65-F5344CB8AC3E}">
        <p14:creationId xmlns:p14="http://schemas.microsoft.com/office/powerpoint/2010/main" val="3507737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Current interface: Flask, Jinja, Leaflet and Plotly</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3</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BakuML combines a marketplace with spatial research</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Property discovery</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Filter listings by district, budget, rooms and building type.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Listing analytics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Compare asking prices with cell estimates and a composite score.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Interactive geography</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Explore map layers, metro stations and cell-level histories.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Research engine</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Evaluate spatial models and infrastructure scenarios offline.</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The figures in this presentation are documented synthetic benchmarks</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4</a:t>
            </a:r>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Two data paths, two levels of evidence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Synthetic research panel</a:t>
            </a: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Controlled monthly listings with known duplicates, price gradients and a simulated station opening.
Supports temporal validation and recovery of planted effects.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Real-listing snapshot</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The bina.az GraphQL client feeds a separate cross-sectional model.
A snapshot supports price comparisons. Long-term growth outputs remain heuristic.</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5</a:t>
            </a:r>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The research pipeline</a:t>
            </a:r>
          </a:p>
        </p:txBody>
      </p:sp>
      <p:cxnSp>
        <p:nvCxnSpPr>
          <p:cNvPr id="23" name="Google Shape;2259;p159"/>
          <p:cNvCxnSpPr>
            <a:stCxn xmlns:a="http://schemas.openxmlformats.org/drawingml/2006/main" id="3" idx="2"/>
          </p:cNvCxnSpPr>
          <p:nvPr/>
        </p:nvCxnSpPr>
        <p:spPr>
          <a:xfrm xmlns:a="http://schemas.openxmlformats.org/drawingml/2006/main">
            <a:off x="337757" y="3373755"/>
            <a:ext cx="11460480" cy="305"/>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01  Data</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02  Geography</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03  Models</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Build the panel</a:t>
            </a:r>
          </a:p>
          <a:p xmlns:a="http://schemas.openxmlformats.org/drawingml/2006/main">
            <a:pPr marL="0" indent="0">
              <a:lnSpc>
                <a:spcPct val="114000"/>
              </a:lnSpc>
              <a:spcBef>
                <a:spcPts val="0"/>
              </a:spcBef>
              <a:spcAft>
                <a:spcPts val="800"/>
              </a:spcAft>
              <a:buFont typeface="Arial"/>
              <a:buNone/>
            </a:pPr>
            <a:r>
              <a:rPr sz="1700">
                <a:latin typeface="Helvetica Neue"/>
                <a:ea typeface="Helvetica Neue"/>
                <a:cs typeface="Helvetica Neue"/>
              </a:rPr>
              <a:t>Assign spatial cells, aggregate monthly prices and compute past-only features.</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Clean the listings</a:t>
            </a:r>
          </a:p>
          <a:p xmlns:a="http://schemas.openxmlformats.org/drawingml/2006/main">
            <a:pPr marL="0" indent="0">
              <a:lnSpc>
                <a:spcPct val="114000"/>
              </a:lnSpc>
              <a:spcBef>
                <a:spcPts val="0"/>
              </a:spcBef>
              <a:spcAft>
                <a:spcPts val="800"/>
              </a:spcAft>
              <a:buFont typeface="Arial"/>
              <a:buNone/>
            </a:pPr>
            <a:r>
              <a:rPr sz="1700">
                <a:latin typeface="Helvetica Neue"/>
                <a:ea typeface="Helvetica Neue"/>
                <a:cs typeface="Helvetica Neue"/>
              </a:rPr>
              <a:t>Normalize fields and remove broker reposts using image hashes and text similarity.</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Publish the outputs</a:t>
            </a:r>
          </a:p>
          <a:p xmlns:a="http://schemas.openxmlformats.org/drawingml/2006/main">
            <a:pPr marL="0" indent="0">
              <a:lnSpc>
                <a:spcPct val="114000"/>
              </a:lnSpc>
              <a:spcBef>
                <a:spcPts val="0"/>
              </a:spcBef>
              <a:spcAft>
                <a:spcPts val="800"/>
              </a:spcAft>
              <a:buFont typeface="Arial"/>
              <a:buNone/>
            </a:pPr>
            <a:r>
              <a:rPr sz="1700">
                <a:latin typeface="Helvetica Neue"/>
                <a:ea typeface="Helvetica Neue"/>
                <a:cs typeface="Helvetica Neue"/>
              </a:rPr>
              <a:t>Evaluate models, estimate intervals and save artifacts for the application.</a:t>
            </a:r>
          </a:p>
        </p:txBody>
      </p:sp>
    </p:spTree>
    <p:extLst>
      <p:ext uri="{BB962C8B-B14F-4D97-AF65-F5344CB8AC3E}">
        <p14:creationId xmlns:p14="http://schemas.microsoft.com/office/powerpoint/2010/main" val="34463389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Documented synthetic MAUP study. Chart: percentage of listings retained</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6</a:t>
            </a:r>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Adaptive cells retain more usable history</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5</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Median months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H3 resolution 8</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26</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Median months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KD-tree ~140/cell</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Geography changes the dataset</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Coordinate-only KD-tree splits adapt to listing density. The documented default balances coverage and spatial transfer.</a:t>
            </a:r>
          </a:p>
        </p:txBody>
      </p:sp>
      <p:graphicFrame>
        <p:nvGraphicFramePr>
          <p:cNvPr id="53" name="Chart"/>
          <p:cNvGraphicFramePr/>
          <p:nvPr/>
        </p:nvGraphicFramePr>
        <p:xfrm>
          <a:off xmlns:a="http://schemas.openxmlformats.org/drawingml/2006/main" x="628650" y="1685925"/>
          <a:ext xmlns:a="http://schemas.openxmlformats.org/drawingml/2006/main" cx="5010150" cy="4010025"/>
        </p:xfrm>
        <a:graphic xmlns:a="http://schemas.openxmlformats.org/drawingml/2006/main">
          <a:graphicData uri="http://schemas.openxmlformats.org/drawingml/2006/chart">
            <c:chart xmlns:r="http://schemas.openxmlformats.org/officeDocument/2006/relationships" xmlns:c="http://schemas.openxmlformats.org/drawingml/2006/chart" r:id="R382871de1f1547a5"/>
          </a:graphicData>
        </a:graphic>
      </p:graphicFrame>
    </p:spTree>
    <p:extLst>
      <p:ext uri="{BB962C8B-B14F-4D97-AF65-F5344CB8AC3E}">
        <p14:creationId xmlns:p14="http://schemas.microsoft.com/office/powerpoint/2010/main" val="11264330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Current distances use haversine geometry. Network travel distance is future work</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7</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Features connect price to place and time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Urban structure</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Distances to the city centre and configured polycentric nodes.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Transit access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Distance to open metro stations and the number within 2 km.</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Local market history</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Own-price lags, momentum and previous-month neighbour prices.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Building mix</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Previous-month supply composition and redevelopment-zone flags.</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The reported MAE and R² benchmarks measure XGBoost, not long-horizon STGCN accuracy</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8</a:t>
            </a:r>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A model stack with distinct responsibilities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400">
                <a:latin typeface="Helvetica Neue"/>
                <a:ea typeface="Helvetica Neue"/>
                <a:cs typeface="Helvetica Neue"/>
              </a:rPr>
              <a:t>XGBoost</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Estimate cell-month asking prices. TreeSHAP explains the fitted model’s price drivers.</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Graph forecasting</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STGCN uses adjacency and history for 12/24-month rollouts. Ridge provides a fallback.</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Conformal quantiles</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Fit q10, q50 and q90, then calibrate the interval on later months.</a:t>
            </a:r>
          </a:p>
        </p:txBody>
      </p:sp>
    </p:spTree>
    <p:extLst>
      <p:ext uri="{BB962C8B-B14F-4D97-AF65-F5344CB8AC3E}">
        <p14:creationId xmlns:p14="http://schemas.microsoft.com/office/powerpoint/2010/main" val="13934569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These safeguards describe the synthetic research pipeline</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9</a:t>
            </a:r>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Validation separates time from geography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Temporal walk-forward</a:t>
            </a: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Train on past months and evaluate later months.
Compare each split with persistence: next month equals the last observed month.</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Spatial blocked folds</a:t>
            </a:r>
          </a:p>
          <a:p xmlns:a="http://schemas.openxmlformats.org/drawingml/2006/main">
            <a:pPr marL="0" indent="0">
              <a:lnSpc>
                <a:spcPct val="114000"/>
              </a:lnSpc>
              <a:spcBef>
                <a:spcPts val="0"/>
              </a:spcBef>
              <a:spcAft>
                <a:spcPts val="800"/>
              </a:spcAft>
              <a:buNone/>
            </a:pPr>
            <a:r>
              <a:rPr sz="2000">
                <a:latin typeface="Helvetica Neue"/>
                <a:ea typeface="Helvetica Neue"/>
                <a:cs typeface="Helvetica Neue"/>
              </a:rPr>
              <a:t>Hold out contiguous regions across months. Exclude neighbour-price features in this evaluation.
A canary test perturbs future prices and checks earlier features.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README full-run benchmarks. Rounded improvement: (naive MAE − model MAE) / naive MAE</a:t>
            </a:r>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10</a:t>
            </a:r>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XGBoost beats persistence on the synthetic panel</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600" u="none" cap="none" spc="0">
                <a:ln>
                  <a:noFill/>
                </a:ln>
                <a:latin typeface="Helvetica Neue"/>
                <a:ea typeface="Helvetica Neue"/>
                <a:cs typeface="Helvetica Neue"/>
              </a:rPr>
              <a:t>19%</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Lower temporal MAE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213 versus 264</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600" u="none" cap="none" spc="0">
                <a:ln>
                  <a:noFill/>
                </a:ln>
                <a:latin typeface="Helvetica Neue"/>
                <a:ea typeface="Helvetica Neue"/>
                <a:cs typeface="Helvetica Neue"/>
              </a:rPr>
              <a:t>17%</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Lower spatial MAE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209 versus 253</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Mean absolute error</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Lower is better, in AZN/m².
25 temporal splits and 5 spatial folds in the documented full run.</a:t>
            </a:r>
          </a:p>
        </p:txBody>
      </p:sp>
      <p:graphicFrame>
        <p:nvGraphicFramePr>
          <p:cNvPr id="53" name="Chart"/>
          <p:cNvGraphicFramePr/>
          <p:nvPr/>
        </p:nvGraphicFramePr>
        <p:xfrm>
          <a:off xmlns:a="http://schemas.openxmlformats.org/drawingml/2006/main" x="628650" y="1685925"/>
          <a:ext xmlns:a="http://schemas.openxmlformats.org/drawingml/2006/main" cx="5010150" cy="4010025"/>
        </p:xfrm>
        <a:graphic xmlns:a="http://schemas.openxmlformats.org/drawingml/2006/main">
          <a:graphicData uri="http://schemas.openxmlformats.org/drawingml/2006/chart">
            <c:chart xmlns:r="http://schemas.openxmlformats.org/officeDocument/2006/relationships" xmlns:c="http://schemas.openxmlformats.org/drawingml/2006/chart" r:id="Rcdd859e4d44e48a4"/>
          </a:graphicData>
        </a:graphic>
      </p:graphicFrame>
    </p:spTree>
    <p:extLst>
      <p:ext uri="{BB962C8B-B14F-4D97-AF65-F5344CB8AC3E}">
        <p14:creationId xmlns:p14="http://schemas.microsoft.com/office/powerpoint/2010/main" val="112643305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r>
              <a:rPr sz="1000"/>
              <a:t>11</a:t>
            </a:r>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3000"/>
              <a:t>A simulated metro opening tests causal recovery</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Estimated average</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effect, log units</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Post-ramp estimate</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versus 0.080 planted</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Approximate planted</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ramp-average effect</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800" b="0" i="0" u="none" cap="none" spc="0">
                <a:ln>
                  <a:noFill/>
                </a:ln>
                <a:latin typeface="Helvetica Neue"/>
                <a:ea typeface="Helvetica Neue"/>
                <a:cs typeface="Helvetica Neue"/>
              </a:rPr>
              <a:t>0.069</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800" b="0" i="0" u="none" cap="none" spc="0">
                <a:ln>
                  <a:noFill/>
                </a:ln>
                <a:latin typeface="Helvetica Neue"/>
                <a:ea typeface="Helvetica Neue"/>
                <a:cs typeface="Helvetica Neue"/>
              </a:rPr>
              <a:t>0.075</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800" b="0" i="0" u="none" cap="none" spc="0">
                <a:ln>
                  <a:noFill/>
                </a:ln>
                <a:latin typeface="Helvetica Neue"/>
                <a:ea typeface="Helvetica Neue"/>
                <a:cs typeface="Helvetica Neue"/>
              </a:rPr>
              <a:t>0.088</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2400">
                <a:latin typeface="Helvetica Neue Medium"/>
                <a:ea typeface="Helvetica Neue Medium"/>
                <a:cs typeface="Helvetica Neue Medium"/>
              </a:rPr>
              <a:t>Spatial difference-in-differences</a:t>
            </a:r>
          </a:p>
          <a:p xmlns:a="http://schemas.openxmlformats.org/drawingml/2006/main">
            <a:pPr>
              <a:lnSpc>
                <a:spcPct val="114000"/>
              </a:lnSpc>
              <a:spcBef>
                <a:spcPts val="0"/>
              </a:spcBef>
              <a:spcAft>
                <a:spcPts val="600"/>
              </a:spcAft>
              <a:buNone/>
            </a:pPr>
            <a:r>
              <a:rPr sz="1800">
                <a:latin typeface="Helvetica Neue"/>
                <a:ea typeface="Helvetica Neue"/>
                <a:cs typeface="Helvetica Neue"/>
              </a:rPr>
              <a:t>Compare listings within 1 km with controls 2–6 km away. Cell and month effects isolate the simulated treatment.</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Documented synthetic recovery. This is not an estimate of an observed real-world metro effect</a:t>
            </a:r>
            <a:endParaRPr/>
          </a:p>
        </p:txBody>
      </p:sp>
    </p:spTree>
    <p:extLst>
      <p:ext uri="{BB962C8B-B14F-4D97-AF65-F5344CB8AC3E}">
        <p14:creationId xmlns:p14="http://schemas.microsoft.com/office/powerpoint/2010/main" val="236961682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Synthetic CQR holdout. Multi-month interval widths use a √horizon heuristic</a:t>
            </a:r>
            <a:endParaRPr/>
          </a:p>
        </p:txBody>
      </p:sp>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12</a:t>
            </a:r>
            <a:endParaRPr/>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Uncertainty remains an open challenge</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4"/>
            <a:ext cx="2133315" cy="1155819"/>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300" u="none" cap="none" spc="0">
                <a:ln>
                  <a:noFill/>
                </a:ln>
                <a:latin typeface="Helvetica Neue"/>
                <a:ea typeface="Helvetica Neue"/>
                <a:cs typeface="Helvetica Neue"/>
              </a:rPr>
              <a:t>71.4%</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Observed coverage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on unseen months</a:t>
            </a:r>
            <a:endParaRPr sz="1400">
              <a:latin typeface="Helvetica Neue"/>
              <a:ea typeface="Helvetica Neue"/>
              <a:cs typeface="Helvetica Neue"/>
            </a:endParaRP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4"/>
            <a:ext cx="2133315" cy="1155819"/>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4300" u="none" cap="none" spc="0">
                <a:ln>
                  <a:noFill/>
                </a:ln>
                <a:latin typeface="Helvetica Neue"/>
                <a:ea typeface="Helvetica Neue"/>
                <a:cs typeface="Helvetica Neue"/>
              </a:rPr>
              <a:t>8.6 pp</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Gap below the</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80% target</a:t>
            </a:r>
            <a:endParaRPr sz="1400">
              <a:latin typeface="Helvetica Neue"/>
              <a:ea typeface="Helvetica Neue"/>
              <a:cs typeface="Helvetica Neue"/>
            </a:endParaRP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Held-out coverage falls below the 80% target. A trending market challenges exchangeability.</a:t>
            </a:r>
          </a:p>
        </p:txBody>
      </p:sp>
      <p:graphicFrame>
        <p:nvGraphicFramePr>
          <p:cNvPr id="55" name="Chart"/>
          <p:cNvGraphicFramePr/>
          <p:nvPr/>
        </p:nvGraphicFramePr>
        <p:xfrm>
          <a:off xmlns:a="http://schemas.openxmlformats.org/drawingml/2006/main" x="628650" y="1685925"/>
          <a:ext xmlns:a="http://schemas.openxmlformats.org/drawingml/2006/main" cx="5010150" cy="4010025"/>
        </p:xfrm>
        <a:graphic xmlns:a="http://schemas.openxmlformats.org/drawingml/2006/main">
          <a:graphicData uri="http://schemas.openxmlformats.org/drawingml/2006/chart">
            <c:chart xmlns:r="http://schemas.openxmlformats.org/officeDocument/2006/relationships" xmlns:c="http://schemas.openxmlformats.org/drawingml/2006/chart" r:id="Rbfd0704bfed84376"/>
          </a:graphicData>
        </a:graphic>
      </p:graphicFrame>
    </p:spTree>
    <p:extLst>
      <p:ext uri="{BB962C8B-B14F-4D97-AF65-F5344CB8AC3E}">
        <p14:creationId xmlns:p14="http://schemas.microsoft.com/office/powerpoint/2010/main" val="377680918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Research scenarios are conditional simulations, not promised investment returns</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13</a:t>
            </a:r>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Scenarios explore explicit assumptions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2400">
                <a:latin typeface="Helvetica Neue"/>
                <a:ea typeface="Helvetica Neue"/>
                <a:cs typeface="Helvetica Neue"/>
              </a:rPr>
              <a:t>Baseline</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900">
                <a:latin typeface="Helvetica Neue"/>
                <a:ea typeface="Helvetica Neue"/>
                <a:cs typeface="Helvetica Neue"/>
              </a:rPr>
              <a:t>Continue the fitted forecast without an additional policy adjustment.</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Transit</a:t>
            </a:r>
          </a:p>
          <a:p xmlns:a="http://schemas.openxmlformats.org/drawingml/2006/main">
            <a:pPr marL="0" marR="0" lvl="0" indent="0" algn="l" defTabSz="914400">
              <a:lnSpc>
                <a:spcPct val="114000"/>
              </a:lnSpc>
              <a:spcBef>
                <a:spcPts val="0"/>
              </a:spcBef>
              <a:spcAft>
                <a:spcPts val="800"/>
              </a:spcAft>
              <a:buClrTx/>
              <a:buSzTx/>
              <a:buFont typeface="Arial"/>
              <a:buNone/>
            </a:pPr>
            <a:r>
              <a:rPr sz="1900" b="0" i="0" u="none" cap="none" spc="0">
                <a:ln>
                  <a:noFill/>
                </a:ln>
                <a:latin typeface="Helvetica Neue"/>
                <a:ea typeface="Helvetica Neue"/>
                <a:cs typeface="Helvetica Neue"/>
              </a:rPr>
              <a:t>Apply the estimated metro effect near a hypothetical next station.</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400" b="0" i="0" u="none" cap="none" spc="0">
                <a:ln>
                  <a:noFill/>
                </a:ln>
                <a:latin typeface="Helvetica Neue"/>
                <a:ea typeface="Helvetica Neue"/>
                <a:cs typeface="Helvetica Neue"/>
              </a:rPr>
              <a:t>Polycentric</a:t>
            </a:r>
          </a:p>
          <a:p xmlns:a="http://schemas.openxmlformats.org/drawingml/2006/main">
            <a:pPr marL="0" marR="0" lvl="0" indent="0" algn="l" defTabSz="914400">
              <a:lnSpc>
                <a:spcPct val="114000"/>
              </a:lnSpc>
              <a:spcBef>
                <a:spcPts val="0"/>
              </a:spcBef>
              <a:spcAft>
                <a:spcPts val="800"/>
              </a:spcAft>
              <a:buClrTx/>
              <a:buSzTx/>
              <a:buFont typeface="Arial"/>
              <a:buNone/>
            </a:pPr>
            <a:r>
              <a:rPr sz="1900" b="0" i="0" u="none" cap="none" spc="0">
                <a:ln>
                  <a:noFill/>
                </a:ln>
                <a:latin typeface="Helvetica Neue"/>
                <a:ea typeface="Helvetica Neue"/>
                <a:cs typeface="Helvetica Neue"/>
              </a:rPr>
              <a:t>Double the estimated historical node-gravity appreciation slope.</a:t>
            </a:r>
          </a:p>
        </p:txBody>
      </p:sp>
    </p:spTree>
    <p:extLst>
      <p:ext uri="{BB962C8B-B14F-4D97-AF65-F5344CB8AC3E}">
        <p14:creationId xmlns:p14="http://schemas.microsoft.com/office/powerpoint/2010/main" val="139345699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A populated demo requires listing and model artifacts</a:t>
            </a: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r>
              <a:rPr sz="1000"/>
              <a:t>14</a:t>
            </a:r>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The product demonstration</a:t>
            </a:r>
          </a:p>
        </p:txBody>
      </p:sp>
      <p:cxnSp>
        <p:nvCxnSpPr>
          <p:cNvPr id="23" name="Google Shape;2259;p159"/>
          <p:cNvCxnSpPr>
            <a:stCxn xmlns:a="http://schemas.openxmlformats.org/drawingml/2006/main" id="3" idx="2"/>
          </p:cNvCxnSpPr>
          <p:nvPr/>
        </p:nvCxnSpPr>
        <p:spPr>
          <a:xfrm xmlns:a="http://schemas.openxmlformats.org/drawingml/2006/main">
            <a:off x="337757" y="3373755"/>
            <a:ext cx="11460480" cy="305"/>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01  Browse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02  Inspect</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03  Explore</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Read the context</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Open the detail page to inspect price position, metro proximity and score.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Find a property</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Apply district and budget filters, then sort the results.</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Compare the map</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Switch metrics and horizons, then inspect a cell’s history and estimates.</a:t>
            </a:r>
          </a:p>
        </p:txBody>
      </p:sp>
    </p:spTree>
    <p:extLst>
      <p:ext uri="{BB962C8B-B14F-4D97-AF65-F5344CB8AC3E}">
        <p14:creationId xmlns:p14="http://schemas.microsoft.com/office/powerpoint/2010/main" val="344633891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15</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The next milestone is credible real-data validation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Collect longitudinal data</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Build a recurring listing history before evaluating future growth.</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Rebuild validation boundaries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Compute neighbour features within folds and reserve calibration data.</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Unify the application geometry</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Make listing enrichment support the research pipeline’s adaptive cells.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Calibrate longer horizons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Backtest 12/24-month forecasts and measure coverage separately.</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6000"/>
              <a:t>BakuML</a:t>
            </a:r>
          </a:p>
          <a:p xmlns:a="http://schemas.openxmlformats.org/drawingml/2006/main">
            <a:r>
              <a:rPr sz="6000"/>
              <a:t>Questions?</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11000000" cy="1080246"/>
          </a:xfrm>
        </p:spPr>
        <p:txBody>
          <a:bodyPr xmlns:a="http://schemas.openxmlformats.org/drawingml/2006/main">
            <a:noAutofit/>
          </a:bodyPr>
          <a:lstStyle xmlns:a="http://schemas.openxmlformats.org/drawingml/2006/main"/>
          <a:p xmlns:a="http://schemas.openxmlformats.org/drawingml/2006/main">
            <a:r>
              <a:rPr sz="1700"/>
              <a:t>Hüseyn Hüseynli   ·   Nihad Süleymanov   ·   Eldəniz Arifzadə</a:t>
            </a:r>
          </a:p>
          <a:p xmlns:a="http://schemas.openxmlformats.org/drawingml/2006/main">
            <a:r>
              <a:rPr sz="1700"/>
              <a:t>Zeynəb Mirzəzadə   ·   Vüqar Dünyamalıyev</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Group 3</a:t>
            </a:r>
          </a:p>
        </p:txBody>
      </p:sp>
    </p:spTree>
    <p:extLst>
      <p:ext uri="{BB962C8B-B14F-4D97-AF65-F5344CB8AC3E}">
        <p14:creationId xmlns:p14="http://schemas.microsoft.com/office/powerpoint/2010/main" val="365367855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Source review of scripts/run_real_pipeline.py and app/enrichment.py</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17</a:t>
            </a:r>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Appendix: current implementation boundaries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Real-data evaluation</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Neighbour prices use the full snapshot before spatial folds. This can contaminate held-out regions.
Interval residuals come from the fitted training data, not an independent calibration set.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400">
                <a:latin typeface="Helvetica Neue"/>
                <a:ea typeface="Helvetica Neue"/>
                <a:cs typeface="Helvetica Neue"/>
              </a:rPr>
              <a:t>Application integration</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Listing enrichment hard-codes H3, while the research default uses KD-tree cells.
The real pipeline writes baseline outputs only. The map offers all configured scenarios.</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370000"/>
            <a:ext cx="10400000" cy="241300"/>
          </a:xfrm>
        </p:spPr>
        <p:txBody>
          <a:bodyPr xmlns:a="http://schemas.openxmlformats.org/drawingml/2006/main"/>
          <a:lstStyle xmlns:a="http://schemas.openxmlformats.org/drawingml/2006/main"/>
          <a:p xmlns:a="http://schemas.openxmlformats.org/drawingml/2006/main">
            <a:r>
              <a:rPr sz="1000"/>
              <a:t>Positive skill beats persistence on spatially held-out regions. Default: KD-tree ~140/cell</a:t>
            </a:r>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r>
              <a:rPr sz="1000"/>
              <a:t>18</a:t>
            </a:r>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3000"/>
              <a:t>Appendix: geographic sensitivity</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700">
                <a:latin typeface="Helvetica Neue Medium"/>
                <a:ea typeface="Helvetica Neue Medium"/>
                <a:cs typeface="Helvetica Neue Medium"/>
              </a:rPr>
              <a:t>Documented synthetic study. Skill = 1 − model MAE / persistence MAE.</a:t>
            </a:r>
          </a:p>
        </p:txBody>
      </p:sp>
      <p:graphicFrame>
        <p:nvGraphicFramePr>
          <p:cNvPr id="539" name=""/>
          <p:cNvGraphicFramePr/>
          <p:nvPr/>
        </p:nvGraphicFramePr>
        <p:xfrm>
          <a:off xmlns:a="http://schemas.openxmlformats.org/drawingml/2006/main" x="400050" y="2190750"/>
          <a:ext xmlns:a="http://schemas.openxmlformats.org/drawingml/2006/main" cx="11382375" cy="3905250"/>
        </p:xfrm>
        <a:graphic xmlns:a="http://schemas.openxmlformats.org/drawingml/2006/main">
          <a:graphicData uri="http://schemas.openxmlformats.org/drawingml/2006/table">
            <a:tbl>
              <a:tblPr/>
              <a:tblGrid>
                <a:gridCol w="3857625"/>
                <a:gridCol w="2505075"/>
                <a:gridCol w="2505075"/>
                <a:gridCol w="2514600"/>
              </a:tblGrid>
              <a:tr h="433917">
                <a:tc>
                  <a:txBody>
                    <a:bodyPr/>
                    <a:lstStyle/>
                    <a:p>
                      <a:r>
                        <a:rPr sz="1425" b="1">
                          <a:solidFill>
                            <a:srgbClr val="FFFFFF"/>
                          </a:solidFill>
                          <a:latin typeface="Helvetica Neue"/>
                          <a:ea typeface="Helvetica Neue"/>
                          <a:cs typeface="Helvetica Neue"/>
                        </a:rPr>
                        <a:t>Spatial unit</a:t>
                      </a:r>
                    </a:p>
                  </a:txBody>
                  <a:tcPr marL="91440" marR="91440" marT="45720" marB="45720">
                    <a:solidFill>
                      <a:srgbClr val="000000"/>
                    </a:solidFill>
                  </a:tcPr>
                </a:tc>
                <a:tc>
                  <a:txBody>
                    <a:bodyPr/>
                    <a:lstStyle/>
                    <a:p>
                      <a:r>
                        <a:rPr sz="1425" b="1">
                          <a:solidFill>
                            <a:srgbClr val="FFFFFF"/>
                          </a:solidFill>
                          <a:latin typeface="Helvetica Neue"/>
                          <a:ea typeface="Helvetica Neue"/>
                          <a:cs typeface="Helvetica Neue"/>
                        </a:rPr>
                        <a:t>Listings kept</a:t>
                      </a:r>
                    </a:p>
                  </a:txBody>
                  <a:tcPr marL="91440" marR="91440" marT="45720" marB="45720">
                    <a:solidFill>
                      <a:srgbClr val="000000"/>
                    </a:solidFill>
                  </a:tcPr>
                </a:tc>
                <a:tc>
                  <a:txBody>
                    <a:bodyPr/>
                    <a:lstStyle/>
                    <a:p>
                      <a:r>
                        <a:rPr sz="1425" b="1">
                          <a:solidFill>
                            <a:srgbClr val="FFFFFF"/>
                          </a:solidFill>
                          <a:latin typeface="Helvetica Neue"/>
                          <a:ea typeface="Helvetica Neue"/>
                          <a:cs typeface="Helvetica Neue"/>
                        </a:rPr>
                        <a:t>Median months</a:t>
                      </a:r>
                    </a:p>
                  </a:txBody>
                  <a:tcPr marL="91440" marR="91440" marT="45720" marB="45720">
                    <a:solidFill>
                      <a:srgbClr val="000000"/>
                    </a:solidFill>
                  </a:tcPr>
                </a:tc>
                <a:tc>
                  <a:txBody>
                    <a:bodyPr/>
                    <a:lstStyle/>
                    <a:p>
                      <a:r>
                        <a:rPr sz="1425" b="1">
                          <a:solidFill>
                            <a:srgbClr val="FFFFFF"/>
                          </a:solidFill>
                          <a:latin typeface="Helvetica Neue"/>
                          <a:ea typeface="Helvetica Neue"/>
                          <a:cs typeface="Helvetica Neue"/>
                        </a:rPr>
                        <a:t>Transfer skill</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H3 res 7</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93.7%</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33</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−0.174</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H3 res 8</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62.6%</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5</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+0.139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H3 res 9</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11.3%</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2</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−0.339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KD-tree ~70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46.1%</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+0.189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KD-tree ~140</a:t>
                      </a:r>
                    </a:p>
                  </a:txBody>
                  <a:tcPr marL="91440" marR="91440" marT="45720" marB="45720">
                    <a:solidFill>
                      <a:srgbClr val="123D4A"/>
                    </a:solidFill>
                  </a:tcPr>
                </a:tc>
                <a:tc>
                  <a:txBody>
                    <a:bodyPr/>
                    <a:lstStyle/>
                    <a:p>
                      <a:r>
                        <a:rPr sz="1575" b="0">
                          <a:solidFill>
                            <a:srgbClr val="FFFFFF"/>
                          </a:solidFill>
                          <a:latin typeface="Helvetica Neue"/>
                          <a:ea typeface="Helvetica Neue"/>
                          <a:cs typeface="Helvetica Neue"/>
                        </a:rPr>
                        <a:t>81.6%</a:t>
                      </a:r>
                    </a:p>
                  </a:txBody>
                  <a:tcPr marL="91440" marR="91440" marT="45720" marB="45720">
                    <a:solidFill>
                      <a:srgbClr val="123D4A"/>
                    </a:solidFill>
                  </a:tcPr>
                </a:tc>
                <a:tc>
                  <a:txBody>
                    <a:bodyPr/>
                    <a:lstStyle/>
                    <a:p>
                      <a:r>
                        <a:rPr sz="1575" b="0">
                          <a:solidFill>
                            <a:srgbClr val="FFFFFF"/>
                          </a:solidFill>
                          <a:latin typeface="Helvetica Neue"/>
                          <a:ea typeface="Helvetica Neue"/>
                          <a:cs typeface="Helvetica Neue"/>
                        </a:rPr>
                        <a:t>26</a:t>
                      </a:r>
                    </a:p>
                  </a:txBody>
                  <a:tcPr marL="91440" marR="91440" marT="45720" marB="45720">
                    <a:solidFill>
                      <a:srgbClr val="123D4A"/>
                    </a:solidFill>
                  </a:tcPr>
                </a:tc>
                <a:tc>
                  <a:txBody>
                    <a:bodyPr/>
                    <a:lstStyle/>
                    <a:p>
                      <a:r>
                        <a:rPr sz="1575" b="0">
                          <a:solidFill>
                            <a:srgbClr val="FFFFFF"/>
                          </a:solidFill>
                          <a:latin typeface="Helvetica Neue"/>
                          <a:ea typeface="Helvetica Neue"/>
                          <a:cs typeface="Helvetica Neue"/>
                        </a:rPr>
                        <a:t>+0.174</a:t>
                      </a:r>
                    </a:p>
                  </a:txBody>
                  <a:tcPr marL="91440" marR="91440" marT="45720" marB="45720">
                    <a:solidFill>
                      <a:srgbClr val="123D4A"/>
                    </a:solidFill>
                  </a:tcPr>
                </a:tc>
              </a:tr>
              <a:tr h="433917">
                <a:tc>
                  <a:txBody>
                    <a:bodyPr/>
                    <a:lstStyle/>
                    <a:p>
                      <a:r>
                        <a:rPr sz="1575" b="0">
                          <a:solidFill>
                            <a:srgbClr val="FFFFFF"/>
                          </a:solidFill>
                          <a:latin typeface="Helvetica Neue"/>
                          <a:ea typeface="Helvetica Neue"/>
                          <a:cs typeface="Helvetica Neue"/>
                        </a:rPr>
                        <a:t>KD-tree ~280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98.5%</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42</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+0.159</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Market k=120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98.0%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42</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−3.601</a:t>
                      </a:r>
                    </a:p>
                  </a:txBody>
                  <a:tcPr marL="91440" marR="91440" marT="45720" marB="45720">
                    <a:solidFill>
                      <a:srgbClr val="000000"/>
                    </a:solidFill>
                  </a:tcPr>
                </a:tc>
              </a:tr>
              <a:tr h="433917">
                <a:tc>
                  <a:txBody>
                    <a:bodyPr/>
                    <a:lstStyle/>
                    <a:p>
                      <a:r>
                        <a:rPr sz="1575" b="0">
                          <a:solidFill>
                            <a:srgbClr val="FFFFFF"/>
                          </a:solidFill>
                          <a:latin typeface="Helvetica Neue"/>
                          <a:ea typeface="Helvetica Neue"/>
                          <a:cs typeface="Helvetica Neue"/>
                        </a:rPr>
                        <a:t>Market k=240</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94.8%</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14</a:t>
                      </a:r>
                    </a:p>
                  </a:txBody>
                  <a:tcPr marL="91440" marR="91440" marT="45720" marB="45720">
                    <a:solidFill>
                      <a:srgbClr val="000000"/>
                    </a:solidFill>
                  </a:tcPr>
                </a:tc>
                <a:tc>
                  <a:txBody>
                    <a:bodyPr/>
                    <a:lstStyle/>
                    <a:p>
                      <a:r>
                        <a:rPr sz="1575" b="0">
                          <a:solidFill>
                            <a:srgbClr val="FFFFFF"/>
                          </a:solidFill>
                          <a:latin typeface="Helvetica Neue"/>
                          <a:ea typeface="Helvetica Neue"/>
                          <a:cs typeface="Helvetica Neue"/>
                        </a:rPr>
                        <a:t>−0.608</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r>
              <a:rPr sz="1000"/>
              <a:t>19</a:t>
            </a:r>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rPr sz="3000"/>
              <a:t>Appendix: evidence and reproducibility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Recovery-based tests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Duplicate detection and DiD tests compare estimates with planted truth.</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Leakage checks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Tests cover future-price perturbations, geographic partitions and time splits.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Documented benchmarks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Numerical results come from README.md. This checkout contains no saved run artifacts.</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2400">
                <a:latin typeface="Helvetica Neue"/>
                <a:ea typeface="Helvetica Neue"/>
                <a:cs typeface="Helvetica Neue"/>
              </a:rPr>
              <a:t>Current verification scope</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Source and test inspection only. Dependencies needed to rerun the suite are absent.</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2026-09-17T18:02:58.9370000Z</dcterms:created>
  <dcterms:modified xsi:type="dcterms:W3CDTF">2026-09-17T18:02:58.9370000Z</dcterms:modified>
</coreProperties>
</file>